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9" r:id="rId2"/>
  </p:sldMasterIdLst>
  <p:notesMasterIdLst>
    <p:notesMasterId r:id="rId23"/>
  </p:notesMasterIdLst>
  <p:sldIdLst>
    <p:sldId id="284" r:id="rId3"/>
    <p:sldId id="257" r:id="rId4"/>
    <p:sldId id="258" r:id="rId5"/>
    <p:sldId id="328" r:id="rId6"/>
    <p:sldId id="329" r:id="rId7"/>
    <p:sldId id="292" r:id="rId8"/>
    <p:sldId id="331" r:id="rId9"/>
    <p:sldId id="332" r:id="rId10"/>
    <p:sldId id="333" r:id="rId11"/>
    <p:sldId id="291" r:id="rId12"/>
    <p:sldId id="334" r:id="rId13"/>
    <p:sldId id="335" r:id="rId14"/>
    <p:sldId id="301" r:id="rId15"/>
    <p:sldId id="308" r:id="rId16"/>
    <p:sldId id="336" r:id="rId17"/>
    <p:sldId id="337" r:id="rId18"/>
    <p:sldId id="338" r:id="rId19"/>
    <p:sldId id="339" r:id="rId20"/>
    <p:sldId id="298" r:id="rId21"/>
    <p:sldId id="326"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4576"/>
    <a:srgbClr val="102A52"/>
    <a:srgbClr val="66A2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41" autoAdjust="0"/>
    <p:restoredTop sz="95554" autoAdjust="0"/>
  </p:normalViewPr>
  <p:slideViewPr>
    <p:cSldViewPr showGuides="1">
      <p:cViewPr varScale="1">
        <p:scale>
          <a:sx n="117" d="100"/>
          <a:sy n="117" d="100"/>
        </p:scale>
        <p:origin x="84" y="150"/>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FBE262-E81F-4A5F-B8FC-A8939812B874}" type="datetimeFigureOut">
              <a:rPr lang="zh-CN" altLang="en-US" smtClean="0"/>
              <a:t>2025/4/30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0F8FC6-D0AF-4629-8EDB-A98433432FEE}" type="slidenum">
              <a:rPr lang="zh-CN" altLang="en-US" smtClean="0"/>
              <a:t>‹#›</a:t>
            </a:fld>
            <a:endParaRPr lang="zh-CN" altLang="en-US"/>
          </a:p>
        </p:txBody>
      </p:sp>
    </p:spTree>
    <p:extLst>
      <p:ext uri="{BB962C8B-B14F-4D97-AF65-F5344CB8AC3E}">
        <p14:creationId xmlns:p14="http://schemas.microsoft.com/office/powerpoint/2010/main" val="4060757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dirty="0"/>
          </a:p>
        </p:txBody>
      </p:sp>
      <p:sp>
        <p:nvSpPr>
          <p:cNvPr id="4" name="Slide Number Placeholder 3"/>
          <p:cNvSpPr>
            <a:spLocks noGrp="1"/>
          </p:cNvSpPr>
          <p:nvPr>
            <p:ph type="sldNum" sz="quarter" idx="5"/>
          </p:nvPr>
        </p:nvSpPr>
        <p:spPr/>
        <p:txBody>
          <a:bodyPr/>
          <a:lstStyle/>
          <a:p>
            <a:fld id="{DB0F8FC6-D0AF-4629-8EDB-A98433432FEE}" type="slidenum">
              <a:rPr lang="zh-CN" altLang="en-US" smtClean="0"/>
              <a:t>1</a:t>
            </a:fld>
            <a:endParaRPr lang="zh-CN" altLang="en-US"/>
          </a:p>
        </p:txBody>
      </p:sp>
    </p:spTree>
    <p:extLst>
      <p:ext uri="{BB962C8B-B14F-4D97-AF65-F5344CB8AC3E}">
        <p14:creationId xmlns:p14="http://schemas.microsoft.com/office/powerpoint/2010/main" val="20533155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dirty="0"/>
          </a:p>
        </p:txBody>
      </p:sp>
      <p:sp>
        <p:nvSpPr>
          <p:cNvPr id="4" name="Slide Number Placeholder 3"/>
          <p:cNvSpPr>
            <a:spLocks noGrp="1"/>
          </p:cNvSpPr>
          <p:nvPr>
            <p:ph type="sldNum" sz="quarter" idx="5"/>
          </p:nvPr>
        </p:nvSpPr>
        <p:spPr/>
        <p:txBody>
          <a:bodyPr/>
          <a:lstStyle/>
          <a:p>
            <a:fld id="{DB0F8FC6-D0AF-4629-8EDB-A98433432FEE}" type="slidenum">
              <a:rPr lang="zh-CN" altLang="en-US" smtClean="0"/>
              <a:t>2</a:t>
            </a:fld>
            <a:endParaRPr lang="zh-CN" altLang="en-US"/>
          </a:p>
        </p:txBody>
      </p:sp>
    </p:spTree>
    <p:extLst>
      <p:ext uri="{BB962C8B-B14F-4D97-AF65-F5344CB8AC3E}">
        <p14:creationId xmlns:p14="http://schemas.microsoft.com/office/powerpoint/2010/main" val="105495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Template from: https://www.freeppt7.com/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DB0F8FC6-D0AF-4629-8EDB-A98433432FEE}" type="slidenum">
              <a:rPr lang="zh-CN" altLang="en-US" smtClean="0"/>
              <a:t>3</a:t>
            </a:fld>
            <a:endParaRPr lang="zh-CN" altLang="en-US"/>
          </a:p>
        </p:txBody>
      </p:sp>
    </p:spTree>
    <p:extLst>
      <p:ext uri="{BB962C8B-B14F-4D97-AF65-F5344CB8AC3E}">
        <p14:creationId xmlns:p14="http://schemas.microsoft.com/office/powerpoint/2010/main" val="2596198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1E33E-AA48-0858-36AA-6B637EB3F5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9B4CE57-8BDC-5FB7-C9D5-0B90E03452D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B94811-AAB8-1F99-A754-18ABDBF1549C}"/>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Template from: https://www.freeppt7.com/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a:extLst>
              <a:ext uri="{FF2B5EF4-FFF2-40B4-BE49-F238E27FC236}">
                <a16:creationId xmlns:a16="http://schemas.microsoft.com/office/drawing/2014/main" id="{6A54BDE0-15BF-6016-148A-B5D6EFA58C7E}"/>
              </a:ext>
            </a:extLst>
          </p:cNvPr>
          <p:cNvSpPr>
            <a:spLocks noGrp="1"/>
          </p:cNvSpPr>
          <p:nvPr>
            <p:ph type="sldNum" sz="quarter" idx="10"/>
          </p:nvPr>
        </p:nvSpPr>
        <p:spPr/>
        <p:txBody>
          <a:bodyPr/>
          <a:lstStyle/>
          <a:p>
            <a:fld id="{DB0F8FC6-D0AF-4629-8EDB-A98433432FEE}" type="slidenum">
              <a:rPr lang="zh-CN" altLang="en-US" smtClean="0"/>
              <a:t>4</a:t>
            </a:fld>
            <a:endParaRPr lang="zh-CN" altLang="en-US"/>
          </a:p>
        </p:txBody>
      </p:sp>
    </p:spTree>
    <p:extLst>
      <p:ext uri="{BB962C8B-B14F-4D97-AF65-F5344CB8AC3E}">
        <p14:creationId xmlns:p14="http://schemas.microsoft.com/office/powerpoint/2010/main" val="3467611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6FB02-C4BD-B4EB-60B1-3524DD4537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7E43DF-A4F0-BFD7-9C5B-4423BA5DA4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833653-9E42-5FD2-B909-27BD5D75A59B}"/>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Template from: https://www.freeppt7.com/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a:extLst>
              <a:ext uri="{FF2B5EF4-FFF2-40B4-BE49-F238E27FC236}">
                <a16:creationId xmlns:a16="http://schemas.microsoft.com/office/drawing/2014/main" id="{30902898-3C0A-26FF-2F4C-E596F3ABB20B}"/>
              </a:ext>
            </a:extLst>
          </p:cNvPr>
          <p:cNvSpPr>
            <a:spLocks noGrp="1"/>
          </p:cNvSpPr>
          <p:nvPr>
            <p:ph type="sldNum" sz="quarter" idx="10"/>
          </p:nvPr>
        </p:nvSpPr>
        <p:spPr/>
        <p:txBody>
          <a:bodyPr/>
          <a:lstStyle/>
          <a:p>
            <a:fld id="{DB0F8FC6-D0AF-4629-8EDB-A98433432FEE}" type="slidenum">
              <a:rPr lang="zh-CN" altLang="en-US" smtClean="0"/>
              <a:t>5</a:t>
            </a:fld>
            <a:endParaRPr lang="zh-CN" altLang="en-US"/>
          </a:p>
        </p:txBody>
      </p:sp>
    </p:spTree>
    <p:extLst>
      <p:ext uri="{BB962C8B-B14F-4D97-AF65-F5344CB8AC3E}">
        <p14:creationId xmlns:p14="http://schemas.microsoft.com/office/powerpoint/2010/main" val="2926500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9BE72-38EB-C023-6765-409216EA4B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D182D7-1499-B8A1-7C18-CFD30FAD56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39E808-DCB9-D32E-65D8-BD2CA6F4A2A7}"/>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Template from: https://www.freeppt7.com/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a:extLst>
              <a:ext uri="{FF2B5EF4-FFF2-40B4-BE49-F238E27FC236}">
                <a16:creationId xmlns:a16="http://schemas.microsoft.com/office/drawing/2014/main" id="{370C737B-B447-6139-BD96-06FFC9971AC0}"/>
              </a:ext>
            </a:extLst>
          </p:cNvPr>
          <p:cNvSpPr>
            <a:spLocks noGrp="1"/>
          </p:cNvSpPr>
          <p:nvPr>
            <p:ph type="sldNum" sz="quarter" idx="10"/>
          </p:nvPr>
        </p:nvSpPr>
        <p:spPr/>
        <p:txBody>
          <a:bodyPr/>
          <a:lstStyle/>
          <a:p>
            <a:fld id="{DB0F8FC6-D0AF-4629-8EDB-A98433432FEE}" type="slidenum">
              <a:rPr lang="zh-CN" altLang="en-US" smtClean="0"/>
              <a:t>7</a:t>
            </a:fld>
            <a:endParaRPr lang="zh-CN" altLang="en-US"/>
          </a:p>
        </p:txBody>
      </p:sp>
    </p:spTree>
    <p:extLst>
      <p:ext uri="{BB962C8B-B14F-4D97-AF65-F5344CB8AC3E}">
        <p14:creationId xmlns:p14="http://schemas.microsoft.com/office/powerpoint/2010/main" val="34962437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FDC5F-5547-8743-F25B-AFBA0BD499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407F46-65A2-02EE-18BA-908C52AEE22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0A5430-531B-D280-7C84-D5A6D79729F6}"/>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Template from: https://www.freeppt7.com/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a:extLst>
              <a:ext uri="{FF2B5EF4-FFF2-40B4-BE49-F238E27FC236}">
                <a16:creationId xmlns:a16="http://schemas.microsoft.com/office/drawing/2014/main" id="{1F0F902F-CF5D-7B8D-159F-492B271703BD}"/>
              </a:ext>
            </a:extLst>
          </p:cNvPr>
          <p:cNvSpPr>
            <a:spLocks noGrp="1"/>
          </p:cNvSpPr>
          <p:nvPr>
            <p:ph type="sldNum" sz="quarter" idx="10"/>
          </p:nvPr>
        </p:nvSpPr>
        <p:spPr/>
        <p:txBody>
          <a:bodyPr/>
          <a:lstStyle/>
          <a:p>
            <a:fld id="{DB0F8FC6-D0AF-4629-8EDB-A98433432FEE}" type="slidenum">
              <a:rPr lang="zh-CN" altLang="en-US" smtClean="0"/>
              <a:t>8</a:t>
            </a:fld>
            <a:endParaRPr lang="zh-CN" altLang="en-US"/>
          </a:p>
        </p:txBody>
      </p:sp>
    </p:spTree>
    <p:extLst>
      <p:ext uri="{BB962C8B-B14F-4D97-AF65-F5344CB8AC3E}">
        <p14:creationId xmlns:p14="http://schemas.microsoft.com/office/powerpoint/2010/main" val="2235900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96EFB-024E-C3E6-9858-F05E93CEAB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623280-D8A4-AD61-D7AC-4EADE05D89A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F33083-0533-92B6-4BF6-77FDA6AA76A9}"/>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Template from: https://www.freeppt7.com/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a:extLst>
              <a:ext uri="{FF2B5EF4-FFF2-40B4-BE49-F238E27FC236}">
                <a16:creationId xmlns:a16="http://schemas.microsoft.com/office/drawing/2014/main" id="{9F3436DC-F11F-B27A-8D28-2979C602ABB3}"/>
              </a:ext>
            </a:extLst>
          </p:cNvPr>
          <p:cNvSpPr>
            <a:spLocks noGrp="1"/>
          </p:cNvSpPr>
          <p:nvPr>
            <p:ph type="sldNum" sz="quarter" idx="10"/>
          </p:nvPr>
        </p:nvSpPr>
        <p:spPr/>
        <p:txBody>
          <a:bodyPr/>
          <a:lstStyle/>
          <a:p>
            <a:fld id="{DB0F8FC6-D0AF-4629-8EDB-A98433432FEE}" type="slidenum">
              <a:rPr lang="zh-CN" altLang="en-US" smtClean="0"/>
              <a:t>9</a:t>
            </a:fld>
            <a:endParaRPr lang="zh-CN" altLang="en-US"/>
          </a:p>
        </p:txBody>
      </p:sp>
    </p:spTree>
    <p:extLst>
      <p:ext uri="{BB962C8B-B14F-4D97-AF65-F5344CB8AC3E}">
        <p14:creationId xmlns:p14="http://schemas.microsoft.com/office/powerpoint/2010/main" val="23445591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F8D33-22A5-1682-5830-E1615E42EB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AA25CF-45D3-6C5E-7A4C-FF3933D0EA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938516-4F04-45E4-814C-3D05B3B857F9}"/>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Template from: https://www.freeppt7.com/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a:extLst>
              <a:ext uri="{FF2B5EF4-FFF2-40B4-BE49-F238E27FC236}">
                <a16:creationId xmlns:a16="http://schemas.microsoft.com/office/drawing/2014/main" id="{91E90182-5EAB-C25D-00ED-3E120C47A30C}"/>
              </a:ext>
            </a:extLst>
          </p:cNvPr>
          <p:cNvSpPr>
            <a:spLocks noGrp="1"/>
          </p:cNvSpPr>
          <p:nvPr>
            <p:ph type="sldNum" sz="quarter" idx="10"/>
          </p:nvPr>
        </p:nvSpPr>
        <p:spPr/>
        <p:txBody>
          <a:bodyPr/>
          <a:lstStyle/>
          <a:p>
            <a:fld id="{DB0F8FC6-D0AF-4629-8EDB-A98433432FEE}" type="slidenum">
              <a:rPr lang="zh-CN" altLang="en-US" smtClean="0"/>
              <a:t>11</a:t>
            </a:fld>
            <a:endParaRPr lang="zh-CN" altLang="en-US"/>
          </a:p>
        </p:txBody>
      </p:sp>
    </p:spTree>
    <p:extLst>
      <p:ext uri="{BB962C8B-B14F-4D97-AF65-F5344CB8AC3E}">
        <p14:creationId xmlns:p14="http://schemas.microsoft.com/office/powerpoint/2010/main" val="11896319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78E24B5-153F-49DD-8DC2-609C5B5A8142}" type="slidenum">
              <a:rPr lang="zh-CN" altLang="en-US" smtClean="0">
                <a:solidFill>
                  <a:prstClr val="black"/>
                </a:solidFill>
                <a:latin typeface="等线"/>
              </a:rPr>
              <a:pPr/>
              <a:t>13</a:t>
            </a:fld>
            <a:endParaRPr lang="zh-CN" altLang="en-US">
              <a:solidFill>
                <a:prstClr val="black"/>
              </a:solidFill>
              <a:latin typeface="等线"/>
            </a:endParaRPr>
          </a:p>
        </p:txBody>
      </p:sp>
    </p:spTree>
    <p:extLst>
      <p:ext uri="{BB962C8B-B14F-4D97-AF65-F5344CB8AC3E}">
        <p14:creationId xmlns:p14="http://schemas.microsoft.com/office/powerpoint/2010/main" val="1057422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dirty="0"/>
          </a:p>
        </p:txBody>
      </p:sp>
      <p:sp>
        <p:nvSpPr>
          <p:cNvPr id="4" name="Slide Number Placeholder 3"/>
          <p:cNvSpPr>
            <a:spLocks noGrp="1"/>
          </p:cNvSpPr>
          <p:nvPr>
            <p:ph type="sldNum" sz="quarter" idx="5"/>
          </p:nvPr>
        </p:nvSpPr>
        <p:spPr/>
        <p:txBody>
          <a:bodyPr/>
          <a:lstStyle/>
          <a:p>
            <a:fld id="{DB0F8FC6-D0AF-4629-8EDB-A98433432FEE}" type="slidenum">
              <a:rPr lang="zh-CN" altLang="en-US" smtClean="0"/>
              <a:t>14</a:t>
            </a:fld>
            <a:endParaRPr lang="zh-CN" altLang="en-US"/>
          </a:p>
        </p:txBody>
      </p:sp>
    </p:spTree>
    <p:extLst>
      <p:ext uri="{BB962C8B-B14F-4D97-AF65-F5344CB8AC3E}">
        <p14:creationId xmlns:p14="http://schemas.microsoft.com/office/powerpoint/2010/main" val="11712837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648A8-6487-5E21-111A-D7FE2D0EECB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C0FC0CD-D499-6425-1571-C33FF80C4B7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33F9D4-09FE-94FB-1A9C-86A4BA7C1E46}"/>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Template from: https://www.freeppt7.com/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a:extLst>
              <a:ext uri="{FF2B5EF4-FFF2-40B4-BE49-F238E27FC236}">
                <a16:creationId xmlns:a16="http://schemas.microsoft.com/office/drawing/2014/main" id="{4049978F-00E8-73D6-2BDF-BBCC2CAC9E42}"/>
              </a:ext>
            </a:extLst>
          </p:cNvPr>
          <p:cNvSpPr>
            <a:spLocks noGrp="1"/>
          </p:cNvSpPr>
          <p:nvPr>
            <p:ph type="sldNum" sz="quarter" idx="10"/>
          </p:nvPr>
        </p:nvSpPr>
        <p:spPr/>
        <p:txBody>
          <a:bodyPr/>
          <a:lstStyle/>
          <a:p>
            <a:fld id="{DB0F8FC6-D0AF-4629-8EDB-A98433432FEE}" type="slidenum">
              <a:rPr lang="zh-CN" altLang="en-US" smtClean="0"/>
              <a:t>15</a:t>
            </a:fld>
            <a:endParaRPr lang="zh-CN" altLang="en-US"/>
          </a:p>
        </p:txBody>
      </p:sp>
    </p:spTree>
    <p:extLst>
      <p:ext uri="{BB962C8B-B14F-4D97-AF65-F5344CB8AC3E}">
        <p14:creationId xmlns:p14="http://schemas.microsoft.com/office/powerpoint/2010/main" val="143905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19F90-35BB-B055-6958-8B0052CAD6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70F5DE-FEAF-2E78-9A91-A46FDADE8F8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21CCC0-28CA-5703-D9D0-E8A49C5C5CBB}"/>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Template from: https://www.freeppt7.com/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a:extLst>
              <a:ext uri="{FF2B5EF4-FFF2-40B4-BE49-F238E27FC236}">
                <a16:creationId xmlns:a16="http://schemas.microsoft.com/office/drawing/2014/main" id="{5DC7EE46-9D48-1D3F-C3BC-1FD3C0675C30}"/>
              </a:ext>
            </a:extLst>
          </p:cNvPr>
          <p:cNvSpPr>
            <a:spLocks noGrp="1"/>
          </p:cNvSpPr>
          <p:nvPr>
            <p:ph type="sldNum" sz="quarter" idx="10"/>
          </p:nvPr>
        </p:nvSpPr>
        <p:spPr/>
        <p:txBody>
          <a:bodyPr/>
          <a:lstStyle/>
          <a:p>
            <a:fld id="{DB0F8FC6-D0AF-4629-8EDB-A98433432FEE}" type="slidenum">
              <a:rPr lang="zh-CN" altLang="en-US" smtClean="0"/>
              <a:t>16</a:t>
            </a:fld>
            <a:endParaRPr lang="zh-CN" altLang="en-US"/>
          </a:p>
        </p:txBody>
      </p:sp>
    </p:spTree>
    <p:extLst>
      <p:ext uri="{BB962C8B-B14F-4D97-AF65-F5344CB8AC3E}">
        <p14:creationId xmlns:p14="http://schemas.microsoft.com/office/powerpoint/2010/main" val="5116909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F8595-0158-CE2A-64DE-39C4B1F1BE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9C48B5-70DB-51FF-5B8F-6E4F2FC3EB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DDFD2A-495A-D597-B320-35A2A27DA869}"/>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Template from: https://www.freeppt7.com/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a:extLst>
              <a:ext uri="{FF2B5EF4-FFF2-40B4-BE49-F238E27FC236}">
                <a16:creationId xmlns:a16="http://schemas.microsoft.com/office/drawing/2014/main" id="{D215A8EF-EDF3-0325-39B7-A810324C44D4}"/>
              </a:ext>
            </a:extLst>
          </p:cNvPr>
          <p:cNvSpPr>
            <a:spLocks noGrp="1"/>
          </p:cNvSpPr>
          <p:nvPr>
            <p:ph type="sldNum" sz="quarter" idx="10"/>
          </p:nvPr>
        </p:nvSpPr>
        <p:spPr/>
        <p:txBody>
          <a:bodyPr/>
          <a:lstStyle/>
          <a:p>
            <a:fld id="{DB0F8FC6-D0AF-4629-8EDB-A98433432FEE}" type="slidenum">
              <a:rPr lang="zh-CN" altLang="en-US" smtClean="0"/>
              <a:t>18</a:t>
            </a:fld>
            <a:endParaRPr lang="zh-CN" altLang="en-US"/>
          </a:p>
        </p:txBody>
      </p:sp>
    </p:spTree>
    <p:extLst>
      <p:ext uri="{BB962C8B-B14F-4D97-AF65-F5344CB8AC3E}">
        <p14:creationId xmlns:p14="http://schemas.microsoft.com/office/powerpoint/2010/main" val="3345282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2991385"/>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518878848"/>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cxnSp>
        <p:nvCxnSpPr>
          <p:cNvPr id="3" name="直接连接符 2"/>
          <p:cNvCxnSpPr/>
          <p:nvPr userDrawn="1"/>
        </p:nvCxnSpPr>
        <p:spPr>
          <a:xfrm>
            <a:off x="253129" y="980728"/>
            <a:ext cx="11665296" cy="0"/>
          </a:xfrm>
          <a:prstGeom prst="line">
            <a:avLst/>
          </a:prstGeom>
          <a:ln>
            <a:solidFill>
              <a:srgbClr val="0E4576">
                <a:alpha val="54000"/>
              </a:srgb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372431" y="371294"/>
            <a:ext cx="551351" cy="393410"/>
            <a:chOff x="407368" y="260648"/>
            <a:chExt cx="706418" cy="504056"/>
          </a:xfrm>
          <a:effectLst>
            <a:outerShdw blurRad="101600" dist="38100" dir="2700000" algn="tl" rotWithShape="0">
              <a:prstClr val="black">
                <a:alpha val="25000"/>
              </a:prstClr>
            </a:outerShdw>
          </a:effectLst>
        </p:grpSpPr>
        <p:sp>
          <p:nvSpPr>
            <p:cNvPr id="5" name="燕尾形 4"/>
            <p:cNvSpPr/>
            <p:nvPr/>
          </p:nvSpPr>
          <p:spPr>
            <a:xfrm>
              <a:off x="407368" y="260648"/>
              <a:ext cx="378042" cy="504056"/>
            </a:xfrm>
            <a:prstGeom prst="chevron">
              <a:avLst/>
            </a:prstGeom>
            <a:solidFill>
              <a:srgbClr val="0E45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燕尾形 5"/>
            <p:cNvSpPr/>
            <p:nvPr/>
          </p:nvSpPr>
          <p:spPr>
            <a:xfrm>
              <a:off x="735744" y="260648"/>
              <a:ext cx="378042" cy="504056"/>
            </a:xfrm>
            <a:prstGeom prst="chevron">
              <a:avLst/>
            </a:prstGeom>
            <a:solidFill>
              <a:srgbClr val="66A2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extLst>
      <p:ext uri="{BB962C8B-B14F-4D97-AF65-F5344CB8AC3E}">
        <p14:creationId xmlns:p14="http://schemas.microsoft.com/office/powerpoint/2010/main" val="3256414708"/>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0451068"/>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cxnSp>
        <p:nvCxnSpPr>
          <p:cNvPr id="16" name="直接连接符 15"/>
          <p:cNvCxnSpPr/>
          <p:nvPr userDrawn="1"/>
        </p:nvCxnSpPr>
        <p:spPr>
          <a:xfrm>
            <a:off x="253129" y="908720"/>
            <a:ext cx="11665296" cy="0"/>
          </a:xfrm>
          <a:prstGeom prst="line">
            <a:avLst/>
          </a:prstGeom>
          <a:ln>
            <a:solidFill>
              <a:srgbClr val="0E4576">
                <a:alpha val="54000"/>
              </a:srgbClr>
            </a:solidFill>
          </a:ln>
        </p:spPr>
        <p:style>
          <a:lnRef idx="1">
            <a:schemeClr val="accent1"/>
          </a:lnRef>
          <a:fillRef idx="0">
            <a:schemeClr val="accent1"/>
          </a:fillRef>
          <a:effectRef idx="0">
            <a:schemeClr val="accent1"/>
          </a:effectRef>
          <a:fontRef idx="minor">
            <a:schemeClr val="tx1"/>
          </a:fontRef>
        </p:style>
      </p:cxnSp>
      <p:grpSp>
        <p:nvGrpSpPr>
          <p:cNvPr id="17" name="组合 16"/>
          <p:cNvGrpSpPr/>
          <p:nvPr userDrawn="1"/>
        </p:nvGrpSpPr>
        <p:grpSpPr>
          <a:xfrm>
            <a:off x="372431" y="371294"/>
            <a:ext cx="551351" cy="393410"/>
            <a:chOff x="407368" y="260648"/>
            <a:chExt cx="706418" cy="504056"/>
          </a:xfrm>
          <a:effectLst>
            <a:outerShdw blurRad="101600" dist="38100" dir="2700000" algn="tl" rotWithShape="0">
              <a:prstClr val="black">
                <a:alpha val="25000"/>
              </a:prstClr>
            </a:outerShdw>
          </a:effectLst>
        </p:grpSpPr>
        <p:sp>
          <p:nvSpPr>
            <p:cNvPr id="18" name="燕尾形 17"/>
            <p:cNvSpPr/>
            <p:nvPr/>
          </p:nvSpPr>
          <p:spPr>
            <a:xfrm>
              <a:off x="407368" y="260648"/>
              <a:ext cx="378042" cy="504056"/>
            </a:xfrm>
            <a:prstGeom prst="chevron">
              <a:avLst/>
            </a:prstGeom>
            <a:solidFill>
              <a:srgbClr val="0E45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燕尾形 18"/>
            <p:cNvSpPr/>
            <p:nvPr/>
          </p:nvSpPr>
          <p:spPr>
            <a:xfrm>
              <a:off x="735744" y="260648"/>
              <a:ext cx="378042" cy="504056"/>
            </a:xfrm>
            <a:prstGeom prst="chevron">
              <a:avLst/>
            </a:prstGeom>
            <a:solidFill>
              <a:srgbClr val="66A2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extLst>
      <p:ext uri="{BB962C8B-B14F-4D97-AF65-F5344CB8AC3E}">
        <p14:creationId xmlns:p14="http://schemas.microsoft.com/office/powerpoint/2010/main" val="2319717289"/>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3" name="TextBox 2"/>
          <p:cNvSpPr txBox="1"/>
          <p:nvPr userDrawn="1"/>
        </p:nvSpPr>
        <p:spPr>
          <a:xfrm>
            <a:off x="11759951" y="0"/>
            <a:ext cx="432049" cy="118430"/>
          </a:xfrm>
          <a:prstGeom prst="rect">
            <a:avLst/>
          </a:prstGeom>
          <a:noFill/>
        </p:spPr>
        <p:txBody>
          <a:bodyPr wrap="square" rtlCol="0">
            <a:spAutoFit/>
          </a:bodyPr>
          <a:lstStyle/>
          <a:p>
            <a:pPr>
              <a:lnSpc>
                <a:spcPct val="200000"/>
              </a:lnSpc>
            </a:pPr>
            <a:r>
              <a:rPr lang="en-US" altLang="zh-CN" sz="100" dirty="0">
                <a:latin typeface="微软雅黑" panose="020B0503020204020204" pitchFamily="34" charset="-122"/>
                <a:ea typeface="微软雅黑" panose="020B0503020204020204" pitchFamily="34" charset="-122"/>
                <a:hlinkClick r:id="rId2"/>
              </a:rPr>
              <a:t>PPT</a:t>
            </a:r>
            <a:r>
              <a:rPr lang="zh-CN" altLang="en-US" sz="100" dirty="0">
                <a:latin typeface="微软雅黑" panose="020B0503020204020204" pitchFamily="34" charset="-122"/>
                <a:ea typeface="微软雅黑" panose="020B0503020204020204" pitchFamily="34" charset="-122"/>
                <a:hlinkClick r:id="rId2"/>
              </a:rPr>
              <a:t>下载</a:t>
            </a:r>
            <a:r>
              <a:rPr lang="zh-CN" altLang="en-US" sz="100" dirty="0">
                <a:latin typeface="微软雅黑" panose="020B0503020204020204" pitchFamily="34" charset="-122"/>
                <a:ea typeface="微软雅黑" panose="020B0503020204020204" pitchFamily="34" charset="-122"/>
              </a:rPr>
              <a:t> </a:t>
            </a:r>
            <a:r>
              <a:rPr lang="en-US" altLang="zh-CN" sz="100" dirty="0">
                <a:latin typeface="微软雅黑" panose="020B0503020204020204" pitchFamily="34" charset="-122"/>
                <a:ea typeface="微软雅黑" panose="020B0503020204020204" pitchFamily="34" charset="-122"/>
              </a:rPr>
              <a:t>http://www.freeppt7.com/xiazai/</a:t>
            </a:r>
          </a:p>
        </p:txBody>
      </p:sp>
    </p:spTree>
    <p:extLst>
      <p:ext uri="{BB962C8B-B14F-4D97-AF65-F5344CB8AC3E}">
        <p14:creationId xmlns:p14="http://schemas.microsoft.com/office/powerpoint/2010/main" val="3931252123"/>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EE11ECF-D4C8-74D4-A731-3B62D4500845}"/>
              </a:ext>
            </a:extLst>
          </p:cNvPr>
          <p:cNvSpPr>
            <a:spLocks noGrp="1"/>
          </p:cNvSpPr>
          <p:nvPr>
            <p:ph type="dt" sz="half" idx="10"/>
          </p:nvPr>
        </p:nvSpPr>
        <p:spPr/>
        <p:txBody>
          <a:bodyPr/>
          <a:lstStyle/>
          <a:p>
            <a:fld id="{C1E9624D-FE2D-4597-B311-55080AF42397}" type="datetimeFigureOut">
              <a:rPr lang="en-US" smtClean="0"/>
              <a:t>4/30/2025</a:t>
            </a:fld>
            <a:endParaRPr lang="en-US"/>
          </a:p>
        </p:txBody>
      </p:sp>
      <p:sp>
        <p:nvSpPr>
          <p:cNvPr id="4" name="Footer Placeholder 3">
            <a:extLst>
              <a:ext uri="{FF2B5EF4-FFF2-40B4-BE49-F238E27FC236}">
                <a16:creationId xmlns:a16="http://schemas.microsoft.com/office/drawing/2014/main" id="{DB85B175-83FF-DAAA-E479-2028076C073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6CACBA-1D1C-50B8-579A-DFC0D210CF62}"/>
              </a:ext>
            </a:extLst>
          </p:cNvPr>
          <p:cNvSpPr>
            <a:spLocks noGrp="1"/>
          </p:cNvSpPr>
          <p:nvPr>
            <p:ph type="sldNum" sz="quarter" idx="12"/>
          </p:nvPr>
        </p:nvSpPr>
        <p:spPr/>
        <p:txBody>
          <a:bodyPr/>
          <a:lstStyle/>
          <a:p>
            <a:fld id="{ED4EED9A-F093-4465-B20F-8EFB89AAADCA}" type="slidenum">
              <a:rPr lang="en-US" smtClean="0"/>
              <a:t>‹#›</a:t>
            </a:fld>
            <a:endParaRPr lang="en-US"/>
          </a:p>
        </p:txBody>
      </p:sp>
    </p:spTree>
    <p:extLst>
      <p:ext uri="{BB962C8B-B14F-4D97-AF65-F5344CB8AC3E}">
        <p14:creationId xmlns:p14="http://schemas.microsoft.com/office/powerpoint/2010/main" val="3493019670"/>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4"/>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5"/>
            <a:ext cx="2844800" cy="365125"/>
          </a:xfrm>
          <a:prstGeom prst="rect">
            <a:avLst/>
          </a:prstGeom>
        </p:spPr>
        <p:txBody>
          <a:bodyPr/>
          <a:lstStyle/>
          <a:p>
            <a:fld id="{2E3AAC11-D570-4EA9-AFC0-30FB72BA45EB}" type="datetimeFigureOut">
              <a:rPr lang="zh-CN" altLang="en-US" smtClean="0">
                <a:solidFill>
                  <a:prstClr val="black"/>
                </a:solidFill>
              </a:rPr>
              <a:pPr/>
              <a:t>2025/4/30</a:t>
            </a:fld>
            <a:endParaRPr lang="zh-CN" altLang="en-US">
              <a:solidFill>
                <a:prstClr val="black"/>
              </a:solidFill>
            </a:endParaRPr>
          </a:p>
        </p:txBody>
      </p:sp>
      <p:sp>
        <p:nvSpPr>
          <p:cNvPr id="5" name="页脚占位符 4"/>
          <p:cNvSpPr>
            <a:spLocks noGrp="1"/>
          </p:cNvSpPr>
          <p:nvPr>
            <p:ph type="ftr" sz="quarter" idx="11"/>
          </p:nvPr>
        </p:nvSpPr>
        <p:spPr>
          <a:xfrm>
            <a:off x="4165600" y="6356355"/>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5"/>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027601396"/>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5"/>
            <a:ext cx="2844800" cy="365125"/>
          </a:xfrm>
          <a:prstGeom prst="rect">
            <a:avLst/>
          </a:prstGeom>
        </p:spPr>
        <p:txBody>
          <a:bodyPr/>
          <a:lstStyle/>
          <a:p>
            <a:fld id="{2E3AAC11-D570-4EA9-AFC0-30FB72BA45EB}" type="datetimeFigureOut">
              <a:rPr lang="zh-CN" altLang="en-US" smtClean="0">
                <a:solidFill>
                  <a:prstClr val="black"/>
                </a:solidFill>
              </a:rPr>
              <a:pPr/>
              <a:t>2025/4/30</a:t>
            </a:fld>
            <a:endParaRPr lang="zh-CN" altLang="en-US">
              <a:solidFill>
                <a:prstClr val="black"/>
              </a:solidFill>
            </a:endParaRPr>
          </a:p>
        </p:txBody>
      </p:sp>
      <p:sp>
        <p:nvSpPr>
          <p:cNvPr id="5" name="页脚占位符 4"/>
          <p:cNvSpPr>
            <a:spLocks noGrp="1"/>
          </p:cNvSpPr>
          <p:nvPr>
            <p:ph type="ftr" sz="quarter" idx="11"/>
          </p:nvPr>
        </p:nvSpPr>
        <p:spPr>
          <a:xfrm>
            <a:off x="4165600" y="6356355"/>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5"/>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138211218"/>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9979613"/>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528011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6" r:id="rId3"/>
    <p:sldLayoutId id="2147483655" r:id="rId4"/>
    <p:sldLayoutId id="2147483658" r:id="rId5"/>
    <p:sldLayoutId id="2147483663" r:id="rId6"/>
    <p:sldLayoutId id="2147483664" r:id="rId7"/>
  </p:sldLayoutIdLst>
  <p:transition spd="slow">
    <p:fad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2495566"/>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Lst>
  <p:transition spd="slow">
    <p:fade/>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
            <a:ext cx="12192000" cy="6872066"/>
          </a:xfrm>
          <a:prstGeom prst="rect">
            <a:avLst/>
          </a:prstGeom>
          <a:gradFill flip="none" rotWithShape="1">
            <a:gsLst>
              <a:gs pos="0">
                <a:schemeClr val="accent1">
                  <a:lumMod val="0"/>
                  <a:lumOff val="100000"/>
                </a:schemeClr>
              </a:gs>
              <a:gs pos="35000">
                <a:srgbClr val="0E4576"/>
              </a:gs>
              <a:gs pos="100000">
                <a:srgbClr val="102A52"/>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6"/>
          <p:cNvSpPr/>
          <p:nvPr/>
        </p:nvSpPr>
        <p:spPr>
          <a:xfrm flipH="1" flipV="1">
            <a:off x="7112473" y="0"/>
            <a:ext cx="5591947" cy="6872066"/>
          </a:xfrm>
          <a:custGeom>
            <a:avLst/>
            <a:gdLst>
              <a:gd name="connsiteX0" fmla="*/ 3877446 w 5591946"/>
              <a:gd name="connsiteY0" fmla="*/ 6857996 h 6857996"/>
              <a:gd name="connsiteX1" fmla="*/ 0 w 5591946"/>
              <a:gd name="connsiteY1" fmla="*/ 6857996 h 6857996"/>
              <a:gd name="connsiteX2" fmla="*/ 0 w 5591946"/>
              <a:gd name="connsiteY2" fmla="*/ 0 h 6857996"/>
              <a:gd name="connsiteX3" fmla="*/ 3877446 w 5591946"/>
              <a:gd name="connsiteY3" fmla="*/ 0 h 6857996"/>
              <a:gd name="connsiteX4" fmla="*/ 5591946 w 5591946"/>
              <a:gd name="connsiteY4" fmla="*/ 3428998 h 6857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1946" h="6857996">
                <a:moveTo>
                  <a:pt x="3877446" y="6857996"/>
                </a:moveTo>
                <a:lnTo>
                  <a:pt x="0" y="6857996"/>
                </a:lnTo>
                <a:lnTo>
                  <a:pt x="0" y="0"/>
                </a:lnTo>
                <a:lnTo>
                  <a:pt x="3877446" y="0"/>
                </a:lnTo>
                <a:lnTo>
                  <a:pt x="5591946" y="3428998"/>
                </a:lnTo>
                <a:close/>
              </a:path>
            </a:pathLst>
          </a:custGeom>
          <a:blipFill dpi="0" rotWithShape="0">
            <a:blip r:embed="rId3"/>
            <a:srcRect/>
            <a:stretch>
              <a:fillRect/>
            </a:stretch>
          </a:blipFill>
          <a:ln>
            <a:noFill/>
          </a:ln>
          <a:effectLst>
            <a:outerShdw blurRad="101600" dist="381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flipV="1">
            <a:off x="2836721" y="2"/>
            <a:ext cx="5591947" cy="6857996"/>
          </a:xfrm>
          <a:custGeom>
            <a:avLst/>
            <a:gdLst>
              <a:gd name="connsiteX0" fmla="*/ 3877446 w 5591946"/>
              <a:gd name="connsiteY0" fmla="*/ 6857996 h 6857996"/>
              <a:gd name="connsiteX1" fmla="*/ 0 w 5591946"/>
              <a:gd name="connsiteY1" fmla="*/ 6857996 h 6857996"/>
              <a:gd name="connsiteX2" fmla="*/ 0 w 5591946"/>
              <a:gd name="connsiteY2" fmla="*/ 0 h 6857996"/>
              <a:gd name="connsiteX3" fmla="*/ 3877446 w 5591946"/>
              <a:gd name="connsiteY3" fmla="*/ 0 h 6857996"/>
              <a:gd name="connsiteX4" fmla="*/ 5591946 w 5591946"/>
              <a:gd name="connsiteY4" fmla="*/ 3428998 h 6857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1946" h="6857996">
                <a:moveTo>
                  <a:pt x="3877446" y="6857996"/>
                </a:moveTo>
                <a:lnTo>
                  <a:pt x="0" y="6857996"/>
                </a:lnTo>
                <a:lnTo>
                  <a:pt x="0" y="0"/>
                </a:lnTo>
                <a:lnTo>
                  <a:pt x="3877446" y="0"/>
                </a:lnTo>
                <a:lnTo>
                  <a:pt x="5591946" y="3428998"/>
                </a:lnTo>
                <a:close/>
              </a:path>
            </a:pathLst>
          </a:custGeom>
          <a:gradFill flip="none" rotWithShape="1">
            <a:gsLst>
              <a:gs pos="43000">
                <a:srgbClr val="0E4576">
                  <a:alpha val="0"/>
                </a:srgbClr>
              </a:gs>
              <a:gs pos="100000">
                <a:srgbClr val="0E4576">
                  <a:alpha val="6800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p:cNvGrpSpPr/>
          <p:nvPr/>
        </p:nvGrpSpPr>
        <p:grpSpPr>
          <a:xfrm>
            <a:off x="0" y="4057009"/>
            <a:ext cx="1389019" cy="2866150"/>
            <a:chOff x="0" y="3527977"/>
            <a:chExt cx="1645402" cy="3395182"/>
          </a:xfrm>
        </p:grpSpPr>
        <p:sp>
          <p:nvSpPr>
            <p:cNvPr id="10" name="等腰三角形 9"/>
            <p:cNvSpPr/>
            <p:nvPr/>
          </p:nvSpPr>
          <p:spPr>
            <a:xfrm>
              <a:off x="0" y="3527977"/>
              <a:ext cx="1645402" cy="3330023"/>
            </a:xfrm>
            <a:prstGeom prst="triangle">
              <a:avLst>
                <a:gd name="adj" fmla="val 0"/>
              </a:avLst>
            </a:prstGeom>
            <a:solidFill>
              <a:srgbClr val="66A2C6">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rot="3784248" flipV="1">
              <a:off x="-638763" y="5357336"/>
              <a:ext cx="3085926" cy="45719"/>
            </a:xfrm>
            <a:prstGeom prst="ellipse">
              <a:avLst/>
            </a:prstGeom>
            <a:gradFill>
              <a:gsLst>
                <a:gs pos="50000">
                  <a:srgbClr val="66A2C6"/>
                </a:gs>
                <a:gs pos="0">
                  <a:schemeClr val="bg1">
                    <a:alpha val="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990258" y="2142655"/>
            <a:ext cx="6408711" cy="830997"/>
          </a:xfrm>
          <a:prstGeom prst="rect">
            <a:avLst/>
          </a:prstGeom>
          <a:noFill/>
        </p:spPr>
        <p:txBody>
          <a:bodyPr wrap="square" rtlCol="0">
            <a:spAutoFit/>
          </a:bodyPr>
          <a:lstStyle/>
          <a:p>
            <a:r>
              <a:rPr lang="en-US" altLang="zh-CN" sz="4800" dirty="0">
                <a:solidFill>
                  <a:schemeClr val="bg1"/>
                </a:solidFill>
                <a:effectLst>
                  <a:outerShdw blurRad="38100" dist="38100" dir="2700000" algn="tl">
                    <a:srgbClr val="000000">
                      <a:alpha val="25000"/>
                    </a:srgbClr>
                  </a:outerShdw>
                </a:effectLst>
                <a:latin typeface="阿里巴巴普惠体 Medium" pitchFamily="18" charset="-122"/>
                <a:ea typeface="阿里巴巴普惠体 Medium" pitchFamily="18" charset="-122"/>
              </a:rPr>
              <a:t>Power BI Dashboard</a:t>
            </a:r>
          </a:p>
        </p:txBody>
      </p:sp>
      <p:grpSp>
        <p:nvGrpSpPr>
          <p:cNvPr id="36" name="组合 35"/>
          <p:cNvGrpSpPr/>
          <p:nvPr/>
        </p:nvGrpSpPr>
        <p:grpSpPr>
          <a:xfrm>
            <a:off x="4418139" y="5517234"/>
            <a:ext cx="2648004" cy="1345759"/>
            <a:chOff x="4005010" y="5517232"/>
            <a:chExt cx="2648004" cy="1345759"/>
          </a:xfrm>
        </p:grpSpPr>
        <p:cxnSp>
          <p:nvCxnSpPr>
            <p:cNvPr id="27" name="直接连接符 26"/>
            <p:cNvCxnSpPr/>
            <p:nvPr/>
          </p:nvCxnSpPr>
          <p:spPr>
            <a:xfrm flipH="1">
              <a:off x="5932942" y="5517232"/>
              <a:ext cx="720072" cy="1345759"/>
            </a:xfrm>
            <a:prstGeom prst="line">
              <a:avLst/>
            </a:prstGeom>
            <a:ln w="12700">
              <a:gradFill>
                <a:gsLst>
                  <a:gs pos="100000">
                    <a:srgbClr val="66A2C6">
                      <a:alpha val="0"/>
                    </a:srgbClr>
                  </a:gs>
                  <a:gs pos="0">
                    <a:srgbClr val="66A2C6">
                      <a:alpha val="9000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5611620" y="5517232"/>
              <a:ext cx="720072" cy="1345759"/>
            </a:xfrm>
            <a:prstGeom prst="line">
              <a:avLst/>
            </a:prstGeom>
            <a:ln w="12700">
              <a:gradFill>
                <a:gsLst>
                  <a:gs pos="100000">
                    <a:srgbClr val="66A2C6">
                      <a:alpha val="0"/>
                    </a:srgbClr>
                  </a:gs>
                  <a:gs pos="0">
                    <a:srgbClr val="66A2C6">
                      <a:alpha val="9000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0298" y="5517232"/>
              <a:ext cx="720072" cy="1345759"/>
            </a:xfrm>
            <a:prstGeom prst="line">
              <a:avLst/>
            </a:prstGeom>
            <a:ln w="12700">
              <a:gradFill>
                <a:gsLst>
                  <a:gs pos="100000">
                    <a:srgbClr val="66A2C6">
                      <a:alpha val="0"/>
                    </a:srgbClr>
                  </a:gs>
                  <a:gs pos="0">
                    <a:srgbClr val="66A2C6">
                      <a:alpha val="9000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4968976" y="5517232"/>
              <a:ext cx="720072" cy="1345759"/>
            </a:xfrm>
            <a:prstGeom prst="line">
              <a:avLst/>
            </a:prstGeom>
            <a:ln w="12700">
              <a:gradFill>
                <a:gsLst>
                  <a:gs pos="100000">
                    <a:srgbClr val="66A2C6">
                      <a:alpha val="0"/>
                    </a:srgbClr>
                  </a:gs>
                  <a:gs pos="0">
                    <a:srgbClr val="66A2C6">
                      <a:alpha val="9000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4647654" y="5517232"/>
              <a:ext cx="720072" cy="1345759"/>
            </a:xfrm>
            <a:prstGeom prst="line">
              <a:avLst/>
            </a:prstGeom>
            <a:ln w="12700">
              <a:gradFill>
                <a:gsLst>
                  <a:gs pos="100000">
                    <a:srgbClr val="66A2C6">
                      <a:alpha val="0"/>
                    </a:srgbClr>
                  </a:gs>
                  <a:gs pos="0">
                    <a:srgbClr val="66A2C6">
                      <a:alpha val="9000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4326332" y="5517232"/>
              <a:ext cx="720072" cy="1345759"/>
            </a:xfrm>
            <a:prstGeom prst="line">
              <a:avLst/>
            </a:prstGeom>
            <a:ln w="12700">
              <a:gradFill>
                <a:gsLst>
                  <a:gs pos="100000">
                    <a:srgbClr val="66A2C6">
                      <a:alpha val="0"/>
                    </a:srgbClr>
                  </a:gs>
                  <a:gs pos="0">
                    <a:srgbClr val="66A2C6">
                      <a:alpha val="9000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4005010" y="5517232"/>
              <a:ext cx="720072" cy="1345759"/>
            </a:xfrm>
            <a:prstGeom prst="line">
              <a:avLst/>
            </a:prstGeom>
            <a:ln w="12700">
              <a:gradFill>
                <a:gsLst>
                  <a:gs pos="100000">
                    <a:srgbClr val="66A2C6">
                      <a:alpha val="0"/>
                    </a:srgbClr>
                  </a:gs>
                  <a:gs pos="0">
                    <a:srgbClr val="66A2C6">
                      <a:alpha val="90000"/>
                    </a:srgb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44" name="任意多边形 43"/>
          <p:cNvSpPr/>
          <p:nvPr/>
        </p:nvSpPr>
        <p:spPr>
          <a:xfrm flipV="1">
            <a:off x="3060767" y="558488"/>
            <a:ext cx="5591947" cy="6857996"/>
          </a:xfrm>
          <a:custGeom>
            <a:avLst/>
            <a:gdLst>
              <a:gd name="connsiteX0" fmla="*/ 3877446 w 5591946"/>
              <a:gd name="connsiteY0" fmla="*/ 6857996 h 6857996"/>
              <a:gd name="connsiteX1" fmla="*/ 0 w 5591946"/>
              <a:gd name="connsiteY1" fmla="*/ 6857996 h 6857996"/>
              <a:gd name="connsiteX2" fmla="*/ 0 w 5591946"/>
              <a:gd name="connsiteY2" fmla="*/ 0 h 6857996"/>
              <a:gd name="connsiteX3" fmla="*/ 3877446 w 5591946"/>
              <a:gd name="connsiteY3" fmla="*/ 0 h 6857996"/>
              <a:gd name="connsiteX4" fmla="*/ 5591946 w 5591946"/>
              <a:gd name="connsiteY4" fmla="*/ 3428998 h 6857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1946" h="6857996">
                <a:moveTo>
                  <a:pt x="3877446" y="6857996"/>
                </a:moveTo>
                <a:lnTo>
                  <a:pt x="0" y="6857996"/>
                </a:lnTo>
                <a:lnTo>
                  <a:pt x="0" y="0"/>
                </a:lnTo>
                <a:lnTo>
                  <a:pt x="3877446" y="0"/>
                </a:lnTo>
                <a:lnTo>
                  <a:pt x="5591946" y="3428998"/>
                </a:lnTo>
                <a:close/>
              </a:path>
            </a:pathLst>
          </a:custGeom>
          <a:gradFill flip="none" rotWithShape="1">
            <a:gsLst>
              <a:gs pos="88000">
                <a:srgbClr val="66A2C6">
                  <a:alpha val="0"/>
                </a:srgbClr>
              </a:gs>
              <a:gs pos="100000">
                <a:srgbClr val="66A2C6">
                  <a:alpha val="7600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椭圆 23"/>
          <p:cNvSpPr/>
          <p:nvPr/>
        </p:nvSpPr>
        <p:spPr>
          <a:xfrm rot="3784248" flipV="1">
            <a:off x="6048798" y="1567118"/>
            <a:ext cx="2974346" cy="45719"/>
          </a:xfrm>
          <a:prstGeom prst="ellipse">
            <a:avLst/>
          </a:prstGeom>
          <a:gradFill>
            <a:gsLst>
              <a:gs pos="50000">
                <a:srgbClr val="66A2C6"/>
              </a:gs>
              <a:gs pos="0">
                <a:schemeClr val="bg1">
                  <a:alpha val="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rot="17815752">
            <a:off x="6219915" y="4841386"/>
            <a:ext cx="2974346" cy="45719"/>
          </a:xfrm>
          <a:prstGeom prst="ellipse">
            <a:avLst/>
          </a:prstGeom>
          <a:gradFill>
            <a:gsLst>
              <a:gs pos="50000">
                <a:srgbClr val="66A2C6"/>
              </a:gs>
              <a:gs pos="0">
                <a:schemeClr val="bg1">
                  <a:alpha val="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nvSpPr>
        <p:spPr>
          <a:xfrm rot="9311953">
            <a:off x="7549929" y="-657061"/>
            <a:ext cx="276211" cy="3393925"/>
          </a:xfrm>
          <a:prstGeom prst="triangle">
            <a:avLst/>
          </a:prstGeom>
          <a:gradFill flip="none" rotWithShape="1">
            <a:gsLst>
              <a:gs pos="0">
                <a:srgbClr val="66A2C6"/>
              </a:gs>
              <a:gs pos="100000">
                <a:srgbClr val="66A2C6">
                  <a:alpha val="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nvSpPr>
        <p:spPr>
          <a:xfrm rot="12288047" flipV="1">
            <a:off x="7568983" y="4110710"/>
            <a:ext cx="276211" cy="3393925"/>
          </a:xfrm>
          <a:prstGeom prst="triangle">
            <a:avLst/>
          </a:prstGeom>
          <a:gradFill flip="none" rotWithShape="1">
            <a:gsLst>
              <a:gs pos="0">
                <a:srgbClr val="66A2C6"/>
              </a:gs>
              <a:gs pos="100000">
                <a:srgbClr val="66A2C6">
                  <a:alpha val="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1277346" y="2946531"/>
            <a:ext cx="5815993" cy="1015663"/>
          </a:xfrm>
          <a:prstGeom prst="rect">
            <a:avLst/>
          </a:prstGeom>
          <a:noFill/>
        </p:spPr>
        <p:txBody>
          <a:bodyPr wrap="square" rtlCol="0">
            <a:spAutoFit/>
          </a:bodyPr>
          <a:lstStyle/>
          <a:p>
            <a:r>
              <a:rPr lang="en-US" altLang="zh-CN" sz="6000" b="1" spc="-300" dirty="0">
                <a:solidFill>
                  <a:schemeClr val="bg1"/>
                </a:solidFill>
                <a:effectLst>
                  <a:outerShdw blurRad="38100" dist="38100" dir="2700000" algn="tl">
                    <a:srgbClr val="000000">
                      <a:alpha val="25000"/>
                    </a:srgbClr>
                  </a:outerShdw>
                </a:effectLst>
                <a:latin typeface="阿里巴巴普惠体 Heavy" pitchFamily="18" charset="-122"/>
                <a:ea typeface="阿里巴巴普惠体 Heavy" pitchFamily="18" charset="-122"/>
                <a:cs typeface="阿里巴巴普惠体 Heavy" pitchFamily="18" charset="-122"/>
              </a:rPr>
              <a:t>UK Train Rides</a:t>
            </a:r>
          </a:p>
        </p:txBody>
      </p:sp>
      <p:pic>
        <p:nvPicPr>
          <p:cNvPr id="18" name="Picture 17">
            <a:extLst>
              <a:ext uri="{FF2B5EF4-FFF2-40B4-BE49-F238E27FC236}">
                <a16:creationId xmlns:a16="http://schemas.microsoft.com/office/drawing/2014/main" id="{E52EE049-895E-7C96-C37A-B3AD6E42BC2B}"/>
              </a:ext>
            </a:extLst>
          </p:cNvPr>
          <p:cNvPicPr>
            <a:picLocks noChangeAspect="1"/>
          </p:cNvPicPr>
          <p:nvPr/>
        </p:nvPicPr>
        <p:blipFill>
          <a:blip r:embed="rId4"/>
          <a:stretch>
            <a:fillRect/>
          </a:stretch>
        </p:blipFill>
        <p:spPr>
          <a:xfrm>
            <a:off x="3494240" y="1018595"/>
            <a:ext cx="1211628" cy="1113917"/>
          </a:xfrm>
          <a:prstGeom prst="rect">
            <a:avLst/>
          </a:prstGeom>
        </p:spPr>
      </p:pic>
      <p:sp>
        <p:nvSpPr>
          <p:cNvPr id="26" name="文本框 13">
            <a:extLst>
              <a:ext uri="{FF2B5EF4-FFF2-40B4-BE49-F238E27FC236}">
                <a16:creationId xmlns:a16="http://schemas.microsoft.com/office/drawing/2014/main" id="{5D49A1AE-C8A1-6246-E64A-EEEDE13E9FA8}"/>
              </a:ext>
            </a:extLst>
          </p:cNvPr>
          <p:cNvSpPr txBox="1"/>
          <p:nvPr/>
        </p:nvSpPr>
        <p:spPr>
          <a:xfrm>
            <a:off x="2721116" y="3949263"/>
            <a:ext cx="2620318" cy="400110"/>
          </a:xfrm>
          <a:prstGeom prst="rect">
            <a:avLst/>
          </a:prstGeom>
          <a:noFill/>
        </p:spPr>
        <p:txBody>
          <a:bodyPr wrap="square" rtlCol="0">
            <a:spAutoFit/>
          </a:bodyPr>
          <a:lstStyle/>
          <a:p>
            <a:pPr algn="ctr"/>
            <a:r>
              <a:rPr lang="en-US" altLang="zh-CN" sz="2000" dirty="0">
                <a:solidFill>
                  <a:schemeClr val="bg1"/>
                </a:solidFill>
                <a:effectLst>
                  <a:outerShdw blurRad="38100" dist="38100" dir="2700000" algn="tl">
                    <a:srgbClr val="000000">
                      <a:alpha val="25000"/>
                    </a:srgbClr>
                  </a:outerShdw>
                </a:effectLst>
                <a:latin typeface="阿里巴巴普惠体 Medium" pitchFamily="18" charset="-122"/>
                <a:ea typeface="阿里巴巴普惠体 Medium" pitchFamily="18" charset="-122"/>
              </a:rPr>
              <a:t>“Final Project”</a:t>
            </a:r>
          </a:p>
        </p:txBody>
      </p:sp>
    </p:spTree>
    <p:extLst>
      <p:ext uri="{BB962C8B-B14F-4D97-AF65-F5344CB8AC3E}">
        <p14:creationId xmlns:p14="http://schemas.microsoft.com/office/powerpoint/2010/main" val="3986792175"/>
      </p:ext>
    </p:extLst>
  </p:cSld>
  <p:clrMapOvr>
    <a:masterClrMapping/>
  </p:clrMapOvr>
  <p:transition spd="slow">
    <p:fade/>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strips(downLeft)">
                                          <p:cBhvr>
                                            <p:cTn id="10" dur="500"/>
                                            <p:tgtEl>
                                              <p:spTgt spid="7"/>
                                            </p:tgtEl>
                                          </p:cBhvr>
                                        </p:animEffect>
                                      </p:childTnLst>
                                    </p:cTn>
                                  </p:par>
                                  <p:par>
                                    <p:cTn id="11" presetID="22" presetClass="entr" presetSubtype="8"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wipe(left)">
                                          <p:cBhvr>
                                            <p:cTn id="13" dur="500"/>
                                            <p:tgtEl>
                                              <p:spTgt spid="3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left)">
                                          <p:cBhvr>
                                            <p:cTn id="16" dur="500"/>
                                            <p:tgtEl>
                                              <p:spTgt spid="24"/>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left)">
                                          <p:cBhvr>
                                            <p:cTn id="19" dur="500"/>
                                            <p:tgtEl>
                                              <p:spTgt spid="25"/>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fade">
                                          <p:cBhvr>
                                            <p:cTn id="22" dur="1000"/>
                                            <p:tgtEl>
                                              <p:spTgt spid="44"/>
                                            </p:tgtEl>
                                          </p:cBhvr>
                                        </p:animEffect>
                                        <p:anim calcmode="lin" valueType="num">
                                          <p:cBhvr>
                                            <p:cTn id="23" dur="1000" fill="hold"/>
                                            <p:tgtEl>
                                              <p:spTgt spid="44"/>
                                            </p:tgtEl>
                                            <p:attrNameLst>
                                              <p:attrName>ppt_x</p:attrName>
                                            </p:attrNameLst>
                                          </p:cBhvr>
                                          <p:tavLst>
                                            <p:tav tm="0">
                                              <p:val>
                                                <p:strVal val="#ppt_x"/>
                                              </p:val>
                                            </p:tav>
                                            <p:tav tm="100000">
                                              <p:val>
                                                <p:strVal val="#ppt_x"/>
                                              </p:val>
                                            </p:tav>
                                          </p:tavLst>
                                        </p:anim>
                                        <p:anim calcmode="lin" valueType="num">
                                          <p:cBhvr>
                                            <p:cTn id="24" dur="1000" fill="hold"/>
                                            <p:tgtEl>
                                              <p:spTgt spid="44"/>
                                            </p:tgtEl>
                                            <p:attrNameLst>
                                              <p:attrName>ppt_y</p:attrName>
                                            </p:attrNameLst>
                                          </p:cBhvr>
                                          <p:tavLst>
                                            <p:tav tm="0">
                                              <p:val>
                                                <p:strVal val="#ppt_y+.1"/>
                                              </p:val>
                                            </p:tav>
                                            <p:tav tm="100000">
                                              <p:val>
                                                <p:strVal val="#ppt_y"/>
                                              </p:val>
                                            </p:tav>
                                          </p:tavLst>
                                        </p:anim>
                                      </p:childTnLst>
                                    </p:cTn>
                                  </p:par>
                                  <p:par>
                                    <p:cTn id="25" presetID="22" presetClass="entr" presetSubtype="8"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wipe(left)">
                                          <p:cBhvr>
                                            <p:cTn id="27" dur="500"/>
                                            <p:tgtEl>
                                              <p:spTgt spid="4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left)">
                                          <p:cBhvr>
                                            <p:cTn id="30" dur="500"/>
                                            <p:tgtEl>
                                              <p:spTgt spid="43"/>
                                            </p:tgtEl>
                                          </p:cBhvr>
                                        </p:animEffect>
                                      </p:childTnLst>
                                    </p:cTn>
                                  </p:par>
                                  <p:par>
                                    <p:cTn id="31" presetID="41" presetClass="entr" presetSubtype="0" fill="hold" grpId="0" nodeType="withEffect">
                                      <p:stCondLst>
                                        <p:cond delay="250"/>
                                      </p:stCondLst>
                                      <p:iterate type="lt">
                                        <p:tmPct val="10000"/>
                                      </p:iterate>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34" dur="500" fill="hold"/>
                                            <p:tgtEl>
                                              <p:spTgt spid="13"/>
                                            </p:tgtEl>
                                            <p:attrNameLst>
                                              <p:attrName>ppt_y</p:attrName>
                                            </p:attrNameLst>
                                          </p:cBhvr>
                                          <p:tavLst>
                                            <p:tav tm="0">
                                              <p:val>
                                                <p:strVal val="#ppt_y"/>
                                              </p:val>
                                            </p:tav>
                                            <p:tav tm="100000">
                                              <p:val>
                                                <p:strVal val="#ppt_y"/>
                                              </p:val>
                                            </p:tav>
                                          </p:tavLst>
                                        </p:anim>
                                        <p:anim calcmode="lin" valueType="num">
                                          <p:cBhvr>
                                            <p:cTn id="35"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36"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37" dur="500" tmFilter="0,0; .5, 1; 1, 1"/>
                                            <p:tgtEl>
                                              <p:spTgt spid="13"/>
                                            </p:tgtEl>
                                          </p:cBhvr>
                                        </p:animEffect>
                                      </p:childTnLst>
                                    </p:cTn>
                                  </p:par>
                                  <p:par>
                                    <p:cTn id="38" presetID="2" presetClass="entr" presetSubtype="1" fill="hold" grpId="0" nodeType="withEffect" p14:presetBounceEnd="40000">
                                      <p:stCondLst>
                                        <p:cond delay="500"/>
                                      </p:stCondLst>
                                      <p:childTnLst>
                                        <p:set>
                                          <p:cBhvr>
                                            <p:cTn id="39" dur="1" fill="hold">
                                              <p:stCondLst>
                                                <p:cond delay="0"/>
                                              </p:stCondLst>
                                            </p:cTn>
                                            <p:tgtEl>
                                              <p:spTgt spid="14"/>
                                            </p:tgtEl>
                                            <p:attrNameLst>
                                              <p:attrName>style.visibility</p:attrName>
                                            </p:attrNameLst>
                                          </p:cBhvr>
                                          <p:to>
                                            <p:strVal val="visible"/>
                                          </p:to>
                                        </p:set>
                                        <p:anim calcmode="lin" valueType="num" p14:bounceEnd="40000">
                                          <p:cBhvr additive="base">
                                            <p:cTn id="40" dur="750" fill="hold"/>
                                            <p:tgtEl>
                                              <p:spTgt spid="14"/>
                                            </p:tgtEl>
                                            <p:attrNameLst>
                                              <p:attrName>ppt_x</p:attrName>
                                            </p:attrNameLst>
                                          </p:cBhvr>
                                          <p:tavLst>
                                            <p:tav tm="0">
                                              <p:val>
                                                <p:strVal val="#ppt_x"/>
                                              </p:val>
                                            </p:tav>
                                            <p:tav tm="100000">
                                              <p:val>
                                                <p:strVal val="#ppt_x"/>
                                              </p:val>
                                            </p:tav>
                                          </p:tavLst>
                                        </p:anim>
                                        <p:anim calcmode="lin" valueType="num" p14:bounceEnd="40000">
                                          <p:cBhvr additive="base">
                                            <p:cTn id="41" dur="750" fill="hold"/>
                                            <p:tgtEl>
                                              <p:spTgt spid="14"/>
                                            </p:tgtEl>
                                            <p:attrNameLst>
                                              <p:attrName>ppt_y</p:attrName>
                                            </p:attrNameLst>
                                          </p:cBhvr>
                                          <p:tavLst>
                                            <p:tav tm="0">
                                              <p:val>
                                                <p:strVal val="0-#ppt_h/2"/>
                                              </p:val>
                                            </p:tav>
                                            <p:tav tm="100000">
                                              <p:val>
                                                <p:strVal val="#ppt_y"/>
                                              </p:val>
                                            </p:tav>
                                          </p:tavLst>
                                        </p:anim>
                                      </p:childTnLst>
                                    </p:cTn>
                                  </p:par>
                                  <p:par>
                                    <p:cTn id="42" presetID="2" presetClass="entr" presetSubtype="1" fill="hold" grpId="0" nodeType="withEffect" p14:presetBounceEnd="40000">
                                      <p:stCondLst>
                                        <p:cond delay="500"/>
                                      </p:stCondLst>
                                      <p:childTnLst>
                                        <p:set>
                                          <p:cBhvr>
                                            <p:cTn id="43" dur="1" fill="hold">
                                              <p:stCondLst>
                                                <p:cond delay="0"/>
                                              </p:stCondLst>
                                            </p:cTn>
                                            <p:tgtEl>
                                              <p:spTgt spid="26"/>
                                            </p:tgtEl>
                                            <p:attrNameLst>
                                              <p:attrName>style.visibility</p:attrName>
                                            </p:attrNameLst>
                                          </p:cBhvr>
                                          <p:to>
                                            <p:strVal val="visible"/>
                                          </p:to>
                                        </p:set>
                                        <p:anim calcmode="lin" valueType="num" p14:bounceEnd="40000">
                                          <p:cBhvr additive="base">
                                            <p:cTn id="44" dur="750" fill="hold"/>
                                            <p:tgtEl>
                                              <p:spTgt spid="26"/>
                                            </p:tgtEl>
                                            <p:attrNameLst>
                                              <p:attrName>ppt_x</p:attrName>
                                            </p:attrNameLst>
                                          </p:cBhvr>
                                          <p:tavLst>
                                            <p:tav tm="0">
                                              <p:val>
                                                <p:strVal val="#ppt_x"/>
                                              </p:val>
                                            </p:tav>
                                            <p:tav tm="100000">
                                              <p:val>
                                                <p:strVal val="#ppt_x"/>
                                              </p:val>
                                            </p:tav>
                                          </p:tavLst>
                                        </p:anim>
                                        <p:anim calcmode="lin" valueType="num" p14:bounceEnd="40000">
                                          <p:cBhvr additive="base">
                                            <p:cTn id="45" dur="750" fill="hold"/>
                                            <p:tgtEl>
                                              <p:spTgt spid="2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p:bldP spid="44" grpId="0" animBg="1"/>
          <p:bldP spid="24" grpId="0" animBg="1"/>
          <p:bldP spid="25" grpId="0" animBg="1"/>
          <p:bldP spid="42" grpId="0" animBg="1"/>
          <p:bldP spid="43" grpId="0" animBg="1"/>
          <p:bldP spid="13" grpId="0"/>
          <p:bldP spid="26"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strips(downLeft)">
                                          <p:cBhvr>
                                            <p:cTn id="10" dur="500"/>
                                            <p:tgtEl>
                                              <p:spTgt spid="7"/>
                                            </p:tgtEl>
                                          </p:cBhvr>
                                        </p:animEffect>
                                      </p:childTnLst>
                                    </p:cTn>
                                  </p:par>
                                  <p:par>
                                    <p:cTn id="11" presetID="22" presetClass="entr" presetSubtype="8"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wipe(left)">
                                          <p:cBhvr>
                                            <p:cTn id="13" dur="500"/>
                                            <p:tgtEl>
                                              <p:spTgt spid="3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left)">
                                          <p:cBhvr>
                                            <p:cTn id="16" dur="500"/>
                                            <p:tgtEl>
                                              <p:spTgt spid="24"/>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left)">
                                          <p:cBhvr>
                                            <p:cTn id="19" dur="500"/>
                                            <p:tgtEl>
                                              <p:spTgt spid="25"/>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fade">
                                          <p:cBhvr>
                                            <p:cTn id="22" dur="1000"/>
                                            <p:tgtEl>
                                              <p:spTgt spid="44"/>
                                            </p:tgtEl>
                                          </p:cBhvr>
                                        </p:animEffect>
                                        <p:anim calcmode="lin" valueType="num">
                                          <p:cBhvr>
                                            <p:cTn id="23" dur="1000" fill="hold"/>
                                            <p:tgtEl>
                                              <p:spTgt spid="44"/>
                                            </p:tgtEl>
                                            <p:attrNameLst>
                                              <p:attrName>ppt_x</p:attrName>
                                            </p:attrNameLst>
                                          </p:cBhvr>
                                          <p:tavLst>
                                            <p:tav tm="0">
                                              <p:val>
                                                <p:strVal val="#ppt_x"/>
                                              </p:val>
                                            </p:tav>
                                            <p:tav tm="100000">
                                              <p:val>
                                                <p:strVal val="#ppt_x"/>
                                              </p:val>
                                            </p:tav>
                                          </p:tavLst>
                                        </p:anim>
                                        <p:anim calcmode="lin" valueType="num">
                                          <p:cBhvr>
                                            <p:cTn id="24" dur="1000" fill="hold"/>
                                            <p:tgtEl>
                                              <p:spTgt spid="44"/>
                                            </p:tgtEl>
                                            <p:attrNameLst>
                                              <p:attrName>ppt_y</p:attrName>
                                            </p:attrNameLst>
                                          </p:cBhvr>
                                          <p:tavLst>
                                            <p:tav tm="0">
                                              <p:val>
                                                <p:strVal val="#ppt_y+.1"/>
                                              </p:val>
                                            </p:tav>
                                            <p:tav tm="100000">
                                              <p:val>
                                                <p:strVal val="#ppt_y"/>
                                              </p:val>
                                            </p:tav>
                                          </p:tavLst>
                                        </p:anim>
                                      </p:childTnLst>
                                    </p:cTn>
                                  </p:par>
                                  <p:par>
                                    <p:cTn id="25" presetID="22" presetClass="entr" presetSubtype="8"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wipe(left)">
                                          <p:cBhvr>
                                            <p:cTn id="27" dur="500"/>
                                            <p:tgtEl>
                                              <p:spTgt spid="4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left)">
                                          <p:cBhvr>
                                            <p:cTn id="30" dur="500"/>
                                            <p:tgtEl>
                                              <p:spTgt spid="43"/>
                                            </p:tgtEl>
                                          </p:cBhvr>
                                        </p:animEffect>
                                      </p:childTnLst>
                                    </p:cTn>
                                  </p:par>
                                  <p:par>
                                    <p:cTn id="31" presetID="41" presetClass="entr" presetSubtype="0" fill="hold" grpId="0" nodeType="withEffect">
                                      <p:stCondLst>
                                        <p:cond delay="250"/>
                                      </p:stCondLst>
                                      <p:iterate type="lt">
                                        <p:tmPct val="10000"/>
                                      </p:iterate>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34" dur="500" fill="hold"/>
                                            <p:tgtEl>
                                              <p:spTgt spid="13"/>
                                            </p:tgtEl>
                                            <p:attrNameLst>
                                              <p:attrName>ppt_y</p:attrName>
                                            </p:attrNameLst>
                                          </p:cBhvr>
                                          <p:tavLst>
                                            <p:tav tm="0">
                                              <p:val>
                                                <p:strVal val="#ppt_y"/>
                                              </p:val>
                                            </p:tav>
                                            <p:tav tm="100000">
                                              <p:val>
                                                <p:strVal val="#ppt_y"/>
                                              </p:val>
                                            </p:tav>
                                          </p:tavLst>
                                        </p:anim>
                                        <p:anim calcmode="lin" valueType="num">
                                          <p:cBhvr>
                                            <p:cTn id="35"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36"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37" dur="500" tmFilter="0,0; .5, 1; 1, 1"/>
                                            <p:tgtEl>
                                              <p:spTgt spid="13"/>
                                            </p:tgtEl>
                                          </p:cBhvr>
                                        </p:animEffect>
                                      </p:childTnLst>
                                    </p:cTn>
                                  </p:par>
                                  <p:par>
                                    <p:cTn id="38" presetID="2" presetClass="entr" presetSubtype="1" fill="hold" grpId="0" nodeType="withEffect">
                                      <p:stCondLst>
                                        <p:cond delay="50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750" fill="hold"/>
                                            <p:tgtEl>
                                              <p:spTgt spid="14"/>
                                            </p:tgtEl>
                                            <p:attrNameLst>
                                              <p:attrName>ppt_x</p:attrName>
                                            </p:attrNameLst>
                                          </p:cBhvr>
                                          <p:tavLst>
                                            <p:tav tm="0">
                                              <p:val>
                                                <p:strVal val="#ppt_x"/>
                                              </p:val>
                                            </p:tav>
                                            <p:tav tm="100000">
                                              <p:val>
                                                <p:strVal val="#ppt_x"/>
                                              </p:val>
                                            </p:tav>
                                          </p:tavLst>
                                        </p:anim>
                                        <p:anim calcmode="lin" valueType="num">
                                          <p:cBhvr additive="base">
                                            <p:cTn id="41" dur="750" fill="hold"/>
                                            <p:tgtEl>
                                              <p:spTgt spid="14"/>
                                            </p:tgtEl>
                                            <p:attrNameLst>
                                              <p:attrName>ppt_y</p:attrName>
                                            </p:attrNameLst>
                                          </p:cBhvr>
                                          <p:tavLst>
                                            <p:tav tm="0">
                                              <p:val>
                                                <p:strVal val="0-#ppt_h/2"/>
                                              </p:val>
                                            </p:tav>
                                            <p:tav tm="100000">
                                              <p:val>
                                                <p:strVal val="#ppt_y"/>
                                              </p:val>
                                            </p:tav>
                                          </p:tavLst>
                                        </p:anim>
                                      </p:childTnLst>
                                    </p:cTn>
                                  </p:par>
                                  <p:par>
                                    <p:cTn id="42" presetID="2" presetClass="entr" presetSubtype="1" fill="hold" grpId="0" nodeType="withEffect">
                                      <p:stCondLst>
                                        <p:cond delay="500"/>
                                      </p:stCondLst>
                                      <p:childTnLst>
                                        <p:set>
                                          <p:cBhvr>
                                            <p:cTn id="43" dur="1" fill="hold">
                                              <p:stCondLst>
                                                <p:cond delay="0"/>
                                              </p:stCondLst>
                                            </p:cTn>
                                            <p:tgtEl>
                                              <p:spTgt spid="26"/>
                                            </p:tgtEl>
                                            <p:attrNameLst>
                                              <p:attrName>style.visibility</p:attrName>
                                            </p:attrNameLst>
                                          </p:cBhvr>
                                          <p:to>
                                            <p:strVal val="visible"/>
                                          </p:to>
                                        </p:set>
                                        <p:anim calcmode="lin" valueType="num">
                                          <p:cBhvr additive="base">
                                            <p:cTn id="44" dur="750" fill="hold"/>
                                            <p:tgtEl>
                                              <p:spTgt spid="26"/>
                                            </p:tgtEl>
                                            <p:attrNameLst>
                                              <p:attrName>ppt_x</p:attrName>
                                            </p:attrNameLst>
                                          </p:cBhvr>
                                          <p:tavLst>
                                            <p:tav tm="0">
                                              <p:val>
                                                <p:strVal val="#ppt_x"/>
                                              </p:val>
                                            </p:tav>
                                            <p:tav tm="100000">
                                              <p:val>
                                                <p:strVal val="#ppt_x"/>
                                              </p:val>
                                            </p:tav>
                                          </p:tavLst>
                                        </p:anim>
                                        <p:anim calcmode="lin" valueType="num">
                                          <p:cBhvr additive="base">
                                            <p:cTn id="45" dur="750" fill="hold"/>
                                            <p:tgtEl>
                                              <p:spTgt spid="2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p:bldP spid="44" grpId="0" animBg="1"/>
          <p:bldP spid="24" grpId="0" animBg="1"/>
          <p:bldP spid="25" grpId="0" animBg="1"/>
          <p:bldP spid="42" grpId="0" animBg="1"/>
          <p:bldP spid="43" grpId="0" animBg="1"/>
          <p:bldP spid="13" grpId="0"/>
          <p:bldP spid="26"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任意多边形 25"/>
          <p:cNvSpPr/>
          <p:nvPr/>
        </p:nvSpPr>
        <p:spPr>
          <a:xfrm>
            <a:off x="9674392" y="0"/>
            <a:ext cx="2567608" cy="6872068"/>
          </a:xfrm>
          <a:custGeom>
            <a:avLst/>
            <a:gdLst>
              <a:gd name="connsiteX0" fmla="*/ 0 w 2567608"/>
              <a:gd name="connsiteY0" fmla="*/ 0 h 6872068"/>
              <a:gd name="connsiteX1" fmla="*/ 2567608 w 2567608"/>
              <a:gd name="connsiteY1" fmla="*/ 0 h 6872068"/>
              <a:gd name="connsiteX2" fmla="*/ 2567608 w 2567608"/>
              <a:gd name="connsiteY2" fmla="*/ 6872068 h 6872068"/>
              <a:gd name="connsiteX3" fmla="*/ 0 w 2567608"/>
              <a:gd name="connsiteY3" fmla="*/ 6872068 h 6872068"/>
              <a:gd name="connsiteX4" fmla="*/ 0 w 2567608"/>
              <a:gd name="connsiteY4" fmla="*/ 1700808 h 6872068"/>
              <a:gd name="connsiteX5" fmla="*/ 322794 w 2567608"/>
              <a:gd name="connsiteY5" fmla="*/ 1304764 h 6872068"/>
              <a:gd name="connsiteX6" fmla="*/ 0 w 2567608"/>
              <a:gd name="connsiteY6" fmla="*/ 908720 h 68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67608" h="6872068">
                <a:moveTo>
                  <a:pt x="0" y="0"/>
                </a:moveTo>
                <a:lnTo>
                  <a:pt x="2567608" y="0"/>
                </a:lnTo>
                <a:lnTo>
                  <a:pt x="2567608" y="6872068"/>
                </a:lnTo>
                <a:lnTo>
                  <a:pt x="0" y="6872068"/>
                </a:lnTo>
                <a:lnTo>
                  <a:pt x="0" y="1700808"/>
                </a:lnTo>
                <a:lnTo>
                  <a:pt x="322794" y="1304764"/>
                </a:lnTo>
                <a:lnTo>
                  <a:pt x="0" y="908720"/>
                </a:lnTo>
                <a:close/>
              </a:path>
            </a:pathLst>
          </a:custGeom>
          <a:blipFill>
            <a:blip r:embed="rId3" cstate="email">
              <a:extLst>
                <a:ext uri="{BEBA8EAE-BF5A-486C-A8C5-ECC9F3942E4B}">
                  <a14:imgProps xmlns:a14="http://schemas.microsoft.com/office/drawing/2010/main">
                    <a14:imgLayer r:embed="rId4">
                      <a14:imgEffect>
                        <a14:brightnessContrast bright="8000"/>
                      </a14:imgEffect>
                    </a14:imgLayer>
                  </a14:imgProps>
                </a:ext>
                <a:ext uri="{28A0092B-C50C-407E-A947-70E740481C1C}">
                  <a14:useLocalDpi xmlns:a14="http://schemas.microsoft.com/office/drawing/2010/main"/>
                </a:ext>
              </a:extLst>
            </a:blip>
            <a:stretch>
              <a:fillRect/>
            </a:stretch>
          </a:blipFill>
          <a:ln>
            <a:noFill/>
          </a:ln>
          <a:effectLst>
            <a:outerShdw blurRad="101600" dist="381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24"/>
          <p:cNvSpPr/>
          <p:nvPr/>
        </p:nvSpPr>
        <p:spPr>
          <a:xfrm rot="5400000">
            <a:off x="-2206857" y="2206857"/>
            <a:ext cx="6872068" cy="2458355"/>
          </a:xfrm>
          <a:custGeom>
            <a:avLst/>
            <a:gdLst>
              <a:gd name="connsiteX0" fmla="*/ 0 w 6872068"/>
              <a:gd name="connsiteY0" fmla="*/ 2458354 h 2458354"/>
              <a:gd name="connsiteX1" fmla="*/ 0 w 6872068"/>
              <a:gd name="connsiteY1" fmla="*/ 322794 h 2458354"/>
              <a:gd name="connsiteX2" fmla="*/ 908720 w 6872068"/>
              <a:gd name="connsiteY2" fmla="*/ 322794 h 2458354"/>
              <a:gd name="connsiteX3" fmla="*/ 1304764 w 6872068"/>
              <a:gd name="connsiteY3" fmla="*/ 0 h 2458354"/>
              <a:gd name="connsiteX4" fmla="*/ 1700808 w 6872068"/>
              <a:gd name="connsiteY4" fmla="*/ 322794 h 2458354"/>
              <a:gd name="connsiteX5" fmla="*/ 6872068 w 6872068"/>
              <a:gd name="connsiteY5" fmla="*/ 322794 h 2458354"/>
              <a:gd name="connsiteX6" fmla="*/ 6872068 w 6872068"/>
              <a:gd name="connsiteY6" fmla="*/ 2458354 h 245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72068" h="2458354">
                <a:moveTo>
                  <a:pt x="0" y="2458354"/>
                </a:moveTo>
                <a:lnTo>
                  <a:pt x="0" y="322794"/>
                </a:lnTo>
                <a:lnTo>
                  <a:pt x="908720" y="322794"/>
                </a:lnTo>
                <a:lnTo>
                  <a:pt x="1304764" y="0"/>
                </a:lnTo>
                <a:lnTo>
                  <a:pt x="1700808" y="322794"/>
                </a:lnTo>
                <a:lnTo>
                  <a:pt x="6872068" y="322794"/>
                </a:lnTo>
                <a:lnTo>
                  <a:pt x="6872068" y="2458354"/>
                </a:lnTo>
                <a:close/>
              </a:path>
            </a:pathLst>
          </a:custGeom>
          <a:gradFill>
            <a:gsLst>
              <a:gs pos="0">
                <a:srgbClr val="0E4576"/>
              </a:gs>
              <a:gs pos="100000">
                <a:srgbClr val="102A52"/>
              </a:gs>
            </a:gsLst>
            <a:lin ang="2700000" scaled="0"/>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2359434" y="445375"/>
            <a:ext cx="3576066" cy="399090"/>
            <a:chOff x="3842678" y="1373217"/>
            <a:chExt cx="3576066" cy="383437"/>
          </a:xfrm>
        </p:grpSpPr>
        <p:sp>
          <p:nvSpPr>
            <p:cNvPr id="14" name="文本框 13"/>
            <p:cNvSpPr txBox="1"/>
            <p:nvPr/>
          </p:nvSpPr>
          <p:spPr>
            <a:xfrm>
              <a:off x="4470899" y="1400409"/>
              <a:ext cx="2947845" cy="325275"/>
            </a:xfrm>
            <a:prstGeom prst="rect">
              <a:avLst/>
            </a:prstGeom>
            <a:noFill/>
          </p:spPr>
          <p:txBody>
            <a:bodyPr wrap="square" rtlCol="0">
              <a:spAutoFit/>
            </a:bodyPr>
            <a:lstStyle/>
            <a:p>
              <a:r>
                <a:rPr lang="en-US" altLang="zh-CN"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Project Overview</a:t>
              </a:r>
              <a:endParaRPr lang="zh-CN" altLang="en-US"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grpSp>
          <p:nvGrpSpPr>
            <p:cNvPr id="16" name="组合 15"/>
            <p:cNvGrpSpPr/>
            <p:nvPr/>
          </p:nvGrpSpPr>
          <p:grpSpPr>
            <a:xfrm>
              <a:off x="3842678" y="1373217"/>
              <a:ext cx="709392" cy="383437"/>
              <a:chOff x="870856" y="1044864"/>
              <a:chExt cx="1915189" cy="1035191"/>
            </a:xfrm>
          </p:grpSpPr>
          <p:sp>
            <p:nvSpPr>
              <p:cNvPr id="17" name="Freeform 5"/>
              <p:cNvSpPr>
                <a:spLocks/>
              </p:cNvSpPr>
              <p:nvPr/>
            </p:nvSpPr>
            <p:spPr bwMode="auto">
              <a:xfrm rot="16200000">
                <a:off x="1310855" y="1114426"/>
                <a:ext cx="1035191" cy="89606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6A2C6"/>
              </a:solidFill>
              <a:ln w="25400">
                <a:noFill/>
              </a:ln>
              <a:effectLst>
                <a:outerShdw blurRad="190500" dist="63500" dir="2700000" algn="tl" rotWithShape="0">
                  <a:prstClr val="black">
                    <a:alpha val="25000"/>
                  </a:prstClr>
                </a:outerShdw>
              </a:effectLst>
            </p:spPr>
            <p:txBody>
              <a:bodyPr vert="horz" wrap="square" lIns="91440" tIns="45720" rIns="91440" bIns="45720" numCol="1" anchor="t" anchorCtr="0" compatLnSpc="1">
                <a:prstTxWarp prst="textNoShape">
                  <a:avLst/>
                </a:prstTxWarp>
              </a:bodyPr>
              <a:lstStyle/>
              <a:p>
                <a:endParaRPr lang="zh-CN" altLang="en-US" sz="3200" dirty="0">
                  <a:solidFill>
                    <a:schemeClr val="tx1">
                      <a:lumMod val="85000"/>
                      <a:lumOff val="15000"/>
                    </a:schemeClr>
                  </a:solidFill>
                  <a:ea typeface="阿里巴巴普惠体 Medium" pitchFamily="18" charset="-122"/>
                </a:endParaRPr>
              </a:p>
            </p:txBody>
          </p:sp>
          <p:sp>
            <p:nvSpPr>
              <p:cNvPr id="18" name="文本框 17"/>
              <p:cNvSpPr txBox="1"/>
              <p:nvPr/>
            </p:nvSpPr>
            <p:spPr>
              <a:xfrm>
                <a:off x="870856" y="1171264"/>
                <a:ext cx="1915189" cy="798336"/>
              </a:xfrm>
              <a:prstGeom prst="rect">
                <a:avLst/>
              </a:prstGeom>
              <a:noFill/>
            </p:spPr>
            <p:txBody>
              <a:bodyPr wrap="square" rtlCol="0">
                <a:spAutoFit/>
              </a:bodyPr>
              <a:lstStyle/>
              <a:p>
                <a:pPr algn="ctr"/>
                <a:r>
                  <a:rPr lang="en-US" altLang="zh-CN"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01</a:t>
                </a:r>
                <a:endParaRPr lang="zh-CN" altLang="en-US"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endParaRPr>
              </a:p>
            </p:txBody>
          </p:sp>
        </p:grpSp>
      </p:grpSp>
      <p:sp>
        <p:nvSpPr>
          <p:cNvPr id="21" name="文本框 20"/>
          <p:cNvSpPr txBox="1"/>
          <p:nvPr/>
        </p:nvSpPr>
        <p:spPr>
          <a:xfrm rot="16200000">
            <a:off x="-862889" y="3145187"/>
            <a:ext cx="3182641" cy="707886"/>
          </a:xfrm>
          <a:prstGeom prst="rect">
            <a:avLst/>
          </a:prstGeom>
          <a:noFill/>
        </p:spPr>
        <p:txBody>
          <a:bodyPr wrap="square" rtlCol="0">
            <a:spAutoFit/>
          </a:bodyPr>
          <a:lstStyle/>
          <a:p>
            <a:pPr algn="dist"/>
            <a:r>
              <a:rPr lang="en-US" altLang="zh-CN" sz="4000" dirty="0">
                <a:solidFill>
                  <a:schemeClr val="bg1">
                    <a:alpha val="86000"/>
                  </a:schemeClr>
                </a:solidFill>
                <a:latin typeface="思源宋体 CN Heavy" panose="02020900000000000000" pitchFamily="18" charset="-122"/>
                <a:ea typeface="思源宋体 CN Heavy" panose="02020900000000000000" pitchFamily="18" charset="-122"/>
              </a:rPr>
              <a:t>CONTENTS</a:t>
            </a:r>
            <a:endParaRPr lang="zh-CN" altLang="en-US" sz="4000" dirty="0">
              <a:solidFill>
                <a:schemeClr val="bg1">
                  <a:alpha val="86000"/>
                </a:schemeClr>
              </a:solidFill>
              <a:latin typeface="思源宋体 CN Heavy" panose="02020900000000000000" pitchFamily="18" charset="-122"/>
              <a:ea typeface="思源宋体 CN Heavy" panose="02020900000000000000" pitchFamily="18" charset="-122"/>
            </a:endParaRPr>
          </a:p>
        </p:txBody>
      </p:sp>
      <p:sp>
        <p:nvSpPr>
          <p:cNvPr id="44" name="椭圆 43"/>
          <p:cNvSpPr/>
          <p:nvPr/>
        </p:nvSpPr>
        <p:spPr>
          <a:xfrm rot="5400000" flipV="1">
            <a:off x="-422428" y="4279339"/>
            <a:ext cx="5111606" cy="45719"/>
          </a:xfrm>
          <a:prstGeom prst="ellipse">
            <a:avLst/>
          </a:prstGeom>
          <a:gradFill>
            <a:gsLst>
              <a:gs pos="50000">
                <a:srgbClr val="66A2C6"/>
              </a:gs>
              <a:gs pos="0">
                <a:schemeClr val="bg1">
                  <a:alpha val="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rot="5400000" flipV="1">
            <a:off x="7060640" y="4233754"/>
            <a:ext cx="5111606" cy="45719"/>
          </a:xfrm>
          <a:prstGeom prst="ellipse">
            <a:avLst/>
          </a:prstGeom>
          <a:gradFill>
            <a:gsLst>
              <a:gs pos="50000">
                <a:srgbClr val="66A2C6"/>
              </a:gs>
              <a:gs pos="0">
                <a:schemeClr val="bg1">
                  <a:alpha val="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5400000">
            <a:off x="1875065" y="1162469"/>
            <a:ext cx="679988" cy="291776"/>
          </a:xfrm>
          <a:prstGeom prst="triangle">
            <a:avLst/>
          </a:prstGeom>
          <a:gradFill>
            <a:gsLst>
              <a:gs pos="80000">
                <a:srgbClr val="66A2C6">
                  <a:alpha val="0"/>
                </a:srgbClr>
              </a:gs>
              <a:gs pos="0">
                <a:srgbClr val="66A2C6">
                  <a:alpha val="76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nvSpPr>
        <p:spPr>
          <a:xfrm rot="10800000">
            <a:off x="1179101" y="2996952"/>
            <a:ext cx="107791" cy="939074"/>
          </a:xfrm>
          <a:prstGeom prst="triangle">
            <a:avLst/>
          </a:prstGeom>
          <a:gradFill flip="none" rotWithShape="1">
            <a:gsLst>
              <a:gs pos="0">
                <a:srgbClr val="66A2C6"/>
              </a:gs>
              <a:gs pos="100000">
                <a:srgbClr val="66A2C6">
                  <a:alpha val="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TextBox 9">
            <a:extLst>
              <a:ext uri="{FF2B5EF4-FFF2-40B4-BE49-F238E27FC236}">
                <a16:creationId xmlns:a16="http://schemas.microsoft.com/office/drawing/2014/main" id="{FF11A90E-4E60-197F-DCE6-A43776017FDA}"/>
              </a:ext>
            </a:extLst>
          </p:cNvPr>
          <p:cNvSpPr txBox="1"/>
          <p:nvPr/>
        </p:nvSpPr>
        <p:spPr>
          <a:xfrm>
            <a:off x="0" y="0"/>
            <a:ext cx="453651"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下载 </a:t>
            </a:r>
            <a:r>
              <a:rPr lang="en-US" altLang="zh-CN" sz="100" dirty="0">
                <a:noFill/>
                <a:latin typeface="微软雅黑" panose="020B0503020204020204" pitchFamily="34" charset="-122"/>
                <a:ea typeface="微软雅黑" panose="020B0503020204020204" pitchFamily="34" charset="-122"/>
              </a:rPr>
              <a:t>http://www.freeppt7.com/xiazai/</a:t>
            </a:r>
          </a:p>
        </p:txBody>
      </p:sp>
      <p:grpSp>
        <p:nvGrpSpPr>
          <p:cNvPr id="142" name="组合 1">
            <a:extLst>
              <a:ext uri="{FF2B5EF4-FFF2-40B4-BE49-F238E27FC236}">
                <a16:creationId xmlns:a16="http://schemas.microsoft.com/office/drawing/2014/main" id="{BD807000-6EFD-859C-F7B8-0F6F553918EE}"/>
              </a:ext>
            </a:extLst>
          </p:cNvPr>
          <p:cNvGrpSpPr/>
          <p:nvPr/>
        </p:nvGrpSpPr>
        <p:grpSpPr>
          <a:xfrm>
            <a:off x="2359434" y="902575"/>
            <a:ext cx="3576066" cy="399090"/>
            <a:chOff x="3842678" y="1373217"/>
            <a:chExt cx="3576066" cy="383437"/>
          </a:xfrm>
        </p:grpSpPr>
        <p:sp>
          <p:nvSpPr>
            <p:cNvPr id="143" name="文本框 13">
              <a:extLst>
                <a:ext uri="{FF2B5EF4-FFF2-40B4-BE49-F238E27FC236}">
                  <a16:creationId xmlns:a16="http://schemas.microsoft.com/office/drawing/2014/main" id="{9A3B7DF7-B2B3-FAAE-EB40-07CA899D3461}"/>
                </a:ext>
              </a:extLst>
            </p:cNvPr>
            <p:cNvSpPr txBox="1"/>
            <p:nvPr/>
          </p:nvSpPr>
          <p:spPr>
            <a:xfrm>
              <a:off x="4470899" y="1400409"/>
              <a:ext cx="2947845" cy="325275"/>
            </a:xfrm>
            <a:prstGeom prst="rect">
              <a:avLst/>
            </a:prstGeom>
            <a:noFill/>
          </p:spPr>
          <p:txBody>
            <a:bodyPr wrap="square" rtlCol="0">
              <a:spAutoFit/>
            </a:bodyPr>
            <a:lstStyle/>
            <a:p>
              <a:r>
                <a:rPr lang="en-US" altLang="zh-CN"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Data Sources</a:t>
              </a:r>
              <a:endParaRPr lang="zh-CN" altLang="en-US"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grpSp>
          <p:nvGrpSpPr>
            <p:cNvPr id="144" name="组合 15">
              <a:extLst>
                <a:ext uri="{FF2B5EF4-FFF2-40B4-BE49-F238E27FC236}">
                  <a16:creationId xmlns:a16="http://schemas.microsoft.com/office/drawing/2014/main" id="{D2C31636-A18D-E457-CEDE-50BD325F09BA}"/>
                </a:ext>
              </a:extLst>
            </p:cNvPr>
            <p:cNvGrpSpPr/>
            <p:nvPr/>
          </p:nvGrpSpPr>
          <p:grpSpPr>
            <a:xfrm>
              <a:off x="3842678" y="1373217"/>
              <a:ext cx="709392" cy="383437"/>
              <a:chOff x="870856" y="1044864"/>
              <a:chExt cx="1915189" cy="1035191"/>
            </a:xfrm>
          </p:grpSpPr>
          <p:sp>
            <p:nvSpPr>
              <p:cNvPr id="145" name="Freeform 5">
                <a:extLst>
                  <a:ext uri="{FF2B5EF4-FFF2-40B4-BE49-F238E27FC236}">
                    <a16:creationId xmlns:a16="http://schemas.microsoft.com/office/drawing/2014/main" id="{79B973E8-B42D-7746-604F-1B05298EE11B}"/>
                  </a:ext>
                </a:extLst>
              </p:cNvPr>
              <p:cNvSpPr>
                <a:spLocks/>
              </p:cNvSpPr>
              <p:nvPr/>
            </p:nvSpPr>
            <p:spPr bwMode="auto">
              <a:xfrm rot="16200000">
                <a:off x="1310855" y="1114426"/>
                <a:ext cx="1035191" cy="89606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6A2C6"/>
              </a:solidFill>
              <a:ln w="25400">
                <a:noFill/>
              </a:ln>
              <a:effectLst>
                <a:outerShdw blurRad="190500" dist="63500" dir="2700000" algn="tl" rotWithShape="0">
                  <a:prstClr val="black">
                    <a:alpha val="25000"/>
                  </a:prstClr>
                </a:outerShdw>
              </a:effectLst>
            </p:spPr>
            <p:txBody>
              <a:bodyPr vert="horz" wrap="square" lIns="91440" tIns="45720" rIns="91440" bIns="45720" numCol="1" anchor="t" anchorCtr="0" compatLnSpc="1">
                <a:prstTxWarp prst="textNoShape">
                  <a:avLst/>
                </a:prstTxWarp>
              </a:bodyPr>
              <a:lstStyle/>
              <a:p>
                <a:endParaRPr lang="zh-CN" altLang="en-US" sz="3200" dirty="0">
                  <a:solidFill>
                    <a:schemeClr val="tx1">
                      <a:lumMod val="85000"/>
                      <a:lumOff val="15000"/>
                    </a:schemeClr>
                  </a:solidFill>
                  <a:ea typeface="阿里巴巴普惠体 Medium" pitchFamily="18" charset="-122"/>
                </a:endParaRPr>
              </a:p>
            </p:txBody>
          </p:sp>
          <p:sp>
            <p:nvSpPr>
              <p:cNvPr id="146" name="文本框 17">
                <a:extLst>
                  <a:ext uri="{FF2B5EF4-FFF2-40B4-BE49-F238E27FC236}">
                    <a16:creationId xmlns:a16="http://schemas.microsoft.com/office/drawing/2014/main" id="{2DD89A84-76D1-4749-084D-FF66E805934A}"/>
                  </a:ext>
                </a:extLst>
              </p:cNvPr>
              <p:cNvSpPr txBox="1"/>
              <p:nvPr/>
            </p:nvSpPr>
            <p:spPr>
              <a:xfrm>
                <a:off x="870856" y="1171264"/>
                <a:ext cx="1915189" cy="798336"/>
              </a:xfrm>
              <a:prstGeom prst="rect">
                <a:avLst/>
              </a:prstGeom>
              <a:noFill/>
            </p:spPr>
            <p:txBody>
              <a:bodyPr wrap="square" rtlCol="0">
                <a:spAutoFit/>
              </a:bodyPr>
              <a:lstStyle/>
              <a:p>
                <a:pPr algn="ctr"/>
                <a:r>
                  <a:rPr lang="en-US" altLang="zh-CN"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02</a:t>
                </a:r>
                <a:endParaRPr lang="zh-CN" altLang="en-US"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endParaRPr>
              </a:p>
            </p:txBody>
          </p:sp>
        </p:grpSp>
      </p:grpSp>
      <p:grpSp>
        <p:nvGrpSpPr>
          <p:cNvPr id="147" name="组合 1">
            <a:extLst>
              <a:ext uri="{FF2B5EF4-FFF2-40B4-BE49-F238E27FC236}">
                <a16:creationId xmlns:a16="http://schemas.microsoft.com/office/drawing/2014/main" id="{3B993A86-A580-3670-90C1-552BCC32CF68}"/>
              </a:ext>
            </a:extLst>
          </p:cNvPr>
          <p:cNvGrpSpPr/>
          <p:nvPr/>
        </p:nvGrpSpPr>
        <p:grpSpPr>
          <a:xfrm>
            <a:off x="2359434" y="1359775"/>
            <a:ext cx="3576066" cy="399090"/>
            <a:chOff x="3842678" y="1373217"/>
            <a:chExt cx="3576066" cy="383437"/>
          </a:xfrm>
        </p:grpSpPr>
        <p:sp>
          <p:nvSpPr>
            <p:cNvPr id="148" name="文本框 13">
              <a:extLst>
                <a:ext uri="{FF2B5EF4-FFF2-40B4-BE49-F238E27FC236}">
                  <a16:creationId xmlns:a16="http://schemas.microsoft.com/office/drawing/2014/main" id="{4A1BF984-0155-6693-7563-12958EDBA277}"/>
                </a:ext>
              </a:extLst>
            </p:cNvPr>
            <p:cNvSpPr txBox="1"/>
            <p:nvPr/>
          </p:nvSpPr>
          <p:spPr>
            <a:xfrm>
              <a:off x="4470899" y="1400409"/>
              <a:ext cx="2947845" cy="325275"/>
            </a:xfrm>
            <a:prstGeom prst="rect">
              <a:avLst/>
            </a:prstGeom>
            <a:noFill/>
          </p:spPr>
          <p:txBody>
            <a:bodyPr wrap="square" rtlCol="0">
              <a:spAutoFit/>
            </a:bodyPr>
            <a:lstStyle/>
            <a:p>
              <a:r>
                <a:rPr lang="en-US" altLang="zh-CN"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Initial Review</a:t>
              </a:r>
              <a:endParaRPr lang="zh-CN" altLang="en-US"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grpSp>
          <p:nvGrpSpPr>
            <p:cNvPr id="149" name="组合 15">
              <a:extLst>
                <a:ext uri="{FF2B5EF4-FFF2-40B4-BE49-F238E27FC236}">
                  <a16:creationId xmlns:a16="http://schemas.microsoft.com/office/drawing/2014/main" id="{C5CCEF62-56EF-87C4-5852-73BCD0E54EFC}"/>
                </a:ext>
              </a:extLst>
            </p:cNvPr>
            <p:cNvGrpSpPr/>
            <p:nvPr/>
          </p:nvGrpSpPr>
          <p:grpSpPr>
            <a:xfrm>
              <a:off x="3842678" y="1373217"/>
              <a:ext cx="709392" cy="383437"/>
              <a:chOff x="870856" y="1044864"/>
              <a:chExt cx="1915189" cy="1035191"/>
            </a:xfrm>
          </p:grpSpPr>
          <p:sp>
            <p:nvSpPr>
              <p:cNvPr id="150" name="Freeform 5">
                <a:extLst>
                  <a:ext uri="{FF2B5EF4-FFF2-40B4-BE49-F238E27FC236}">
                    <a16:creationId xmlns:a16="http://schemas.microsoft.com/office/drawing/2014/main" id="{CA87992E-4C9F-EB13-1368-EA1033018824}"/>
                  </a:ext>
                </a:extLst>
              </p:cNvPr>
              <p:cNvSpPr>
                <a:spLocks/>
              </p:cNvSpPr>
              <p:nvPr/>
            </p:nvSpPr>
            <p:spPr bwMode="auto">
              <a:xfrm rot="16200000">
                <a:off x="1310855" y="1114426"/>
                <a:ext cx="1035191" cy="89606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6A2C6"/>
              </a:solidFill>
              <a:ln w="25400">
                <a:noFill/>
              </a:ln>
              <a:effectLst>
                <a:outerShdw blurRad="190500" dist="63500" dir="2700000" algn="tl" rotWithShape="0">
                  <a:prstClr val="black">
                    <a:alpha val="25000"/>
                  </a:prstClr>
                </a:outerShdw>
              </a:effectLst>
            </p:spPr>
            <p:txBody>
              <a:bodyPr vert="horz" wrap="square" lIns="91440" tIns="45720" rIns="91440" bIns="45720" numCol="1" anchor="t" anchorCtr="0" compatLnSpc="1">
                <a:prstTxWarp prst="textNoShape">
                  <a:avLst/>
                </a:prstTxWarp>
              </a:bodyPr>
              <a:lstStyle/>
              <a:p>
                <a:endParaRPr lang="zh-CN" altLang="en-US" sz="3200" dirty="0">
                  <a:solidFill>
                    <a:schemeClr val="tx1">
                      <a:lumMod val="85000"/>
                      <a:lumOff val="15000"/>
                    </a:schemeClr>
                  </a:solidFill>
                  <a:ea typeface="阿里巴巴普惠体 Medium" pitchFamily="18" charset="-122"/>
                </a:endParaRPr>
              </a:p>
            </p:txBody>
          </p:sp>
          <p:sp>
            <p:nvSpPr>
              <p:cNvPr id="151" name="文本框 17">
                <a:extLst>
                  <a:ext uri="{FF2B5EF4-FFF2-40B4-BE49-F238E27FC236}">
                    <a16:creationId xmlns:a16="http://schemas.microsoft.com/office/drawing/2014/main" id="{0DF3F707-9178-DCB2-2967-4289EDA9B4A4}"/>
                  </a:ext>
                </a:extLst>
              </p:cNvPr>
              <p:cNvSpPr txBox="1"/>
              <p:nvPr/>
            </p:nvSpPr>
            <p:spPr>
              <a:xfrm>
                <a:off x="870856" y="1171264"/>
                <a:ext cx="1915189" cy="798336"/>
              </a:xfrm>
              <a:prstGeom prst="rect">
                <a:avLst/>
              </a:prstGeom>
              <a:noFill/>
            </p:spPr>
            <p:txBody>
              <a:bodyPr wrap="square" rtlCol="0">
                <a:spAutoFit/>
              </a:bodyPr>
              <a:lstStyle/>
              <a:p>
                <a:pPr algn="ctr"/>
                <a:r>
                  <a:rPr lang="en-US" altLang="zh-CN"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03</a:t>
                </a:r>
                <a:endParaRPr lang="zh-CN" altLang="en-US"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endParaRPr>
              </a:p>
            </p:txBody>
          </p:sp>
        </p:grpSp>
      </p:grpSp>
      <p:grpSp>
        <p:nvGrpSpPr>
          <p:cNvPr id="152" name="组合 1">
            <a:extLst>
              <a:ext uri="{FF2B5EF4-FFF2-40B4-BE49-F238E27FC236}">
                <a16:creationId xmlns:a16="http://schemas.microsoft.com/office/drawing/2014/main" id="{6EF8775E-97DC-692E-C800-2965E87E3C23}"/>
              </a:ext>
            </a:extLst>
          </p:cNvPr>
          <p:cNvGrpSpPr/>
          <p:nvPr/>
        </p:nvGrpSpPr>
        <p:grpSpPr>
          <a:xfrm>
            <a:off x="2359434" y="1797925"/>
            <a:ext cx="3576066" cy="399090"/>
            <a:chOff x="3842678" y="1373217"/>
            <a:chExt cx="3576066" cy="383437"/>
          </a:xfrm>
        </p:grpSpPr>
        <p:sp>
          <p:nvSpPr>
            <p:cNvPr id="153" name="文本框 13">
              <a:extLst>
                <a:ext uri="{FF2B5EF4-FFF2-40B4-BE49-F238E27FC236}">
                  <a16:creationId xmlns:a16="http://schemas.microsoft.com/office/drawing/2014/main" id="{6DE5B571-9A28-849C-F6EB-0F3FD23D91A9}"/>
                </a:ext>
              </a:extLst>
            </p:cNvPr>
            <p:cNvSpPr txBox="1"/>
            <p:nvPr/>
          </p:nvSpPr>
          <p:spPr>
            <a:xfrm>
              <a:off x="4470899" y="1400409"/>
              <a:ext cx="2947845" cy="325275"/>
            </a:xfrm>
            <a:prstGeom prst="rect">
              <a:avLst/>
            </a:prstGeom>
            <a:noFill/>
          </p:spPr>
          <p:txBody>
            <a:bodyPr wrap="square" rtlCol="0">
              <a:spAutoFit/>
            </a:bodyPr>
            <a:lstStyle/>
            <a:p>
              <a:r>
                <a:rPr lang="en-US" altLang="zh-CN"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Power Query Overview</a:t>
              </a:r>
              <a:endParaRPr lang="zh-CN" altLang="en-US"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grpSp>
          <p:nvGrpSpPr>
            <p:cNvPr id="154" name="组合 15">
              <a:extLst>
                <a:ext uri="{FF2B5EF4-FFF2-40B4-BE49-F238E27FC236}">
                  <a16:creationId xmlns:a16="http://schemas.microsoft.com/office/drawing/2014/main" id="{638D153C-833C-351B-FA70-1AE2CA22D91C}"/>
                </a:ext>
              </a:extLst>
            </p:cNvPr>
            <p:cNvGrpSpPr/>
            <p:nvPr/>
          </p:nvGrpSpPr>
          <p:grpSpPr>
            <a:xfrm>
              <a:off x="3842678" y="1373217"/>
              <a:ext cx="709392" cy="383437"/>
              <a:chOff x="870856" y="1044864"/>
              <a:chExt cx="1915189" cy="1035191"/>
            </a:xfrm>
          </p:grpSpPr>
          <p:sp>
            <p:nvSpPr>
              <p:cNvPr id="155" name="Freeform 5">
                <a:extLst>
                  <a:ext uri="{FF2B5EF4-FFF2-40B4-BE49-F238E27FC236}">
                    <a16:creationId xmlns:a16="http://schemas.microsoft.com/office/drawing/2014/main" id="{7CBAF380-0DFD-1FBD-6A49-AD104F4B961A}"/>
                  </a:ext>
                </a:extLst>
              </p:cNvPr>
              <p:cNvSpPr>
                <a:spLocks/>
              </p:cNvSpPr>
              <p:nvPr/>
            </p:nvSpPr>
            <p:spPr bwMode="auto">
              <a:xfrm rot="16200000">
                <a:off x="1310855" y="1114426"/>
                <a:ext cx="1035191" cy="89606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6A2C6"/>
              </a:solidFill>
              <a:ln w="25400">
                <a:noFill/>
              </a:ln>
              <a:effectLst>
                <a:outerShdw blurRad="190500" dist="63500" dir="2700000" algn="tl" rotWithShape="0">
                  <a:prstClr val="black">
                    <a:alpha val="25000"/>
                  </a:prstClr>
                </a:outerShdw>
              </a:effectLst>
            </p:spPr>
            <p:txBody>
              <a:bodyPr vert="horz" wrap="square" lIns="91440" tIns="45720" rIns="91440" bIns="45720" numCol="1" anchor="t" anchorCtr="0" compatLnSpc="1">
                <a:prstTxWarp prst="textNoShape">
                  <a:avLst/>
                </a:prstTxWarp>
              </a:bodyPr>
              <a:lstStyle/>
              <a:p>
                <a:endParaRPr lang="zh-CN" altLang="en-US" sz="3200" dirty="0">
                  <a:solidFill>
                    <a:schemeClr val="tx1">
                      <a:lumMod val="85000"/>
                      <a:lumOff val="15000"/>
                    </a:schemeClr>
                  </a:solidFill>
                  <a:ea typeface="阿里巴巴普惠体 Medium" pitchFamily="18" charset="-122"/>
                </a:endParaRPr>
              </a:p>
            </p:txBody>
          </p:sp>
          <p:sp>
            <p:nvSpPr>
              <p:cNvPr id="156" name="文本框 17">
                <a:extLst>
                  <a:ext uri="{FF2B5EF4-FFF2-40B4-BE49-F238E27FC236}">
                    <a16:creationId xmlns:a16="http://schemas.microsoft.com/office/drawing/2014/main" id="{BC5B1075-2FD8-B376-CEC2-0427CCFC3333}"/>
                  </a:ext>
                </a:extLst>
              </p:cNvPr>
              <p:cNvSpPr txBox="1"/>
              <p:nvPr/>
            </p:nvSpPr>
            <p:spPr>
              <a:xfrm>
                <a:off x="870856" y="1171264"/>
                <a:ext cx="1915189" cy="798336"/>
              </a:xfrm>
              <a:prstGeom prst="rect">
                <a:avLst/>
              </a:prstGeom>
              <a:noFill/>
            </p:spPr>
            <p:txBody>
              <a:bodyPr wrap="square" rtlCol="0">
                <a:spAutoFit/>
              </a:bodyPr>
              <a:lstStyle/>
              <a:p>
                <a:pPr algn="ctr"/>
                <a:r>
                  <a:rPr lang="en-US" altLang="zh-CN"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04</a:t>
                </a:r>
                <a:endParaRPr lang="zh-CN" altLang="en-US"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endParaRPr>
              </a:p>
            </p:txBody>
          </p:sp>
        </p:grpSp>
      </p:grpSp>
      <p:grpSp>
        <p:nvGrpSpPr>
          <p:cNvPr id="157" name="组合 1">
            <a:extLst>
              <a:ext uri="{FF2B5EF4-FFF2-40B4-BE49-F238E27FC236}">
                <a16:creationId xmlns:a16="http://schemas.microsoft.com/office/drawing/2014/main" id="{39EC8B28-B4B1-6219-DD3E-850AEF227225}"/>
              </a:ext>
            </a:extLst>
          </p:cNvPr>
          <p:cNvGrpSpPr/>
          <p:nvPr/>
        </p:nvGrpSpPr>
        <p:grpSpPr>
          <a:xfrm>
            <a:off x="2359434" y="2318773"/>
            <a:ext cx="3576066" cy="399090"/>
            <a:chOff x="3842678" y="1373217"/>
            <a:chExt cx="3576066" cy="383437"/>
          </a:xfrm>
        </p:grpSpPr>
        <p:sp>
          <p:nvSpPr>
            <p:cNvPr id="158" name="文本框 13">
              <a:extLst>
                <a:ext uri="{FF2B5EF4-FFF2-40B4-BE49-F238E27FC236}">
                  <a16:creationId xmlns:a16="http://schemas.microsoft.com/office/drawing/2014/main" id="{F8CF9484-2FBE-6CC8-ED16-148464FCD14E}"/>
                </a:ext>
              </a:extLst>
            </p:cNvPr>
            <p:cNvSpPr txBox="1"/>
            <p:nvPr/>
          </p:nvSpPr>
          <p:spPr>
            <a:xfrm>
              <a:off x="4470899" y="1400409"/>
              <a:ext cx="2947845" cy="325275"/>
            </a:xfrm>
            <a:prstGeom prst="rect">
              <a:avLst/>
            </a:prstGeom>
            <a:noFill/>
          </p:spPr>
          <p:txBody>
            <a:bodyPr wrap="square" rtlCol="0">
              <a:spAutoFit/>
            </a:bodyPr>
            <a:lstStyle/>
            <a:p>
              <a:r>
                <a:rPr lang="en-US" altLang="zh-CN"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Handling Missing Data</a:t>
              </a:r>
              <a:endParaRPr lang="zh-CN" altLang="en-US"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grpSp>
          <p:nvGrpSpPr>
            <p:cNvPr id="159" name="组合 15">
              <a:extLst>
                <a:ext uri="{FF2B5EF4-FFF2-40B4-BE49-F238E27FC236}">
                  <a16:creationId xmlns:a16="http://schemas.microsoft.com/office/drawing/2014/main" id="{AAD03516-03FF-F865-1FB5-3E6908E59F61}"/>
                </a:ext>
              </a:extLst>
            </p:cNvPr>
            <p:cNvGrpSpPr/>
            <p:nvPr/>
          </p:nvGrpSpPr>
          <p:grpSpPr>
            <a:xfrm>
              <a:off x="3842678" y="1373217"/>
              <a:ext cx="709392" cy="383437"/>
              <a:chOff x="870856" y="1044864"/>
              <a:chExt cx="1915189" cy="1035191"/>
            </a:xfrm>
          </p:grpSpPr>
          <p:sp>
            <p:nvSpPr>
              <p:cNvPr id="160" name="Freeform 5">
                <a:extLst>
                  <a:ext uri="{FF2B5EF4-FFF2-40B4-BE49-F238E27FC236}">
                    <a16:creationId xmlns:a16="http://schemas.microsoft.com/office/drawing/2014/main" id="{131B3402-4527-1091-7F5D-B16286F4D0E5}"/>
                  </a:ext>
                </a:extLst>
              </p:cNvPr>
              <p:cNvSpPr>
                <a:spLocks/>
              </p:cNvSpPr>
              <p:nvPr/>
            </p:nvSpPr>
            <p:spPr bwMode="auto">
              <a:xfrm rot="16200000">
                <a:off x="1310855" y="1114426"/>
                <a:ext cx="1035191" cy="89606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6A2C6"/>
              </a:solidFill>
              <a:ln w="25400">
                <a:noFill/>
              </a:ln>
              <a:effectLst>
                <a:outerShdw blurRad="190500" dist="63500" dir="2700000" algn="tl" rotWithShape="0">
                  <a:prstClr val="black">
                    <a:alpha val="25000"/>
                  </a:prstClr>
                </a:outerShdw>
              </a:effectLst>
            </p:spPr>
            <p:txBody>
              <a:bodyPr vert="horz" wrap="square" lIns="91440" tIns="45720" rIns="91440" bIns="45720" numCol="1" anchor="t" anchorCtr="0" compatLnSpc="1">
                <a:prstTxWarp prst="textNoShape">
                  <a:avLst/>
                </a:prstTxWarp>
              </a:bodyPr>
              <a:lstStyle/>
              <a:p>
                <a:endParaRPr lang="zh-CN" altLang="en-US" sz="3200" dirty="0">
                  <a:solidFill>
                    <a:schemeClr val="tx1">
                      <a:lumMod val="85000"/>
                      <a:lumOff val="15000"/>
                    </a:schemeClr>
                  </a:solidFill>
                  <a:ea typeface="阿里巴巴普惠体 Medium" pitchFamily="18" charset="-122"/>
                </a:endParaRPr>
              </a:p>
            </p:txBody>
          </p:sp>
          <p:sp>
            <p:nvSpPr>
              <p:cNvPr id="161" name="文本框 17">
                <a:extLst>
                  <a:ext uri="{FF2B5EF4-FFF2-40B4-BE49-F238E27FC236}">
                    <a16:creationId xmlns:a16="http://schemas.microsoft.com/office/drawing/2014/main" id="{A52D35EF-5C53-D839-9266-306BF92569CC}"/>
                  </a:ext>
                </a:extLst>
              </p:cNvPr>
              <p:cNvSpPr txBox="1"/>
              <p:nvPr/>
            </p:nvSpPr>
            <p:spPr>
              <a:xfrm>
                <a:off x="870856" y="1171264"/>
                <a:ext cx="1915189" cy="798336"/>
              </a:xfrm>
              <a:prstGeom prst="rect">
                <a:avLst/>
              </a:prstGeom>
              <a:noFill/>
            </p:spPr>
            <p:txBody>
              <a:bodyPr wrap="square" rtlCol="0">
                <a:spAutoFit/>
              </a:bodyPr>
              <a:lstStyle/>
              <a:p>
                <a:pPr algn="ctr"/>
                <a:r>
                  <a:rPr lang="en-US" altLang="zh-CN"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05</a:t>
                </a:r>
                <a:endParaRPr lang="zh-CN" altLang="en-US"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endParaRPr>
              </a:p>
            </p:txBody>
          </p:sp>
        </p:grpSp>
      </p:grpSp>
      <p:grpSp>
        <p:nvGrpSpPr>
          <p:cNvPr id="162" name="组合 1">
            <a:extLst>
              <a:ext uri="{FF2B5EF4-FFF2-40B4-BE49-F238E27FC236}">
                <a16:creationId xmlns:a16="http://schemas.microsoft.com/office/drawing/2014/main" id="{5F61D2A1-79A7-9A84-F250-AE585B880EE5}"/>
              </a:ext>
            </a:extLst>
          </p:cNvPr>
          <p:cNvGrpSpPr/>
          <p:nvPr/>
        </p:nvGrpSpPr>
        <p:grpSpPr>
          <a:xfrm>
            <a:off x="5910373" y="445375"/>
            <a:ext cx="3576066" cy="399090"/>
            <a:chOff x="3842678" y="1373217"/>
            <a:chExt cx="3576066" cy="383437"/>
          </a:xfrm>
        </p:grpSpPr>
        <p:sp>
          <p:nvSpPr>
            <p:cNvPr id="163" name="文本框 13">
              <a:extLst>
                <a:ext uri="{FF2B5EF4-FFF2-40B4-BE49-F238E27FC236}">
                  <a16:creationId xmlns:a16="http://schemas.microsoft.com/office/drawing/2014/main" id="{7E354882-766F-2BB9-1570-F248729E7F74}"/>
                </a:ext>
              </a:extLst>
            </p:cNvPr>
            <p:cNvSpPr txBox="1"/>
            <p:nvPr/>
          </p:nvSpPr>
          <p:spPr>
            <a:xfrm>
              <a:off x="4470899" y="1400409"/>
              <a:ext cx="2947845" cy="325275"/>
            </a:xfrm>
            <a:prstGeom prst="rect">
              <a:avLst/>
            </a:prstGeom>
            <a:noFill/>
          </p:spPr>
          <p:txBody>
            <a:bodyPr wrap="square" rtlCol="0">
              <a:spAutoFit/>
            </a:bodyPr>
            <a:lstStyle/>
            <a:p>
              <a:r>
                <a:rPr lang="en-US" altLang="zh-CN"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Removing Duplicates</a:t>
              </a:r>
              <a:endParaRPr lang="zh-CN" altLang="en-US"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grpSp>
          <p:nvGrpSpPr>
            <p:cNvPr id="164" name="组合 15">
              <a:extLst>
                <a:ext uri="{FF2B5EF4-FFF2-40B4-BE49-F238E27FC236}">
                  <a16:creationId xmlns:a16="http://schemas.microsoft.com/office/drawing/2014/main" id="{4E63072E-4FBD-25BD-B7C4-17D60A918E39}"/>
                </a:ext>
              </a:extLst>
            </p:cNvPr>
            <p:cNvGrpSpPr/>
            <p:nvPr/>
          </p:nvGrpSpPr>
          <p:grpSpPr>
            <a:xfrm>
              <a:off x="3842678" y="1373217"/>
              <a:ext cx="709392" cy="383437"/>
              <a:chOff x="870856" y="1044864"/>
              <a:chExt cx="1915189" cy="1035191"/>
            </a:xfrm>
          </p:grpSpPr>
          <p:sp>
            <p:nvSpPr>
              <p:cNvPr id="165" name="Freeform 5">
                <a:extLst>
                  <a:ext uri="{FF2B5EF4-FFF2-40B4-BE49-F238E27FC236}">
                    <a16:creationId xmlns:a16="http://schemas.microsoft.com/office/drawing/2014/main" id="{1E582E4E-0537-C8A5-203A-541D8A791791}"/>
                  </a:ext>
                </a:extLst>
              </p:cNvPr>
              <p:cNvSpPr>
                <a:spLocks/>
              </p:cNvSpPr>
              <p:nvPr/>
            </p:nvSpPr>
            <p:spPr bwMode="auto">
              <a:xfrm rot="16200000">
                <a:off x="1310855" y="1114426"/>
                <a:ext cx="1035191" cy="89606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6A2C6"/>
              </a:solidFill>
              <a:ln w="25400">
                <a:noFill/>
              </a:ln>
              <a:effectLst>
                <a:outerShdw blurRad="190500" dist="63500" dir="2700000" algn="tl" rotWithShape="0">
                  <a:prstClr val="black">
                    <a:alpha val="25000"/>
                  </a:prstClr>
                </a:outerShdw>
              </a:effectLst>
            </p:spPr>
            <p:txBody>
              <a:bodyPr vert="horz" wrap="square" lIns="91440" tIns="45720" rIns="91440" bIns="45720" numCol="1" anchor="t" anchorCtr="0" compatLnSpc="1">
                <a:prstTxWarp prst="textNoShape">
                  <a:avLst/>
                </a:prstTxWarp>
              </a:bodyPr>
              <a:lstStyle/>
              <a:p>
                <a:endParaRPr lang="zh-CN" altLang="en-US" sz="3200" dirty="0">
                  <a:solidFill>
                    <a:schemeClr val="tx1">
                      <a:lumMod val="85000"/>
                      <a:lumOff val="15000"/>
                    </a:schemeClr>
                  </a:solidFill>
                  <a:ea typeface="阿里巴巴普惠体 Medium" pitchFamily="18" charset="-122"/>
                </a:endParaRPr>
              </a:p>
            </p:txBody>
          </p:sp>
          <p:sp>
            <p:nvSpPr>
              <p:cNvPr id="166" name="文本框 17">
                <a:extLst>
                  <a:ext uri="{FF2B5EF4-FFF2-40B4-BE49-F238E27FC236}">
                    <a16:creationId xmlns:a16="http://schemas.microsoft.com/office/drawing/2014/main" id="{C82442DA-0C7C-F95C-FBDD-D3E5DA83F1F3}"/>
                  </a:ext>
                </a:extLst>
              </p:cNvPr>
              <p:cNvSpPr txBox="1"/>
              <p:nvPr/>
            </p:nvSpPr>
            <p:spPr>
              <a:xfrm>
                <a:off x="870856" y="1171264"/>
                <a:ext cx="1915189" cy="798336"/>
              </a:xfrm>
              <a:prstGeom prst="rect">
                <a:avLst/>
              </a:prstGeom>
              <a:noFill/>
            </p:spPr>
            <p:txBody>
              <a:bodyPr wrap="square" rtlCol="0">
                <a:spAutoFit/>
              </a:bodyPr>
              <a:lstStyle/>
              <a:p>
                <a:pPr algn="ctr"/>
                <a:r>
                  <a:rPr lang="en-US" altLang="zh-CN"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06</a:t>
                </a:r>
                <a:endParaRPr lang="zh-CN" altLang="en-US"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endParaRPr>
              </a:p>
            </p:txBody>
          </p:sp>
        </p:grpSp>
      </p:grpSp>
      <p:grpSp>
        <p:nvGrpSpPr>
          <p:cNvPr id="167" name="组合 1">
            <a:extLst>
              <a:ext uri="{FF2B5EF4-FFF2-40B4-BE49-F238E27FC236}">
                <a16:creationId xmlns:a16="http://schemas.microsoft.com/office/drawing/2014/main" id="{0537B570-9895-302F-D4C7-39F0E9E33E6E}"/>
              </a:ext>
            </a:extLst>
          </p:cNvPr>
          <p:cNvGrpSpPr/>
          <p:nvPr/>
        </p:nvGrpSpPr>
        <p:grpSpPr>
          <a:xfrm>
            <a:off x="5910373" y="902575"/>
            <a:ext cx="3576066" cy="399090"/>
            <a:chOff x="3842678" y="1373217"/>
            <a:chExt cx="3576066" cy="383437"/>
          </a:xfrm>
        </p:grpSpPr>
        <p:sp>
          <p:nvSpPr>
            <p:cNvPr id="168" name="文本框 13">
              <a:extLst>
                <a:ext uri="{FF2B5EF4-FFF2-40B4-BE49-F238E27FC236}">
                  <a16:creationId xmlns:a16="http://schemas.microsoft.com/office/drawing/2014/main" id="{EEA805DE-05DD-0B50-146A-033934C1D57D}"/>
                </a:ext>
              </a:extLst>
            </p:cNvPr>
            <p:cNvSpPr txBox="1"/>
            <p:nvPr/>
          </p:nvSpPr>
          <p:spPr>
            <a:xfrm>
              <a:off x="4470899" y="1400409"/>
              <a:ext cx="2947845" cy="325275"/>
            </a:xfrm>
            <a:prstGeom prst="rect">
              <a:avLst/>
            </a:prstGeom>
            <a:noFill/>
          </p:spPr>
          <p:txBody>
            <a:bodyPr wrap="square" rtlCol="0">
              <a:spAutoFit/>
            </a:bodyPr>
            <a:lstStyle/>
            <a:p>
              <a:r>
                <a:rPr lang="en-US" altLang="zh-CN"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Standardizing Columns</a:t>
              </a:r>
              <a:endParaRPr lang="zh-CN" altLang="en-US"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grpSp>
          <p:nvGrpSpPr>
            <p:cNvPr id="169" name="组合 15">
              <a:extLst>
                <a:ext uri="{FF2B5EF4-FFF2-40B4-BE49-F238E27FC236}">
                  <a16:creationId xmlns:a16="http://schemas.microsoft.com/office/drawing/2014/main" id="{F0F046E8-B4CA-89E9-8F33-CA6FCEE8E194}"/>
                </a:ext>
              </a:extLst>
            </p:cNvPr>
            <p:cNvGrpSpPr/>
            <p:nvPr/>
          </p:nvGrpSpPr>
          <p:grpSpPr>
            <a:xfrm>
              <a:off x="3842678" y="1373217"/>
              <a:ext cx="709392" cy="383437"/>
              <a:chOff x="870856" y="1044864"/>
              <a:chExt cx="1915189" cy="1035191"/>
            </a:xfrm>
          </p:grpSpPr>
          <p:sp>
            <p:nvSpPr>
              <p:cNvPr id="170" name="Freeform 5">
                <a:extLst>
                  <a:ext uri="{FF2B5EF4-FFF2-40B4-BE49-F238E27FC236}">
                    <a16:creationId xmlns:a16="http://schemas.microsoft.com/office/drawing/2014/main" id="{D437E1D3-F97C-6A15-01F8-F8936A33BCAF}"/>
                  </a:ext>
                </a:extLst>
              </p:cNvPr>
              <p:cNvSpPr>
                <a:spLocks/>
              </p:cNvSpPr>
              <p:nvPr/>
            </p:nvSpPr>
            <p:spPr bwMode="auto">
              <a:xfrm rot="16200000">
                <a:off x="1310855" y="1114426"/>
                <a:ext cx="1035191" cy="89606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6A2C6"/>
              </a:solidFill>
              <a:ln w="25400">
                <a:noFill/>
              </a:ln>
              <a:effectLst>
                <a:outerShdw blurRad="190500" dist="63500" dir="2700000" algn="tl" rotWithShape="0">
                  <a:prstClr val="black">
                    <a:alpha val="25000"/>
                  </a:prstClr>
                </a:outerShdw>
              </a:effectLst>
            </p:spPr>
            <p:txBody>
              <a:bodyPr vert="horz" wrap="square" lIns="91440" tIns="45720" rIns="91440" bIns="45720" numCol="1" anchor="t" anchorCtr="0" compatLnSpc="1">
                <a:prstTxWarp prst="textNoShape">
                  <a:avLst/>
                </a:prstTxWarp>
              </a:bodyPr>
              <a:lstStyle/>
              <a:p>
                <a:endParaRPr lang="zh-CN" altLang="en-US" sz="3200" dirty="0">
                  <a:solidFill>
                    <a:schemeClr val="tx1">
                      <a:lumMod val="85000"/>
                      <a:lumOff val="15000"/>
                    </a:schemeClr>
                  </a:solidFill>
                  <a:ea typeface="阿里巴巴普惠体 Medium" pitchFamily="18" charset="-122"/>
                </a:endParaRPr>
              </a:p>
            </p:txBody>
          </p:sp>
          <p:sp>
            <p:nvSpPr>
              <p:cNvPr id="171" name="文本框 17">
                <a:extLst>
                  <a:ext uri="{FF2B5EF4-FFF2-40B4-BE49-F238E27FC236}">
                    <a16:creationId xmlns:a16="http://schemas.microsoft.com/office/drawing/2014/main" id="{43D9A05C-B5F6-C287-28EC-E1CFB92D2BC3}"/>
                  </a:ext>
                </a:extLst>
              </p:cNvPr>
              <p:cNvSpPr txBox="1"/>
              <p:nvPr/>
            </p:nvSpPr>
            <p:spPr>
              <a:xfrm>
                <a:off x="870856" y="1171264"/>
                <a:ext cx="1915189" cy="798336"/>
              </a:xfrm>
              <a:prstGeom prst="rect">
                <a:avLst/>
              </a:prstGeom>
              <a:noFill/>
            </p:spPr>
            <p:txBody>
              <a:bodyPr wrap="square" rtlCol="0">
                <a:spAutoFit/>
              </a:bodyPr>
              <a:lstStyle/>
              <a:p>
                <a:pPr algn="ctr"/>
                <a:r>
                  <a:rPr lang="en-US" altLang="zh-CN"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07</a:t>
                </a:r>
                <a:endParaRPr lang="zh-CN" altLang="en-US"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endParaRPr>
              </a:p>
            </p:txBody>
          </p:sp>
        </p:grpSp>
      </p:grpSp>
      <p:grpSp>
        <p:nvGrpSpPr>
          <p:cNvPr id="177" name="组合 1">
            <a:extLst>
              <a:ext uri="{FF2B5EF4-FFF2-40B4-BE49-F238E27FC236}">
                <a16:creationId xmlns:a16="http://schemas.microsoft.com/office/drawing/2014/main" id="{74B92FA8-8FCE-D90B-A37A-06C0C82F8966}"/>
              </a:ext>
            </a:extLst>
          </p:cNvPr>
          <p:cNvGrpSpPr/>
          <p:nvPr/>
        </p:nvGrpSpPr>
        <p:grpSpPr>
          <a:xfrm>
            <a:off x="5913821" y="1858461"/>
            <a:ext cx="3576066" cy="399090"/>
            <a:chOff x="3842678" y="1373217"/>
            <a:chExt cx="3576066" cy="383437"/>
          </a:xfrm>
        </p:grpSpPr>
        <p:sp>
          <p:nvSpPr>
            <p:cNvPr id="178" name="文本框 13">
              <a:extLst>
                <a:ext uri="{FF2B5EF4-FFF2-40B4-BE49-F238E27FC236}">
                  <a16:creationId xmlns:a16="http://schemas.microsoft.com/office/drawing/2014/main" id="{852EC0A9-6BA5-4719-1B75-1DB2028F9F27}"/>
                </a:ext>
              </a:extLst>
            </p:cNvPr>
            <p:cNvSpPr txBox="1"/>
            <p:nvPr/>
          </p:nvSpPr>
          <p:spPr>
            <a:xfrm>
              <a:off x="4470899" y="1400409"/>
              <a:ext cx="2947845" cy="325275"/>
            </a:xfrm>
            <a:prstGeom prst="rect">
              <a:avLst/>
            </a:prstGeom>
            <a:noFill/>
          </p:spPr>
          <p:txBody>
            <a:bodyPr wrap="square" rtlCol="0">
              <a:spAutoFit/>
            </a:bodyPr>
            <a:lstStyle/>
            <a:p>
              <a:r>
                <a:rPr lang="en-US" altLang="zh-CN"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Data Model Structure</a:t>
              </a:r>
              <a:endParaRPr lang="zh-CN" altLang="en-US"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grpSp>
          <p:nvGrpSpPr>
            <p:cNvPr id="179" name="组合 15">
              <a:extLst>
                <a:ext uri="{FF2B5EF4-FFF2-40B4-BE49-F238E27FC236}">
                  <a16:creationId xmlns:a16="http://schemas.microsoft.com/office/drawing/2014/main" id="{DDD2506F-C2BB-435A-040A-D745291B4B6E}"/>
                </a:ext>
              </a:extLst>
            </p:cNvPr>
            <p:cNvGrpSpPr/>
            <p:nvPr/>
          </p:nvGrpSpPr>
          <p:grpSpPr>
            <a:xfrm>
              <a:off x="3842678" y="1373217"/>
              <a:ext cx="709392" cy="383437"/>
              <a:chOff x="870856" y="1044864"/>
              <a:chExt cx="1915189" cy="1035191"/>
            </a:xfrm>
          </p:grpSpPr>
          <p:sp>
            <p:nvSpPr>
              <p:cNvPr id="180" name="Freeform 5">
                <a:extLst>
                  <a:ext uri="{FF2B5EF4-FFF2-40B4-BE49-F238E27FC236}">
                    <a16:creationId xmlns:a16="http://schemas.microsoft.com/office/drawing/2014/main" id="{16D8FACE-9979-3CBE-5F75-E97D05CA23A6}"/>
                  </a:ext>
                </a:extLst>
              </p:cNvPr>
              <p:cNvSpPr>
                <a:spLocks/>
              </p:cNvSpPr>
              <p:nvPr/>
            </p:nvSpPr>
            <p:spPr bwMode="auto">
              <a:xfrm rot="16200000">
                <a:off x="1310855" y="1114426"/>
                <a:ext cx="1035191" cy="89606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6A2C6"/>
              </a:solidFill>
              <a:ln w="25400">
                <a:noFill/>
              </a:ln>
              <a:effectLst>
                <a:outerShdw blurRad="190500" dist="63500" dir="2700000" algn="tl" rotWithShape="0">
                  <a:prstClr val="black">
                    <a:alpha val="25000"/>
                  </a:prstClr>
                </a:outerShdw>
              </a:effectLst>
            </p:spPr>
            <p:txBody>
              <a:bodyPr vert="horz" wrap="square" lIns="91440" tIns="45720" rIns="91440" bIns="45720" numCol="1" anchor="t" anchorCtr="0" compatLnSpc="1">
                <a:prstTxWarp prst="textNoShape">
                  <a:avLst/>
                </a:prstTxWarp>
              </a:bodyPr>
              <a:lstStyle/>
              <a:p>
                <a:endParaRPr lang="zh-CN" altLang="en-US" sz="3200" dirty="0">
                  <a:solidFill>
                    <a:schemeClr val="tx1">
                      <a:lumMod val="85000"/>
                      <a:lumOff val="15000"/>
                    </a:schemeClr>
                  </a:solidFill>
                  <a:ea typeface="阿里巴巴普惠体 Medium" pitchFamily="18" charset="-122"/>
                </a:endParaRPr>
              </a:p>
            </p:txBody>
          </p:sp>
          <p:sp>
            <p:nvSpPr>
              <p:cNvPr id="181" name="文本框 17">
                <a:extLst>
                  <a:ext uri="{FF2B5EF4-FFF2-40B4-BE49-F238E27FC236}">
                    <a16:creationId xmlns:a16="http://schemas.microsoft.com/office/drawing/2014/main" id="{E09773C0-E096-5E9D-32F7-81D2E59758F2}"/>
                  </a:ext>
                </a:extLst>
              </p:cNvPr>
              <p:cNvSpPr txBox="1"/>
              <p:nvPr/>
            </p:nvSpPr>
            <p:spPr>
              <a:xfrm>
                <a:off x="870856" y="1171264"/>
                <a:ext cx="1915189" cy="798336"/>
              </a:xfrm>
              <a:prstGeom prst="rect">
                <a:avLst/>
              </a:prstGeom>
              <a:noFill/>
            </p:spPr>
            <p:txBody>
              <a:bodyPr wrap="square" rtlCol="0">
                <a:spAutoFit/>
              </a:bodyPr>
              <a:lstStyle/>
              <a:p>
                <a:pPr algn="ctr"/>
                <a:r>
                  <a:rPr lang="en-US" altLang="zh-CN"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09</a:t>
                </a:r>
                <a:endParaRPr lang="zh-CN" altLang="en-US"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endParaRPr>
              </a:p>
            </p:txBody>
          </p:sp>
        </p:grpSp>
      </p:grpSp>
      <p:grpSp>
        <p:nvGrpSpPr>
          <p:cNvPr id="182" name="组合 1">
            <a:extLst>
              <a:ext uri="{FF2B5EF4-FFF2-40B4-BE49-F238E27FC236}">
                <a16:creationId xmlns:a16="http://schemas.microsoft.com/office/drawing/2014/main" id="{CD1CED30-DECD-3876-F865-7ED63BA52478}"/>
              </a:ext>
            </a:extLst>
          </p:cNvPr>
          <p:cNvGrpSpPr/>
          <p:nvPr/>
        </p:nvGrpSpPr>
        <p:grpSpPr>
          <a:xfrm>
            <a:off x="5912320" y="2356322"/>
            <a:ext cx="3576066" cy="399090"/>
            <a:chOff x="3842678" y="1373217"/>
            <a:chExt cx="3576066" cy="383437"/>
          </a:xfrm>
        </p:grpSpPr>
        <p:sp>
          <p:nvSpPr>
            <p:cNvPr id="183" name="文本框 13">
              <a:extLst>
                <a:ext uri="{FF2B5EF4-FFF2-40B4-BE49-F238E27FC236}">
                  <a16:creationId xmlns:a16="http://schemas.microsoft.com/office/drawing/2014/main" id="{FCF950D8-044D-36C7-2B09-D1BFABAB2F8F}"/>
                </a:ext>
              </a:extLst>
            </p:cNvPr>
            <p:cNvSpPr txBox="1"/>
            <p:nvPr/>
          </p:nvSpPr>
          <p:spPr>
            <a:xfrm>
              <a:off x="4470899" y="1400409"/>
              <a:ext cx="2947845" cy="325275"/>
            </a:xfrm>
            <a:prstGeom prst="rect">
              <a:avLst/>
            </a:prstGeom>
            <a:noFill/>
          </p:spPr>
          <p:txBody>
            <a:bodyPr wrap="square" rtlCol="0">
              <a:spAutoFit/>
            </a:bodyPr>
            <a:lstStyle/>
            <a:p>
              <a:r>
                <a:rPr lang="en-US" altLang="zh-CN"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Relationships Explained</a:t>
              </a:r>
              <a:endParaRPr lang="zh-CN" altLang="en-US"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grpSp>
          <p:nvGrpSpPr>
            <p:cNvPr id="184" name="组合 15">
              <a:extLst>
                <a:ext uri="{FF2B5EF4-FFF2-40B4-BE49-F238E27FC236}">
                  <a16:creationId xmlns:a16="http://schemas.microsoft.com/office/drawing/2014/main" id="{DE6C8DD2-CA1E-EBB4-EB85-E504BD40151F}"/>
                </a:ext>
              </a:extLst>
            </p:cNvPr>
            <p:cNvGrpSpPr/>
            <p:nvPr/>
          </p:nvGrpSpPr>
          <p:grpSpPr>
            <a:xfrm>
              <a:off x="3842678" y="1373217"/>
              <a:ext cx="709392" cy="383437"/>
              <a:chOff x="870856" y="1044864"/>
              <a:chExt cx="1915189" cy="1035191"/>
            </a:xfrm>
          </p:grpSpPr>
          <p:sp>
            <p:nvSpPr>
              <p:cNvPr id="185" name="Freeform 5">
                <a:extLst>
                  <a:ext uri="{FF2B5EF4-FFF2-40B4-BE49-F238E27FC236}">
                    <a16:creationId xmlns:a16="http://schemas.microsoft.com/office/drawing/2014/main" id="{FC2918AB-9EE3-6877-F04D-10F8A58D566B}"/>
                  </a:ext>
                </a:extLst>
              </p:cNvPr>
              <p:cNvSpPr>
                <a:spLocks/>
              </p:cNvSpPr>
              <p:nvPr/>
            </p:nvSpPr>
            <p:spPr bwMode="auto">
              <a:xfrm rot="16200000">
                <a:off x="1310855" y="1114426"/>
                <a:ext cx="1035191" cy="89606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6A2C6"/>
              </a:solidFill>
              <a:ln w="25400">
                <a:noFill/>
              </a:ln>
              <a:effectLst>
                <a:outerShdw blurRad="190500" dist="63500" dir="2700000" algn="tl" rotWithShape="0">
                  <a:prstClr val="black">
                    <a:alpha val="25000"/>
                  </a:prstClr>
                </a:outerShdw>
              </a:effectLst>
            </p:spPr>
            <p:txBody>
              <a:bodyPr vert="horz" wrap="square" lIns="91440" tIns="45720" rIns="91440" bIns="45720" numCol="1" anchor="t" anchorCtr="0" compatLnSpc="1">
                <a:prstTxWarp prst="textNoShape">
                  <a:avLst/>
                </a:prstTxWarp>
              </a:bodyPr>
              <a:lstStyle/>
              <a:p>
                <a:endParaRPr lang="zh-CN" altLang="en-US" sz="3200" dirty="0">
                  <a:solidFill>
                    <a:schemeClr val="tx1">
                      <a:lumMod val="85000"/>
                      <a:lumOff val="15000"/>
                    </a:schemeClr>
                  </a:solidFill>
                  <a:ea typeface="阿里巴巴普惠体 Medium" pitchFamily="18" charset="-122"/>
                </a:endParaRPr>
              </a:p>
            </p:txBody>
          </p:sp>
          <p:sp>
            <p:nvSpPr>
              <p:cNvPr id="186" name="文本框 17">
                <a:extLst>
                  <a:ext uri="{FF2B5EF4-FFF2-40B4-BE49-F238E27FC236}">
                    <a16:creationId xmlns:a16="http://schemas.microsoft.com/office/drawing/2014/main" id="{042EF6B7-C727-9FEC-3BB4-F4A239321F6C}"/>
                  </a:ext>
                </a:extLst>
              </p:cNvPr>
              <p:cNvSpPr txBox="1"/>
              <p:nvPr/>
            </p:nvSpPr>
            <p:spPr>
              <a:xfrm>
                <a:off x="870856" y="1171264"/>
                <a:ext cx="1915189" cy="798336"/>
              </a:xfrm>
              <a:prstGeom prst="rect">
                <a:avLst/>
              </a:prstGeom>
              <a:noFill/>
            </p:spPr>
            <p:txBody>
              <a:bodyPr wrap="square" rtlCol="0">
                <a:spAutoFit/>
              </a:bodyPr>
              <a:lstStyle/>
              <a:p>
                <a:pPr algn="ctr"/>
                <a:r>
                  <a:rPr lang="en-US" altLang="zh-CN"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10</a:t>
                </a:r>
                <a:endParaRPr lang="zh-CN" altLang="en-US"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endParaRPr>
              </a:p>
            </p:txBody>
          </p:sp>
        </p:grpSp>
      </p:grpSp>
      <p:grpSp>
        <p:nvGrpSpPr>
          <p:cNvPr id="187" name="组合 1">
            <a:extLst>
              <a:ext uri="{FF2B5EF4-FFF2-40B4-BE49-F238E27FC236}">
                <a16:creationId xmlns:a16="http://schemas.microsoft.com/office/drawing/2014/main" id="{029AD3F1-CBBC-0F10-E868-301E3EEC7FE9}"/>
              </a:ext>
            </a:extLst>
          </p:cNvPr>
          <p:cNvGrpSpPr/>
          <p:nvPr/>
        </p:nvGrpSpPr>
        <p:grpSpPr>
          <a:xfrm>
            <a:off x="2359434" y="2770806"/>
            <a:ext cx="3960592" cy="399090"/>
            <a:chOff x="3842678" y="1373217"/>
            <a:chExt cx="3960592" cy="383437"/>
          </a:xfrm>
        </p:grpSpPr>
        <p:sp>
          <p:nvSpPr>
            <p:cNvPr id="188" name="文本框 13">
              <a:extLst>
                <a:ext uri="{FF2B5EF4-FFF2-40B4-BE49-F238E27FC236}">
                  <a16:creationId xmlns:a16="http://schemas.microsoft.com/office/drawing/2014/main" id="{7348359A-6D2F-3093-DF3C-C51A8C2E11C6}"/>
                </a:ext>
              </a:extLst>
            </p:cNvPr>
            <p:cNvSpPr txBox="1"/>
            <p:nvPr/>
          </p:nvSpPr>
          <p:spPr>
            <a:xfrm>
              <a:off x="4470899" y="1400409"/>
              <a:ext cx="3332371" cy="325275"/>
            </a:xfrm>
            <a:prstGeom prst="rect">
              <a:avLst/>
            </a:prstGeom>
            <a:noFill/>
          </p:spPr>
          <p:txBody>
            <a:bodyPr wrap="square" rtlCol="0">
              <a:spAutoFit/>
            </a:bodyPr>
            <a:lstStyle/>
            <a:p>
              <a:r>
                <a:rPr lang="en-US" altLang="zh-CN"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Dashboard Design Principles</a:t>
              </a:r>
              <a:endParaRPr lang="zh-CN" altLang="en-US"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grpSp>
          <p:nvGrpSpPr>
            <p:cNvPr id="189" name="组合 15">
              <a:extLst>
                <a:ext uri="{FF2B5EF4-FFF2-40B4-BE49-F238E27FC236}">
                  <a16:creationId xmlns:a16="http://schemas.microsoft.com/office/drawing/2014/main" id="{6E114C9A-D3A4-93B9-0DBF-EDF5B4D0EAC6}"/>
                </a:ext>
              </a:extLst>
            </p:cNvPr>
            <p:cNvGrpSpPr/>
            <p:nvPr/>
          </p:nvGrpSpPr>
          <p:grpSpPr>
            <a:xfrm>
              <a:off x="3842678" y="1373217"/>
              <a:ext cx="709392" cy="383437"/>
              <a:chOff x="870856" y="1044864"/>
              <a:chExt cx="1915189" cy="1035191"/>
            </a:xfrm>
          </p:grpSpPr>
          <p:sp>
            <p:nvSpPr>
              <p:cNvPr id="190" name="Freeform 5">
                <a:extLst>
                  <a:ext uri="{FF2B5EF4-FFF2-40B4-BE49-F238E27FC236}">
                    <a16:creationId xmlns:a16="http://schemas.microsoft.com/office/drawing/2014/main" id="{76FDE77A-091A-3ADA-35D4-ED3E7A264CEA}"/>
                  </a:ext>
                </a:extLst>
              </p:cNvPr>
              <p:cNvSpPr>
                <a:spLocks/>
              </p:cNvSpPr>
              <p:nvPr/>
            </p:nvSpPr>
            <p:spPr bwMode="auto">
              <a:xfrm rot="16200000">
                <a:off x="1310855" y="1114426"/>
                <a:ext cx="1035191" cy="89606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6A2C6"/>
              </a:solidFill>
              <a:ln w="25400">
                <a:noFill/>
              </a:ln>
              <a:effectLst>
                <a:outerShdw blurRad="190500" dist="63500" dir="2700000" algn="tl" rotWithShape="0">
                  <a:prstClr val="black">
                    <a:alpha val="25000"/>
                  </a:prstClr>
                </a:outerShdw>
              </a:effectLst>
            </p:spPr>
            <p:txBody>
              <a:bodyPr vert="horz" wrap="square" lIns="91440" tIns="45720" rIns="91440" bIns="45720" numCol="1" anchor="t" anchorCtr="0" compatLnSpc="1">
                <a:prstTxWarp prst="textNoShape">
                  <a:avLst/>
                </a:prstTxWarp>
              </a:bodyPr>
              <a:lstStyle/>
              <a:p>
                <a:endParaRPr lang="zh-CN" altLang="en-US" sz="3200" dirty="0">
                  <a:solidFill>
                    <a:schemeClr val="tx1">
                      <a:lumMod val="85000"/>
                      <a:lumOff val="15000"/>
                    </a:schemeClr>
                  </a:solidFill>
                  <a:ea typeface="阿里巴巴普惠体 Medium" pitchFamily="18" charset="-122"/>
                </a:endParaRPr>
              </a:p>
            </p:txBody>
          </p:sp>
          <p:sp>
            <p:nvSpPr>
              <p:cNvPr id="191" name="文本框 17">
                <a:extLst>
                  <a:ext uri="{FF2B5EF4-FFF2-40B4-BE49-F238E27FC236}">
                    <a16:creationId xmlns:a16="http://schemas.microsoft.com/office/drawing/2014/main" id="{BEB76E42-9A86-05A1-7C53-2E96E698ECC0}"/>
                  </a:ext>
                </a:extLst>
              </p:cNvPr>
              <p:cNvSpPr txBox="1"/>
              <p:nvPr/>
            </p:nvSpPr>
            <p:spPr>
              <a:xfrm>
                <a:off x="870856" y="1171264"/>
                <a:ext cx="1915189" cy="798336"/>
              </a:xfrm>
              <a:prstGeom prst="rect">
                <a:avLst/>
              </a:prstGeom>
              <a:noFill/>
            </p:spPr>
            <p:txBody>
              <a:bodyPr wrap="square" rtlCol="0">
                <a:spAutoFit/>
              </a:bodyPr>
              <a:lstStyle/>
              <a:p>
                <a:pPr algn="ctr"/>
                <a:r>
                  <a:rPr lang="en-US" altLang="zh-CN"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11</a:t>
                </a:r>
                <a:endParaRPr lang="zh-CN" altLang="en-US"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endParaRPr>
              </a:p>
            </p:txBody>
          </p:sp>
        </p:grpSp>
      </p:grpSp>
      <p:grpSp>
        <p:nvGrpSpPr>
          <p:cNvPr id="198" name="组合 1">
            <a:extLst>
              <a:ext uri="{FF2B5EF4-FFF2-40B4-BE49-F238E27FC236}">
                <a16:creationId xmlns:a16="http://schemas.microsoft.com/office/drawing/2014/main" id="{9A092D68-F491-F9DC-13F4-54BCB7C8BC8F}"/>
              </a:ext>
            </a:extLst>
          </p:cNvPr>
          <p:cNvGrpSpPr/>
          <p:nvPr/>
        </p:nvGrpSpPr>
        <p:grpSpPr>
          <a:xfrm>
            <a:off x="5913821" y="1385659"/>
            <a:ext cx="3960592" cy="399090"/>
            <a:chOff x="3842678" y="1373217"/>
            <a:chExt cx="3960592" cy="383437"/>
          </a:xfrm>
        </p:grpSpPr>
        <p:sp>
          <p:nvSpPr>
            <p:cNvPr id="199" name="文本框 13">
              <a:extLst>
                <a:ext uri="{FF2B5EF4-FFF2-40B4-BE49-F238E27FC236}">
                  <a16:creationId xmlns:a16="http://schemas.microsoft.com/office/drawing/2014/main" id="{257E935D-0619-90D8-F68B-C30BFAC6F1E3}"/>
                </a:ext>
              </a:extLst>
            </p:cNvPr>
            <p:cNvSpPr txBox="1"/>
            <p:nvPr/>
          </p:nvSpPr>
          <p:spPr>
            <a:xfrm>
              <a:off x="4470899" y="1400409"/>
              <a:ext cx="3332371" cy="325275"/>
            </a:xfrm>
            <a:prstGeom prst="rect">
              <a:avLst/>
            </a:prstGeom>
            <a:noFill/>
          </p:spPr>
          <p:txBody>
            <a:bodyPr wrap="square" rtlCol="0">
              <a:spAutoFit/>
            </a:bodyPr>
            <a:lstStyle/>
            <a:p>
              <a:r>
                <a:rPr lang="en-US" altLang="zh-CN"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Creating calculated columns</a:t>
              </a:r>
              <a:endParaRPr lang="zh-CN" altLang="en-US"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grpSp>
          <p:nvGrpSpPr>
            <p:cNvPr id="200" name="组合 15">
              <a:extLst>
                <a:ext uri="{FF2B5EF4-FFF2-40B4-BE49-F238E27FC236}">
                  <a16:creationId xmlns:a16="http://schemas.microsoft.com/office/drawing/2014/main" id="{2C75E8A1-A69A-CC11-9650-FF4696FD8533}"/>
                </a:ext>
              </a:extLst>
            </p:cNvPr>
            <p:cNvGrpSpPr/>
            <p:nvPr/>
          </p:nvGrpSpPr>
          <p:grpSpPr>
            <a:xfrm>
              <a:off x="3842678" y="1373217"/>
              <a:ext cx="709392" cy="383437"/>
              <a:chOff x="870856" y="1044864"/>
              <a:chExt cx="1915189" cy="1035191"/>
            </a:xfrm>
          </p:grpSpPr>
          <p:sp>
            <p:nvSpPr>
              <p:cNvPr id="201" name="Freeform 5">
                <a:extLst>
                  <a:ext uri="{FF2B5EF4-FFF2-40B4-BE49-F238E27FC236}">
                    <a16:creationId xmlns:a16="http://schemas.microsoft.com/office/drawing/2014/main" id="{274A9F04-98F1-A183-1BB1-EE0CB52A6264}"/>
                  </a:ext>
                </a:extLst>
              </p:cNvPr>
              <p:cNvSpPr>
                <a:spLocks/>
              </p:cNvSpPr>
              <p:nvPr/>
            </p:nvSpPr>
            <p:spPr bwMode="auto">
              <a:xfrm rot="16200000">
                <a:off x="1310855" y="1114426"/>
                <a:ext cx="1035191" cy="89606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6A2C6"/>
              </a:solidFill>
              <a:ln w="25400">
                <a:noFill/>
              </a:ln>
              <a:effectLst>
                <a:outerShdw blurRad="190500" dist="63500" dir="2700000" algn="tl" rotWithShape="0">
                  <a:prstClr val="black">
                    <a:alpha val="25000"/>
                  </a:prstClr>
                </a:outerShdw>
              </a:effectLst>
            </p:spPr>
            <p:txBody>
              <a:bodyPr vert="horz" wrap="square" lIns="91440" tIns="45720" rIns="91440" bIns="45720" numCol="1" anchor="t" anchorCtr="0" compatLnSpc="1">
                <a:prstTxWarp prst="textNoShape">
                  <a:avLst/>
                </a:prstTxWarp>
              </a:bodyPr>
              <a:lstStyle/>
              <a:p>
                <a:endParaRPr lang="zh-CN" altLang="en-US" sz="3200" dirty="0">
                  <a:solidFill>
                    <a:schemeClr val="tx1">
                      <a:lumMod val="85000"/>
                      <a:lumOff val="15000"/>
                    </a:schemeClr>
                  </a:solidFill>
                  <a:ea typeface="阿里巴巴普惠体 Medium" pitchFamily="18" charset="-122"/>
                </a:endParaRPr>
              </a:p>
            </p:txBody>
          </p:sp>
          <p:sp>
            <p:nvSpPr>
              <p:cNvPr id="202" name="文本框 17">
                <a:extLst>
                  <a:ext uri="{FF2B5EF4-FFF2-40B4-BE49-F238E27FC236}">
                    <a16:creationId xmlns:a16="http://schemas.microsoft.com/office/drawing/2014/main" id="{4BADE186-5682-5727-21E2-59A392381039}"/>
                  </a:ext>
                </a:extLst>
              </p:cNvPr>
              <p:cNvSpPr txBox="1"/>
              <p:nvPr/>
            </p:nvSpPr>
            <p:spPr>
              <a:xfrm>
                <a:off x="870856" y="1171264"/>
                <a:ext cx="1915189" cy="798336"/>
              </a:xfrm>
              <a:prstGeom prst="rect">
                <a:avLst/>
              </a:prstGeom>
              <a:noFill/>
            </p:spPr>
            <p:txBody>
              <a:bodyPr wrap="square" rtlCol="0">
                <a:spAutoFit/>
              </a:bodyPr>
              <a:lstStyle/>
              <a:p>
                <a:pPr algn="ctr"/>
                <a:r>
                  <a:rPr lang="en-US" altLang="zh-CN"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07</a:t>
                </a:r>
                <a:endParaRPr lang="zh-CN" altLang="en-US"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endParaRPr>
              </a:p>
            </p:txBody>
          </p:sp>
        </p:grpSp>
      </p:grpSp>
      <p:grpSp>
        <p:nvGrpSpPr>
          <p:cNvPr id="203" name="组合 1">
            <a:extLst>
              <a:ext uri="{FF2B5EF4-FFF2-40B4-BE49-F238E27FC236}">
                <a16:creationId xmlns:a16="http://schemas.microsoft.com/office/drawing/2014/main" id="{5CB70EE1-83E0-FD24-FF21-E74CAF17177A}"/>
              </a:ext>
            </a:extLst>
          </p:cNvPr>
          <p:cNvGrpSpPr/>
          <p:nvPr/>
        </p:nvGrpSpPr>
        <p:grpSpPr>
          <a:xfrm>
            <a:off x="2359434" y="3229455"/>
            <a:ext cx="6995239" cy="399090"/>
            <a:chOff x="3842678" y="1373217"/>
            <a:chExt cx="6995239" cy="383437"/>
          </a:xfrm>
        </p:grpSpPr>
        <p:sp>
          <p:nvSpPr>
            <p:cNvPr id="204" name="文本框 13">
              <a:extLst>
                <a:ext uri="{FF2B5EF4-FFF2-40B4-BE49-F238E27FC236}">
                  <a16:creationId xmlns:a16="http://schemas.microsoft.com/office/drawing/2014/main" id="{7CDAE603-88C9-8261-0A87-2B0229B1F086}"/>
                </a:ext>
              </a:extLst>
            </p:cNvPr>
            <p:cNvSpPr txBox="1"/>
            <p:nvPr/>
          </p:nvSpPr>
          <p:spPr>
            <a:xfrm>
              <a:off x="4470899" y="1400410"/>
              <a:ext cx="6367018" cy="325275"/>
            </a:xfrm>
            <a:prstGeom prst="rect">
              <a:avLst/>
            </a:prstGeom>
            <a:noFill/>
          </p:spPr>
          <p:txBody>
            <a:bodyPr wrap="square" rtlCol="0">
              <a:spAutoFit/>
            </a:bodyPr>
            <a:lstStyle/>
            <a:p>
              <a:r>
                <a:rPr lang="en-US" altLang="zh-CN"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Journey Status&amp; Reasons for Delay and cancel Dashboard</a:t>
              </a:r>
              <a:endParaRPr lang="zh-CN" altLang="en-US"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grpSp>
          <p:nvGrpSpPr>
            <p:cNvPr id="205" name="组合 15">
              <a:extLst>
                <a:ext uri="{FF2B5EF4-FFF2-40B4-BE49-F238E27FC236}">
                  <a16:creationId xmlns:a16="http://schemas.microsoft.com/office/drawing/2014/main" id="{178EDAA6-F1F5-E32C-8B66-DA0DAC50DC17}"/>
                </a:ext>
              </a:extLst>
            </p:cNvPr>
            <p:cNvGrpSpPr/>
            <p:nvPr/>
          </p:nvGrpSpPr>
          <p:grpSpPr>
            <a:xfrm>
              <a:off x="3842678" y="1373217"/>
              <a:ext cx="709392" cy="383437"/>
              <a:chOff x="870856" y="1044864"/>
              <a:chExt cx="1915189" cy="1035191"/>
            </a:xfrm>
          </p:grpSpPr>
          <p:sp>
            <p:nvSpPr>
              <p:cNvPr id="206" name="Freeform 5">
                <a:extLst>
                  <a:ext uri="{FF2B5EF4-FFF2-40B4-BE49-F238E27FC236}">
                    <a16:creationId xmlns:a16="http://schemas.microsoft.com/office/drawing/2014/main" id="{8C6419AB-B971-953F-CA1E-137FCF7DF022}"/>
                  </a:ext>
                </a:extLst>
              </p:cNvPr>
              <p:cNvSpPr>
                <a:spLocks/>
              </p:cNvSpPr>
              <p:nvPr/>
            </p:nvSpPr>
            <p:spPr bwMode="auto">
              <a:xfrm rot="16200000">
                <a:off x="1310855" y="1114426"/>
                <a:ext cx="1035191" cy="89606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6A2C6"/>
              </a:solidFill>
              <a:ln w="25400">
                <a:noFill/>
              </a:ln>
              <a:effectLst>
                <a:outerShdw blurRad="190500" dist="63500" dir="2700000" algn="tl" rotWithShape="0">
                  <a:prstClr val="black">
                    <a:alpha val="25000"/>
                  </a:prstClr>
                </a:outerShdw>
              </a:effectLst>
            </p:spPr>
            <p:txBody>
              <a:bodyPr vert="horz" wrap="square" lIns="91440" tIns="45720" rIns="91440" bIns="45720" numCol="1" anchor="t" anchorCtr="0" compatLnSpc="1">
                <a:prstTxWarp prst="textNoShape">
                  <a:avLst/>
                </a:prstTxWarp>
              </a:bodyPr>
              <a:lstStyle/>
              <a:p>
                <a:endParaRPr lang="zh-CN" altLang="en-US" sz="3200" dirty="0">
                  <a:solidFill>
                    <a:schemeClr val="tx1">
                      <a:lumMod val="85000"/>
                      <a:lumOff val="15000"/>
                    </a:schemeClr>
                  </a:solidFill>
                  <a:ea typeface="阿里巴巴普惠体 Medium" pitchFamily="18" charset="-122"/>
                </a:endParaRPr>
              </a:p>
            </p:txBody>
          </p:sp>
          <p:sp>
            <p:nvSpPr>
              <p:cNvPr id="207" name="文本框 17">
                <a:extLst>
                  <a:ext uri="{FF2B5EF4-FFF2-40B4-BE49-F238E27FC236}">
                    <a16:creationId xmlns:a16="http://schemas.microsoft.com/office/drawing/2014/main" id="{C7F9ECEF-6285-E7AF-6C56-0CE91FFD12B4}"/>
                  </a:ext>
                </a:extLst>
              </p:cNvPr>
              <p:cNvSpPr txBox="1"/>
              <p:nvPr/>
            </p:nvSpPr>
            <p:spPr>
              <a:xfrm>
                <a:off x="870856" y="1171264"/>
                <a:ext cx="1915189" cy="798336"/>
              </a:xfrm>
              <a:prstGeom prst="rect">
                <a:avLst/>
              </a:prstGeom>
              <a:noFill/>
            </p:spPr>
            <p:txBody>
              <a:bodyPr wrap="square" rtlCol="0">
                <a:spAutoFit/>
              </a:bodyPr>
              <a:lstStyle/>
              <a:p>
                <a:pPr algn="ctr"/>
                <a:r>
                  <a:rPr lang="en-US" altLang="zh-CN"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12</a:t>
                </a:r>
                <a:endParaRPr lang="zh-CN" altLang="en-US"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endParaRPr>
              </a:p>
            </p:txBody>
          </p:sp>
        </p:grpSp>
      </p:grpSp>
      <p:grpSp>
        <p:nvGrpSpPr>
          <p:cNvPr id="208" name="组合 1">
            <a:extLst>
              <a:ext uri="{FF2B5EF4-FFF2-40B4-BE49-F238E27FC236}">
                <a16:creationId xmlns:a16="http://schemas.microsoft.com/office/drawing/2014/main" id="{FE2E3832-F186-1F0A-6A0F-52F1BCA4226B}"/>
              </a:ext>
            </a:extLst>
          </p:cNvPr>
          <p:cNvGrpSpPr/>
          <p:nvPr/>
        </p:nvGrpSpPr>
        <p:grpSpPr>
          <a:xfrm>
            <a:off x="2359434" y="3667606"/>
            <a:ext cx="3576066" cy="399090"/>
            <a:chOff x="3842678" y="1373217"/>
            <a:chExt cx="3576066" cy="383437"/>
          </a:xfrm>
        </p:grpSpPr>
        <p:sp>
          <p:nvSpPr>
            <p:cNvPr id="209" name="文本框 13">
              <a:extLst>
                <a:ext uri="{FF2B5EF4-FFF2-40B4-BE49-F238E27FC236}">
                  <a16:creationId xmlns:a16="http://schemas.microsoft.com/office/drawing/2014/main" id="{CAF32D8D-3CEF-D045-AA99-4B80D5E6B5B4}"/>
                </a:ext>
              </a:extLst>
            </p:cNvPr>
            <p:cNvSpPr txBox="1"/>
            <p:nvPr/>
          </p:nvSpPr>
          <p:spPr>
            <a:xfrm>
              <a:off x="4470899" y="1400409"/>
              <a:ext cx="2947845" cy="325275"/>
            </a:xfrm>
            <a:prstGeom prst="rect">
              <a:avLst/>
            </a:prstGeom>
            <a:noFill/>
          </p:spPr>
          <p:txBody>
            <a:bodyPr wrap="square" rtlCol="0">
              <a:spAutoFit/>
            </a:bodyPr>
            <a:lstStyle/>
            <a:p>
              <a:r>
                <a:rPr lang="en-US" altLang="zh-CN"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Filtering and Drilldowns</a:t>
              </a:r>
              <a:endParaRPr lang="zh-CN" altLang="en-US"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grpSp>
          <p:nvGrpSpPr>
            <p:cNvPr id="210" name="组合 15">
              <a:extLst>
                <a:ext uri="{FF2B5EF4-FFF2-40B4-BE49-F238E27FC236}">
                  <a16:creationId xmlns:a16="http://schemas.microsoft.com/office/drawing/2014/main" id="{8C4089C2-16A2-A3B7-7383-A95068A123AA}"/>
                </a:ext>
              </a:extLst>
            </p:cNvPr>
            <p:cNvGrpSpPr/>
            <p:nvPr/>
          </p:nvGrpSpPr>
          <p:grpSpPr>
            <a:xfrm>
              <a:off x="3842678" y="1373217"/>
              <a:ext cx="709392" cy="383437"/>
              <a:chOff x="870856" y="1044864"/>
              <a:chExt cx="1915189" cy="1035191"/>
            </a:xfrm>
          </p:grpSpPr>
          <p:sp>
            <p:nvSpPr>
              <p:cNvPr id="211" name="Freeform 5">
                <a:extLst>
                  <a:ext uri="{FF2B5EF4-FFF2-40B4-BE49-F238E27FC236}">
                    <a16:creationId xmlns:a16="http://schemas.microsoft.com/office/drawing/2014/main" id="{CFE80DDF-BF85-10CA-20EC-B2059BAA12BD}"/>
                  </a:ext>
                </a:extLst>
              </p:cNvPr>
              <p:cNvSpPr>
                <a:spLocks/>
              </p:cNvSpPr>
              <p:nvPr/>
            </p:nvSpPr>
            <p:spPr bwMode="auto">
              <a:xfrm rot="16200000">
                <a:off x="1310855" y="1114426"/>
                <a:ext cx="1035191" cy="89606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6A2C6"/>
              </a:solidFill>
              <a:ln w="25400">
                <a:noFill/>
              </a:ln>
              <a:effectLst>
                <a:outerShdw blurRad="190500" dist="63500" dir="2700000" algn="tl" rotWithShape="0">
                  <a:prstClr val="black">
                    <a:alpha val="25000"/>
                  </a:prstClr>
                </a:outerShdw>
              </a:effectLst>
            </p:spPr>
            <p:txBody>
              <a:bodyPr vert="horz" wrap="square" lIns="91440" tIns="45720" rIns="91440" bIns="45720" numCol="1" anchor="t" anchorCtr="0" compatLnSpc="1">
                <a:prstTxWarp prst="textNoShape">
                  <a:avLst/>
                </a:prstTxWarp>
              </a:bodyPr>
              <a:lstStyle/>
              <a:p>
                <a:endParaRPr lang="zh-CN" altLang="en-US" sz="3200" dirty="0">
                  <a:solidFill>
                    <a:schemeClr val="tx1">
                      <a:lumMod val="85000"/>
                      <a:lumOff val="15000"/>
                    </a:schemeClr>
                  </a:solidFill>
                  <a:ea typeface="阿里巴巴普惠体 Medium" pitchFamily="18" charset="-122"/>
                </a:endParaRPr>
              </a:p>
            </p:txBody>
          </p:sp>
          <p:sp>
            <p:nvSpPr>
              <p:cNvPr id="212" name="文本框 17">
                <a:extLst>
                  <a:ext uri="{FF2B5EF4-FFF2-40B4-BE49-F238E27FC236}">
                    <a16:creationId xmlns:a16="http://schemas.microsoft.com/office/drawing/2014/main" id="{AA5CF90E-90D1-93FA-E95B-12CA41BBCC89}"/>
                  </a:ext>
                </a:extLst>
              </p:cNvPr>
              <p:cNvSpPr txBox="1"/>
              <p:nvPr/>
            </p:nvSpPr>
            <p:spPr>
              <a:xfrm>
                <a:off x="870856" y="1171264"/>
                <a:ext cx="1915189" cy="798336"/>
              </a:xfrm>
              <a:prstGeom prst="rect">
                <a:avLst/>
              </a:prstGeom>
              <a:noFill/>
            </p:spPr>
            <p:txBody>
              <a:bodyPr wrap="square" rtlCol="0">
                <a:spAutoFit/>
              </a:bodyPr>
              <a:lstStyle/>
              <a:p>
                <a:pPr algn="ctr"/>
                <a:r>
                  <a:rPr lang="en-US" altLang="zh-CN"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13</a:t>
                </a:r>
                <a:endParaRPr lang="zh-CN" altLang="en-US"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endParaRPr>
              </a:p>
            </p:txBody>
          </p:sp>
        </p:grpSp>
      </p:grpSp>
      <p:grpSp>
        <p:nvGrpSpPr>
          <p:cNvPr id="213" name="组合 1">
            <a:extLst>
              <a:ext uri="{FF2B5EF4-FFF2-40B4-BE49-F238E27FC236}">
                <a16:creationId xmlns:a16="http://schemas.microsoft.com/office/drawing/2014/main" id="{6708BD6A-CCA7-923C-81DB-ACCEB83F051C}"/>
              </a:ext>
            </a:extLst>
          </p:cNvPr>
          <p:cNvGrpSpPr/>
          <p:nvPr/>
        </p:nvGrpSpPr>
        <p:grpSpPr>
          <a:xfrm>
            <a:off x="2359434" y="4124806"/>
            <a:ext cx="3960592" cy="399090"/>
            <a:chOff x="3842678" y="1373217"/>
            <a:chExt cx="3960592" cy="383437"/>
          </a:xfrm>
        </p:grpSpPr>
        <p:sp>
          <p:nvSpPr>
            <p:cNvPr id="214" name="文本框 13">
              <a:extLst>
                <a:ext uri="{FF2B5EF4-FFF2-40B4-BE49-F238E27FC236}">
                  <a16:creationId xmlns:a16="http://schemas.microsoft.com/office/drawing/2014/main" id="{FD004558-E8C6-88D0-FA97-507EAA9FE755}"/>
                </a:ext>
              </a:extLst>
            </p:cNvPr>
            <p:cNvSpPr txBox="1"/>
            <p:nvPr/>
          </p:nvSpPr>
          <p:spPr>
            <a:xfrm>
              <a:off x="4470899" y="1400409"/>
              <a:ext cx="3332371" cy="325275"/>
            </a:xfrm>
            <a:prstGeom prst="rect">
              <a:avLst/>
            </a:prstGeom>
            <a:noFill/>
          </p:spPr>
          <p:txBody>
            <a:bodyPr wrap="square" rtlCol="0">
              <a:spAutoFit/>
            </a:bodyPr>
            <a:lstStyle/>
            <a:p>
              <a:r>
                <a:rPr lang="en-US" altLang="zh-CN"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Preparing Files for GitHub</a:t>
              </a:r>
              <a:endParaRPr lang="zh-CN" altLang="en-US"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grpSp>
          <p:nvGrpSpPr>
            <p:cNvPr id="215" name="组合 15">
              <a:extLst>
                <a:ext uri="{FF2B5EF4-FFF2-40B4-BE49-F238E27FC236}">
                  <a16:creationId xmlns:a16="http://schemas.microsoft.com/office/drawing/2014/main" id="{14520BE5-73DA-69BF-4B86-DF578351FF9B}"/>
                </a:ext>
              </a:extLst>
            </p:cNvPr>
            <p:cNvGrpSpPr/>
            <p:nvPr/>
          </p:nvGrpSpPr>
          <p:grpSpPr>
            <a:xfrm>
              <a:off x="3842678" y="1373217"/>
              <a:ext cx="709392" cy="383437"/>
              <a:chOff x="870856" y="1044864"/>
              <a:chExt cx="1915189" cy="1035191"/>
            </a:xfrm>
          </p:grpSpPr>
          <p:sp>
            <p:nvSpPr>
              <p:cNvPr id="216" name="Freeform 5">
                <a:extLst>
                  <a:ext uri="{FF2B5EF4-FFF2-40B4-BE49-F238E27FC236}">
                    <a16:creationId xmlns:a16="http://schemas.microsoft.com/office/drawing/2014/main" id="{DA6E8318-377B-80FF-2DC0-E5DBF01ED1F8}"/>
                  </a:ext>
                </a:extLst>
              </p:cNvPr>
              <p:cNvSpPr>
                <a:spLocks/>
              </p:cNvSpPr>
              <p:nvPr/>
            </p:nvSpPr>
            <p:spPr bwMode="auto">
              <a:xfrm rot="16200000">
                <a:off x="1310855" y="1114426"/>
                <a:ext cx="1035191" cy="89606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6A2C6"/>
              </a:solidFill>
              <a:ln w="25400">
                <a:noFill/>
              </a:ln>
              <a:effectLst>
                <a:outerShdw blurRad="190500" dist="63500" dir="2700000" algn="tl" rotWithShape="0">
                  <a:prstClr val="black">
                    <a:alpha val="25000"/>
                  </a:prstClr>
                </a:outerShdw>
              </a:effectLst>
            </p:spPr>
            <p:txBody>
              <a:bodyPr vert="horz" wrap="square" lIns="91440" tIns="45720" rIns="91440" bIns="45720" numCol="1" anchor="t" anchorCtr="0" compatLnSpc="1">
                <a:prstTxWarp prst="textNoShape">
                  <a:avLst/>
                </a:prstTxWarp>
              </a:bodyPr>
              <a:lstStyle/>
              <a:p>
                <a:endParaRPr lang="zh-CN" altLang="en-US" sz="3200" dirty="0">
                  <a:solidFill>
                    <a:schemeClr val="tx1">
                      <a:lumMod val="85000"/>
                      <a:lumOff val="15000"/>
                    </a:schemeClr>
                  </a:solidFill>
                  <a:ea typeface="阿里巴巴普惠体 Medium" pitchFamily="18" charset="-122"/>
                </a:endParaRPr>
              </a:p>
            </p:txBody>
          </p:sp>
          <p:sp>
            <p:nvSpPr>
              <p:cNvPr id="217" name="文本框 17">
                <a:extLst>
                  <a:ext uri="{FF2B5EF4-FFF2-40B4-BE49-F238E27FC236}">
                    <a16:creationId xmlns:a16="http://schemas.microsoft.com/office/drawing/2014/main" id="{5C606BB7-757A-6EFE-9614-07DEA63B7F18}"/>
                  </a:ext>
                </a:extLst>
              </p:cNvPr>
              <p:cNvSpPr txBox="1"/>
              <p:nvPr/>
            </p:nvSpPr>
            <p:spPr>
              <a:xfrm>
                <a:off x="870856" y="1171264"/>
                <a:ext cx="1915189" cy="798336"/>
              </a:xfrm>
              <a:prstGeom prst="rect">
                <a:avLst/>
              </a:prstGeom>
              <a:noFill/>
            </p:spPr>
            <p:txBody>
              <a:bodyPr wrap="square" rtlCol="0">
                <a:spAutoFit/>
              </a:bodyPr>
              <a:lstStyle/>
              <a:p>
                <a:pPr algn="ctr"/>
                <a:r>
                  <a:rPr lang="en-US" altLang="zh-CN"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14</a:t>
                </a:r>
                <a:endParaRPr lang="zh-CN" altLang="en-US"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endParaRPr>
              </a:p>
            </p:txBody>
          </p:sp>
        </p:grpSp>
      </p:grpSp>
      <p:grpSp>
        <p:nvGrpSpPr>
          <p:cNvPr id="218" name="组合 1">
            <a:extLst>
              <a:ext uri="{FF2B5EF4-FFF2-40B4-BE49-F238E27FC236}">
                <a16:creationId xmlns:a16="http://schemas.microsoft.com/office/drawing/2014/main" id="{553FE697-F739-38FC-1880-3B78AA2F0155}"/>
              </a:ext>
            </a:extLst>
          </p:cNvPr>
          <p:cNvGrpSpPr/>
          <p:nvPr/>
        </p:nvGrpSpPr>
        <p:grpSpPr>
          <a:xfrm>
            <a:off x="2359434" y="4591258"/>
            <a:ext cx="3576066" cy="399090"/>
            <a:chOff x="3842678" y="1373217"/>
            <a:chExt cx="3576066" cy="383437"/>
          </a:xfrm>
        </p:grpSpPr>
        <p:sp>
          <p:nvSpPr>
            <p:cNvPr id="219" name="文本框 13">
              <a:extLst>
                <a:ext uri="{FF2B5EF4-FFF2-40B4-BE49-F238E27FC236}">
                  <a16:creationId xmlns:a16="http://schemas.microsoft.com/office/drawing/2014/main" id="{CA3005EC-5AF4-115C-110C-545E42A515B0}"/>
                </a:ext>
              </a:extLst>
            </p:cNvPr>
            <p:cNvSpPr txBox="1"/>
            <p:nvPr/>
          </p:nvSpPr>
          <p:spPr>
            <a:xfrm>
              <a:off x="4470899" y="1400409"/>
              <a:ext cx="2947845" cy="325275"/>
            </a:xfrm>
            <a:prstGeom prst="rect">
              <a:avLst/>
            </a:prstGeom>
            <a:noFill/>
          </p:spPr>
          <p:txBody>
            <a:bodyPr wrap="square" rtlCol="0">
              <a:spAutoFit/>
            </a:bodyPr>
            <a:lstStyle/>
            <a:p>
              <a:r>
                <a:rPr lang="en-US" altLang="zh-CN"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Uploading to GitHub</a:t>
              </a:r>
              <a:endParaRPr lang="zh-CN" altLang="en-US"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grpSp>
          <p:nvGrpSpPr>
            <p:cNvPr id="220" name="组合 15">
              <a:extLst>
                <a:ext uri="{FF2B5EF4-FFF2-40B4-BE49-F238E27FC236}">
                  <a16:creationId xmlns:a16="http://schemas.microsoft.com/office/drawing/2014/main" id="{FDAA0F3F-B405-9221-8062-647B42D4A1C8}"/>
                </a:ext>
              </a:extLst>
            </p:cNvPr>
            <p:cNvGrpSpPr/>
            <p:nvPr/>
          </p:nvGrpSpPr>
          <p:grpSpPr>
            <a:xfrm>
              <a:off x="3842678" y="1373217"/>
              <a:ext cx="709392" cy="383437"/>
              <a:chOff x="870856" y="1044864"/>
              <a:chExt cx="1915189" cy="1035191"/>
            </a:xfrm>
          </p:grpSpPr>
          <p:sp>
            <p:nvSpPr>
              <p:cNvPr id="221" name="Freeform 5">
                <a:extLst>
                  <a:ext uri="{FF2B5EF4-FFF2-40B4-BE49-F238E27FC236}">
                    <a16:creationId xmlns:a16="http://schemas.microsoft.com/office/drawing/2014/main" id="{B40E5B4F-AC33-154E-A8F4-E28886BA9273}"/>
                  </a:ext>
                </a:extLst>
              </p:cNvPr>
              <p:cNvSpPr>
                <a:spLocks/>
              </p:cNvSpPr>
              <p:nvPr/>
            </p:nvSpPr>
            <p:spPr bwMode="auto">
              <a:xfrm rot="16200000">
                <a:off x="1310855" y="1114426"/>
                <a:ext cx="1035191" cy="89606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6A2C6"/>
              </a:solidFill>
              <a:ln w="25400">
                <a:noFill/>
              </a:ln>
              <a:effectLst>
                <a:outerShdw blurRad="190500" dist="63500" dir="2700000" algn="tl" rotWithShape="0">
                  <a:prstClr val="black">
                    <a:alpha val="25000"/>
                  </a:prstClr>
                </a:outerShdw>
              </a:effectLst>
            </p:spPr>
            <p:txBody>
              <a:bodyPr vert="horz" wrap="square" lIns="91440" tIns="45720" rIns="91440" bIns="45720" numCol="1" anchor="t" anchorCtr="0" compatLnSpc="1">
                <a:prstTxWarp prst="textNoShape">
                  <a:avLst/>
                </a:prstTxWarp>
              </a:bodyPr>
              <a:lstStyle/>
              <a:p>
                <a:endParaRPr lang="zh-CN" altLang="en-US" sz="3200" dirty="0">
                  <a:solidFill>
                    <a:schemeClr val="tx1">
                      <a:lumMod val="85000"/>
                      <a:lumOff val="15000"/>
                    </a:schemeClr>
                  </a:solidFill>
                  <a:ea typeface="阿里巴巴普惠体 Medium" pitchFamily="18" charset="-122"/>
                </a:endParaRPr>
              </a:p>
            </p:txBody>
          </p:sp>
          <p:sp>
            <p:nvSpPr>
              <p:cNvPr id="222" name="文本框 17">
                <a:extLst>
                  <a:ext uri="{FF2B5EF4-FFF2-40B4-BE49-F238E27FC236}">
                    <a16:creationId xmlns:a16="http://schemas.microsoft.com/office/drawing/2014/main" id="{B157CDFD-EA2E-3F81-2694-C30EECBE0502}"/>
                  </a:ext>
                </a:extLst>
              </p:cNvPr>
              <p:cNvSpPr txBox="1"/>
              <p:nvPr/>
            </p:nvSpPr>
            <p:spPr>
              <a:xfrm>
                <a:off x="870856" y="1171264"/>
                <a:ext cx="1915189" cy="798336"/>
              </a:xfrm>
              <a:prstGeom prst="rect">
                <a:avLst/>
              </a:prstGeom>
              <a:noFill/>
            </p:spPr>
            <p:txBody>
              <a:bodyPr wrap="square" rtlCol="0">
                <a:spAutoFit/>
              </a:bodyPr>
              <a:lstStyle/>
              <a:p>
                <a:pPr algn="ctr"/>
                <a:r>
                  <a:rPr lang="en-US" altLang="zh-CN"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15</a:t>
                </a:r>
                <a:endParaRPr lang="zh-CN" altLang="en-US"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endParaRPr>
              </a:p>
            </p:txBody>
          </p:sp>
        </p:grpSp>
      </p:grpSp>
      <p:grpSp>
        <p:nvGrpSpPr>
          <p:cNvPr id="223" name="组合 1">
            <a:extLst>
              <a:ext uri="{FF2B5EF4-FFF2-40B4-BE49-F238E27FC236}">
                <a16:creationId xmlns:a16="http://schemas.microsoft.com/office/drawing/2014/main" id="{8B8C2C0D-082D-9F7C-936A-85A266109D6B}"/>
              </a:ext>
            </a:extLst>
          </p:cNvPr>
          <p:cNvGrpSpPr/>
          <p:nvPr/>
        </p:nvGrpSpPr>
        <p:grpSpPr>
          <a:xfrm>
            <a:off x="2359434" y="5048458"/>
            <a:ext cx="3960592" cy="399090"/>
            <a:chOff x="3842678" y="1373217"/>
            <a:chExt cx="3960592" cy="383437"/>
          </a:xfrm>
        </p:grpSpPr>
        <p:sp>
          <p:nvSpPr>
            <p:cNvPr id="224" name="文本框 13">
              <a:extLst>
                <a:ext uri="{FF2B5EF4-FFF2-40B4-BE49-F238E27FC236}">
                  <a16:creationId xmlns:a16="http://schemas.microsoft.com/office/drawing/2014/main" id="{8D56D062-D50F-BD15-5E55-327A373A157C}"/>
                </a:ext>
              </a:extLst>
            </p:cNvPr>
            <p:cNvSpPr txBox="1"/>
            <p:nvPr/>
          </p:nvSpPr>
          <p:spPr>
            <a:xfrm>
              <a:off x="4470899" y="1400409"/>
              <a:ext cx="3332371" cy="325275"/>
            </a:xfrm>
            <a:prstGeom prst="rect">
              <a:avLst/>
            </a:prstGeom>
            <a:noFill/>
          </p:spPr>
          <p:txBody>
            <a:bodyPr wrap="square" rtlCol="0">
              <a:spAutoFit/>
            </a:bodyPr>
            <a:lstStyle/>
            <a:p>
              <a:r>
                <a:rPr lang="en-US" altLang="zh-CN"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Conclusion &amp; Future Work</a:t>
              </a:r>
              <a:endParaRPr lang="zh-CN" altLang="en-US" sz="1600" b="1" dirty="0">
                <a:solidFill>
                  <a:schemeClr val="tx1">
                    <a:lumMod val="85000"/>
                    <a:lumOff val="1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grpSp>
          <p:nvGrpSpPr>
            <p:cNvPr id="225" name="组合 15">
              <a:extLst>
                <a:ext uri="{FF2B5EF4-FFF2-40B4-BE49-F238E27FC236}">
                  <a16:creationId xmlns:a16="http://schemas.microsoft.com/office/drawing/2014/main" id="{4E2323F9-ED63-5D8E-4434-39745D8EEEE0}"/>
                </a:ext>
              </a:extLst>
            </p:cNvPr>
            <p:cNvGrpSpPr/>
            <p:nvPr/>
          </p:nvGrpSpPr>
          <p:grpSpPr>
            <a:xfrm>
              <a:off x="3842678" y="1373217"/>
              <a:ext cx="709392" cy="383437"/>
              <a:chOff x="870856" y="1044864"/>
              <a:chExt cx="1915189" cy="1035191"/>
            </a:xfrm>
          </p:grpSpPr>
          <p:sp>
            <p:nvSpPr>
              <p:cNvPr id="226" name="Freeform 5">
                <a:extLst>
                  <a:ext uri="{FF2B5EF4-FFF2-40B4-BE49-F238E27FC236}">
                    <a16:creationId xmlns:a16="http://schemas.microsoft.com/office/drawing/2014/main" id="{7EBC3DE9-C03E-4E2C-7080-B95C3757210C}"/>
                  </a:ext>
                </a:extLst>
              </p:cNvPr>
              <p:cNvSpPr>
                <a:spLocks/>
              </p:cNvSpPr>
              <p:nvPr/>
            </p:nvSpPr>
            <p:spPr bwMode="auto">
              <a:xfrm rot="16200000">
                <a:off x="1310855" y="1114426"/>
                <a:ext cx="1035191" cy="89606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6A2C6"/>
              </a:solidFill>
              <a:ln w="25400">
                <a:noFill/>
              </a:ln>
              <a:effectLst>
                <a:outerShdw blurRad="190500" dist="63500" dir="2700000" algn="tl" rotWithShape="0">
                  <a:prstClr val="black">
                    <a:alpha val="25000"/>
                  </a:prstClr>
                </a:outerShdw>
              </a:effectLst>
            </p:spPr>
            <p:txBody>
              <a:bodyPr vert="horz" wrap="square" lIns="91440" tIns="45720" rIns="91440" bIns="45720" numCol="1" anchor="t" anchorCtr="0" compatLnSpc="1">
                <a:prstTxWarp prst="textNoShape">
                  <a:avLst/>
                </a:prstTxWarp>
              </a:bodyPr>
              <a:lstStyle/>
              <a:p>
                <a:endParaRPr lang="zh-CN" altLang="en-US" sz="3200" dirty="0">
                  <a:solidFill>
                    <a:schemeClr val="tx1">
                      <a:lumMod val="85000"/>
                      <a:lumOff val="15000"/>
                    </a:schemeClr>
                  </a:solidFill>
                  <a:ea typeface="阿里巴巴普惠体 Medium" pitchFamily="18" charset="-122"/>
                </a:endParaRPr>
              </a:p>
            </p:txBody>
          </p:sp>
          <p:sp>
            <p:nvSpPr>
              <p:cNvPr id="227" name="文本框 17">
                <a:extLst>
                  <a:ext uri="{FF2B5EF4-FFF2-40B4-BE49-F238E27FC236}">
                    <a16:creationId xmlns:a16="http://schemas.microsoft.com/office/drawing/2014/main" id="{7F5D06EE-0E4E-A5D9-B4F3-7E599C489839}"/>
                  </a:ext>
                </a:extLst>
              </p:cNvPr>
              <p:cNvSpPr txBox="1"/>
              <p:nvPr/>
            </p:nvSpPr>
            <p:spPr>
              <a:xfrm>
                <a:off x="870856" y="1171264"/>
                <a:ext cx="1915189" cy="798336"/>
              </a:xfrm>
              <a:prstGeom prst="rect">
                <a:avLst/>
              </a:prstGeom>
              <a:noFill/>
            </p:spPr>
            <p:txBody>
              <a:bodyPr wrap="square" rtlCol="0">
                <a:spAutoFit/>
              </a:bodyPr>
              <a:lstStyle/>
              <a:p>
                <a:pPr algn="ctr"/>
                <a:r>
                  <a:rPr lang="en-US" altLang="zh-CN"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16</a:t>
                </a:r>
                <a:endParaRPr lang="zh-CN" altLang="en-US" sz="1400"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endParaRPr>
              </a:p>
            </p:txBody>
          </p:sp>
        </p:grpSp>
      </p:grpSp>
    </p:spTree>
    <p:extLst>
      <p:ext uri="{BB962C8B-B14F-4D97-AF65-F5344CB8AC3E}">
        <p14:creationId xmlns:p14="http://schemas.microsoft.com/office/powerpoint/2010/main" val="119865228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2"/>
                                        </p:tgtEl>
                                        <p:attrNameLst>
                                          <p:attrName>style.visibility</p:attrName>
                                        </p:attrNameLst>
                                      </p:cBhvr>
                                      <p:to>
                                        <p:strVal val="visible"/>
                                      </p:to>
                                    </p:set>
                                    <p:animEffect transition="in" filter="fade">
                                      <p:cBhvr>
                                        <p:cTn id="14" dur="1000"/>
                                        <p:tgtEl>
                                          <p:spTgt spid="142"/>
                                        </p:tgtEl>
                                      </p:cBhvr>
                                    </p:animEffect>
                                    <p:anim calcmode="lin" valueType="num">
                                      <p:cBhvr>
                                        <p:cTn id="15" dur="1000" fill="hold"/>
                                        <p:tgtEl>
                                          <p:spTgt spid="142"/>
                                        </p:tgtEl>
                                        <p:attrNameLst>
                                          <p:attrName>ppt_x</p:attrName>
                                        </p:attrNameLst>
                                      </p:cBhvr>
                                      <p:tavLst>
                                        <p:tav tm="0">
                                          <p:val>
                                            <p:strVal val="#ppt_x"/>
                                          </p:val>
                                        </p:tav>
                                        <p:tav tm="100000">
                                          <p:val>
                                            <p:strVal val="#ppt_x"/>
                                          </p:val>
                                        </p:tav>
                                      </p:tavLst>
                                    </p:anim>
                                    <p:anim calcmode="lin" valueType="num">
                                      <p:cBhvr>
                                        <p:cTn id="16" dur="1000" fill="hold"/>
                                        <p:tgtEl>
                                          <p:spTgt spid="14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7"/>
                                        </p:tgtEl>
                                        <p:attrNameLst>
                                          <p:attrName>style.visibility</p:attrName>
                                        </p:attrNameLst>
                                      </p:cBhvr>
                                      <p:to>
                                        <p:strVal val="visible"/>
                                      </p:to>
                                    </p:set>
                                    <p:animEffect transition="in" filter="fade">
                                      <p:cBhvr>
                                        <p:cTn id="21" dur="1000"/>
                                        <p:tgtEl>
                                          <p:spTgt spid="147"/>
                                        </p:tgtEl>
                                      </p:cBhvr>
                                    </p:animEffect>
                                    <p:anim calcmode="lin" valueType="num">
                                      <p:cBhvr>
                                        <p:cTn id="22" dur="1000" fill="hold"/>
                                        <p:tgtEl>
                                          <p:spTgt spid="147"/>
                                        </p:tgtEl>
                                        <p:attrNameLst>
                                          <p:attrName>ppt_x</p:attrName>
                                        </p:attrNameLst>
                                      </p:cBhvr>
                                      <p:tavLst>
                                        <p:tav tm="0">
                                          <p:val>
                                            <p:strVal val="#ppt_x"/>
                                          </p:val>
                                        </p:tav>
                                        <p:tav tm="100000">
                                          <p:val>
                                            <p:strVal val="#ppt_x"/>
                                          </p:val>
                                        </p:tav>
                                      </p:tavLst>
                                    </p:anim>
                                    <p:anim calcmode="lin" valueType="num">
                                      <p:cBhvr>
                                        <p:cTn id="23" dur="1000" fill="hold"/>
                                        <p:tgtEl>
                                          <p:spTgt spid="14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52"/>
                                        </p:tgtEl>
                                        <p:attrNameLst>
                                          <p:attrName>style.visibility</p:attrName>
                                        </p:attrNameLst>
                                      </p:cBhvr>
                                      <p:to>
                                        <p:strVal val="visible"/>
                                      </p:to>
                                    </p:set>
                                    <p:animEffect transition="in" filter="fade">
                                      <p:cBhvr>
                                        <p:cTn id="28" dur="1000"/>
                                        <p:tgtEl>
                                          <p:spTgt spid="152"/>
                                        </p:tgtEl>
                                      </p:cBhvr>
                                    </p:animEffect>
                                    <p:anim calcmode="lin" valueType="num">
                                      <p:cBhvr>
                                        <p:cTn id="29" dur="1000" fill="hold"/>
                                        <p:tgtEl>
                                          <p:spTgt spid="152"/>
                                        </p:tgtEl>
                                        <p:attrNameLst>
                                          <p:attrName>ppt_x</p:attrName>
                                        </p:attrNameLst>
                                      </p:cBhvr>
                                      <p:tavLst>
                                        <p:tav tm="0">
                                          <p:val>
                                            <p:strVal val="#ppt_x"/>
                                          </p:val>
                                        </p:tav>
                                        <p:tav tm="100000">
                                          <p:val>
                                            <p:strVal val="#ppt_x"/>
                                          </p:val>
                                        </p:tav>
                                      </p:tavLst>
                                    </p:anim>
                                    <p:anim calcmode="lin" valueType="num">
                                      <p:cBhvr>
                                        <p:cTn id="30" dur="1000" fill="hold"/>
                                        <p:tgtEl>
                                          <p:spTgt spid="15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57"/>
                                        </p:tgtEl>
                                        <p:attrNameLst>
                                          <p:attrName>style.visibility</p:attrName>
                                        </p:attrNameLst>
                                      </p:cBhvr>
                                      <p:to>
                                        <p:strVal val="visible"/>
                                      </p:to>
                                    </p:set>
                                    <p:animEffect transition="in" filter="fade">
                                      <p:cBhvr>
                                        <p:cTn id="35" dur="1000"/>
                                        <p:tgtEl>
                                          <p:spTgt spid="157"/>
                                        </p:tgtEl>
                                      </p:cBhvr>
                                    </p:animEffect>
                                    <p:anim calcmode="lin" valueType="num">
                                      <p:cBhvr>
                                        <p:cTn id="36" dur="1000" fill="hold"/>
                                        <p:tgtEl>
                                          <p:spTgt spid="157"/>
                                        </p:tgtEl>
                                        <p:attrNameLst>
                                          <p:attrName>ppt_x</p:attrName>
                                        </p:attrNameLst>
                                      </p:cBhvr>
                                      <p:tavLst>
                                        <p:tav tm="0">
                                          <p:val>
                                            <p:strVal val="#ppt_x"/>
                                          </p:val>
                                        </p:tav>
                                        <p:tav tm="100000">
                                          <p:val>
                                            <p:strVal val="#ppt_x"/>
                                          </p:val>
                                        </p:tav>
                                      </p:tavLst>
                                    </p:anim>
                                    <p:anim calcmode="lin" valueType="num">
                                      <p:cBhvr>
                                        <p:cTn id="37" dur="1000" fill="hold"/>
                                        <p:tgtEl>
                                          <p:spTgt spid="15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62"/>
                                        </p:tgtEl>
                                        <p:attrNameLst>
                                          <p:attrName>style.visibility</p:attrName>
                                        </p:attrNameLst>
                                      </p:cBhvr>
                                      <p:to>
                                        <p:strVal val="visible"/>
                                      </p:to>
                                    </p:set>
                                    <p:animEffect transition="in" filter="fade">
                                      <p:cBhvr>
                                        <p:cTn id="42" dur="1000"/>
                                        <p:tgtEl>
                                          <p:spTgt spid="162"/>
                                        </p:tgtEl>
                                      </p:cBhvr>
                                    </p:animEffect>
                                    <p:anim calcmode="lin" valueType="num">
                                      <p:cBhvr>
                                        <p:cTn id="43" dur="1000" fill="hold"/>
                                        <p:tgtEl>
                                          <p:spTgt spid="162"/>
                                        </p:tgtEl>
                                        <p:attrNameLst>
                                          <p:attrName>ppt_x</p:attrName>
                                        </p:attrNameLst>
                                      </p:cBhvr>
                                      <p:tavLst>
                                        <p:tav tm="0">
                                          <p:val>
                                            <p:strVal val="#ppt_x"/>
                                          </p:val>
                                        </p:tav>
                                        <p:tav tm="100000">
                                          <p:val>
                                            <p:strVal val="#ppt_x"/>
                                          </p:val>
                                        </p:tav>
                                      </p:tavLst>
                                    </p:anim>
                                    <p:anim calcmode="lin" valueType="num">
                                      <p:cBhvr>
                                        <p:cTn id="44" dur="1000" fill="hold"/>
                                        <p:tgtEl>
                                          <p:spTgt spid="16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67"/>
                                        </p:tgtEl>
                                        <p:attrNameLst>
                                          <p:attrName>style.visibility</p:attrName>
                                        </p:attrNameLst>
                                      </p:cBhvr>
                                      <p:to>
                                        <p:strVal val="visible"/>
                                      </p:to>
                                    </p:set>
                                    <p:animEffect transition="in" filter="fade">
                                      <p:cBhvr>
                                        <p:cTn id="49" dur="1000"/>
                                        <p:tgtEl>
                                          <p:spTgt spid="167"/>
                                        </p:tgtEl>
                                      </p:cBhvr>
                                    </p:animEffect>
                                    <p:anim calcmode="lin" valueType="num">
                                      <p:cBhvr>
                                        <p:cTn id="50" dur="1000" fill="hold"/>
                                        <p:tgtEl>
                                          <p:spTgt spid="167"/>
                                        </p:tgtEl>
                                        <p:attrNameLst>
                                          <p:attrName>ppt_x</p:attrName>
                                        </p:attrNameLst>
                                      </p:cBhvr>
                                      <p:tavLst>
                                        <p:tav tm="0">
                                          <p:val>
                                            <p:strVal val="#ppt_x"/>
                                          </p:val>
                                        </p:tav>
                                        <p:tav tm="100000">
                                          <p:val>
                                            <p:strVal val="#ppt_x"/>
                                          </p:val>
                                        </p:tav>
                                      </p:tavLst>
                                    </p:anim>
                                    <p:anim calcmode="lin" valueType="num">
                                      <p:cBhvr>
                                        <p:cTn id="51" dur="1000" fill="hold"/>
                                        <p:tgtEl>
                                          <p:spTgt spid="167"/>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98"/>
                                        </p:tgtEl>
                                        <p:attrNameLst>
                                          <p:attrName>style.visibility</p:attrName>
                                        </p:attrNameLst>
                                      </p:cBhvr>
                                      <p:to>
                                        <p:strVal val="visible"/>
                                      </p:to>
                                    </p:set>
                                    <p:animEffect transition="in" filter="fade">
                                      <p:cBhvr>
                                        <p:cTn id="56" dur="1000"/>
                                        <p:tgtEl>
                                          <p:spTgt spid="198"/>
                                        </p:tgtEl>
                                      </p:cBhvr>
                                    </p:animEffect>
                                    <p:anim calcmode="lin" valueType="num">
                                      <p:cBhvr>
                                        <p:cTn id="57" dur="1000" fill="hold"/>
                                        <p:tgtEl>
                                          <p:spTgt spid="198"/>
                                        </p:tgtEl>
                                        <p:attrNameLst>
                                          <p:attrName>ppt_x</p:attrName>
                                        </p:attrNameLst>
                                      </p:cBhvr>
                                      <p:tavLst>
                                        <p:tav tm="0">
                                          <p:val>
                                            <p:strVal val="#ppt_x"/>
                                          </p:val>
                                        </p:tav>
                                        <p:tav tm="100000">
                                          <p:val>
                                            <p:strVal val="#ppt_x"/>
                                          </p:val>
                                        </p:tav>
                                      </p:tavLst>
                                    </p:anim>
                                    <p:anim calcmode="lin" valueType="num">
                                      <p:cBhvr>
                                        <p:cTn id="58" dur="1000" fill="hold"/>
                                        <p:tgtEl>
                                          <p:spTgt spid="198"/>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77"/>
                                        </p:tgtEl>
                                        <p:attrNameLst>
                                          <p:attrName>style.visibility</p:attrName>
                                        </p:attrNameLst>
                                      </p:cBhvr>
                                      <p:to>
                                        <p:strVal val="visible"/>
                                      </p:to>
                                    </p:set>
                                    <p:animEffect transition="in" filter="fade">
                                      <p:cBhvr>
                                        <p:cTn id="63" dur="1000"/>
                                        <p:tgtEl>
                                          <p:spTgt spid="177"/>
                                        </p:tgtEl>
                                      </p:cBhvr>
                                    </p:animEffect>
                                    <p:anim calcmode="lin" valueType="num">
                                      <p:cBhvr>
                                        <p:cTn id="64" dur="1000" fill="hold"/>
                                        <p:tgtEl>
                                          <p:spTgt spid="177"/>
                                        </p:tgtEl>
                                        <p:attrNameLst>
                                          <p:attrName>ppt_x</p:attrName>
                                        </p:attrNameLst>
                                      </p:cBhvr>
                                      <p:tavLst>
                                        <p:tav tm="0">
                                          <p:val>
                                            <p:strVal val="#ppt_x"/>
                                          </p:val>
                                        </p:tav>
                                        <p:tav tm="100000">
                                          <p:val>
                                            <p:strVal val="#ppt_x"/>
                                          </p:val>
                                        </p:tav>
                                      </p:tavLst>
                                    </p:anim>
                                    <p:anim calcmode="lin" valueType="num">
                                      <p:cBhvr>
                                        <p:cTn id="65" dur="1000" fill="hold"/>
                                        <p:tgtEl>
                                          <p:spTgt spid="17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82"/>
                                        </p:tgtEl>
                                        <p:attrNameLst>
                                          <p:attrName>style.visibility</p:attrName>
                                        </p:attrNameLst>
                                      </p:cBhvr>
                                      <p:to>
                                        <p:strVal val="visible"/>
                                      </p:to>
                                    </p:set>
                                    <p:animEffect transition="in" filter="fade">
                                      <p:cBhvr>
                                        <p:cTn id="70" dur="1000"/>
                                        <p:tgtEl>
                                          <p:spTgt spid="182"/>
                                        </p:tgtEl>
                                      </p:cBhvr>
                                    </p:animEffect>
                                    <p:anim calcmode="lin" valueType="num">
                                      <p:cBhvr>
                                        <p:cTn id="71" dur="1000" fill="hold"/>
                                        <p:tgtEl>
                                          <p:spTgt spid="182"/>
                                        </p:tgtEl>
                                        <p:attrNameLst>
                                          <p:attrName>ppt_x</p:attrName>
                                        </p:attrNameLst>
                                      </p:cBhvr>
                                      <p:tavLst>
                                        <p:tav tm="0">
                                          <p:val>
                                            <p:strVal val="#ppt_x"/>
                                          </p:val>
                                        </p:tav>
                                        <p:tav tm="100000">
                                          <p:val>
                                            <p:strVal val="#ppt_x"/>
                                          </p:val>
                                        </p:tav>
                                      </p:tavLst>
                                    </p:anim>
                                    <p:anim calcmode="lin" valueType="num">
                                      <p:cBhvr>
                                        <p:cTn id="72" dur="1000" fill="hold"/>
                                        <p:tgtEl>
                                          <p:spTgt spid="182"/>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187"/>
                                        </p:tgtEl>
                                        <p:attrNameLst>
                                          <p:attrName>style.visibility</p:attrName>
                                        </p:attrNameLst>
                                      </p:cBhvr>
                                      <p:to>
                                        <p:strVal val="visible"/>
                                      </p:to>
                                    </p:set>
                                    <p:animEffect transition="in" filter="fade">
                                      <p:cBhvr>
                                        <p:cTn id="77" dur="1000"/>
                                        <p:tgtEl>
                                          <p:spTgt spid="187"/>
                                        </p:tgtEl>
                                      </p:cBhvr>
                                    </p:animEffect>
                                    <p:anim calcmode="lin" valueType="num">
                                      <p:cBhvr>
                                        <p:cTn id="78" dur="1000" fill="hold"/>
                                        <p:tgtEl>
                                          <p:spTgt spid="187"/>
                                        </p:tgtEl>
                                        <p:attrNameLst>
                                          <p:attrName>ppt_x</p:attrName>
                                        </p:attrNameLst>
                                      </p:cBhvr>
                                      <p:tavLst>
                                        <p:tav tm="0">
                                          <p:val>
                                            <p:strVal val="#ppt_x"/>
                                          </p:val>
                                        </p:tav>
                                        <p:tav tm="100000">
                                          <p:val>
                                            <p:strVal val="#ppt_x"/>
                                          </p:val>
                                        </p:tav>
                                      </p:tavLst>
                                    </p:anim>
                                    <p:anim calcmode="lin" valueType="num">
                                      <p:cBhvr>
                                        <p:cTn id="79" dur="1000" fill="hold"/>
                                        <p:tgtEl>
                                          <p:spTgt spid="187"/>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203"/>
                                        </p:tgtEl>
                                        <p:attrNameLst>
                                          <p:attrName>style.visibility</p:attrName>
                                        </p:attrNameLst>
                                      </p:cBhvr>
                                      <p:to>
                                        <p:strVal val="visible"/>
                                      </p:to>
                                    </p:set>
                                    <p:animEffect transition="in" filter="fade">
                                      <p:cBhvr>
                                        <p:cTn id="84" dur="1000"/>
                                        <p:tgtEl>
                                          <p:spTgt spid="203"/>
                                        </p:tgtEl>
                                      </p:cBhvr>
                                    </p:animEffect>
                                    <p:anim calcmode="lin" valueType="num">
                                      <p:cBhvr>
                                        <p:cTn id="85" dur="1000" fill="hold"/>
                                        <p:tgtEl>
                                          <p:spTgt spid="203"/>
                                        </p:tgtEl>
                                        <p:attrNameLst>
                                          <p:attrName>ppt_x</p:attrName>
                                        </p:attrNameLst>
                                      </p:cBhvr>
                                      <p:tavLst>
                                        <p:tav tm="0">
                                          <p:val>
                                            <p:strVal val="#ppt_x"/>
                                          </p:val>
                                        </p:tav>
                                        <p:tav tm="100000">
                                          <p:val>
                                            <p:strVal val="#ppt_x"/>
                                          </p:val>
                                        </p:tav>
                                      </p:tavLst>
                                    </p:anim>
                                    <p:anim calcmode="lin" valueType="num">
                                      <p:cBhvr>
                                        <p:cTn id="86" dur="1000" fill="hold"/>
                                        <p:tgtEl>
                                          <p:spTgt spid="203"/>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208"/>
                                        </p:tgtEl>
                                        <p:attrNameLst>
                                          <p:attrName>style.visibility</p:attrName>
                                        </p:attrNameLst>
                                      </p:cBhvr>
                                      <p:to>
                                        <p:strVal val="visible"/>
                                      </p:to>
                                    </p:set>
                                    <p:animEffect transition="in" filter="fade">
                                      <p:cBhvr>
                                        <p:cTn id="91" dur="1000"/>
                                        <p:tgtEl>
                                          <p:spTgt spid="208"/>
                                        </p:tgtEl>
                                      </p:cBhvr>
                                    </p:animEffect>
                                    <p:anim calcmode="lin" valueType="num">
                                      <p:cBhvr>
                                        <p:cTn id="92" dur="1000" fill="hold"/>
                                        <p:tgtEl>
                                          <p:spTgt spid="208"/>
                                        </p:tgtEl>
                                        <p:attrNameLst>
                                          <p:attrName>ppt_x</p:attrName>
                                        </p:attrNameLst>
                                      </p:cBhvr>
                                      <p:tavLst>
                                        <p:tav tm="0">
                                          <p:val>
                                            <p:strVal val="#ppt_x"/>
                                          </p:val>
                                        </p:tav>
                                        <p:tav tm="100000">
                                          <p:val>
                                            <p:strVal val="#ppt_x"/>
                                          </p:val>
                                        </p:tav>
                                      </p:tavLst>
                                    </p:anim>
                                    <p:anim calcmode="lin" valueType="num">
                                      <p:cBhvr>
                                        <p:cTn id="93" dur="1000" fill="hold"/>
                                        <p:tgtEl>
                                          <p:spTgt spid="208"/>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213"/>
                                        </p:tgtEl>
                                        <p:attrNameLst>
                                          <p:attrName>style.visibility</p:attrName>
                                        </p:attrNameLst>
                                      </p:cBhvr>
                                      <p:to>
                                        <p:strVal val="visible"/>
                                      </p:to>
                                    </p:set>
                                    <p:animEffect transition="in" filter="fade">
                                      <p:cBhvr>
                                        <p:cTn id="98" dur="1000"/>
                                        <p:tgtEl>
                                          <p:spTgt spid="213"/>
                                        </p:tgtEl>
                                      </p:cBhvr>
                                    </p:animEffect>
                                    <p:anim calcmode="lin" valueType="num">
                                      <p:cBhvr>
                                        <p:cTn id="99" dur="1000" fill="hold"/>
                                        <p:tgtEl>
                                          <p:spTgt spid="213"/>
                                        </p:tgtEl>
                                        <p:attrNameLst>
                                          <p:attrName>ppt_x</p:attrName>
                                        </p:attrNameLst>
                                      </p:cBhvr>
                                      <p:tavLst>
                                        <p:tav tm="0">
                                          <p:val>
                                            <p:strVal val="#ppt_x"/>
                                          </p:val>
                                        </p:tav>
                                        <p:tav tm="100000">
                                          <p:val>
                                            <p:strVal val="#ppt_x"/>
                                          </p:val>
                                        </p:tav>
                                      </p:tavLst>
                                    </p:anim>
                                    <p:anim calcmode="lin" valueType="num">
                                      <p:cBhvr>
                                        <p:cTn id="100" dur="1000" fill="hold"/>
                                        <p:tgtEl>
                                          <p:spTgt spid="213"/>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218"/>
                                        </p:tgtEl>
                                        <p:attrNameLst>
                                          <p:attrName>style.visibility</p:attrName>
                                        </p:attrNameLst>
                                      </p:cBhvr>
                                      <p:to>
                                        <p:strVal val="visible"/>
                                      </p:to>
                                    </p:set>
                                    <p:animEffect transition="in" filter="fade">
                                      <p:cBhvr>
                                        <p:cTn id="105" dur="1000"/>
                                        <p:tgtEl>
                                          <p:spTgt spid="218"/>
                                        </p:tgtEl>
                                      </p:cBhvr>
                                    </p:animEffect>
                                    <p:anim calcmode="lin" valueType="num">
                                      <p:cBhvr>
                                        <p:cTn id="106" dur="1000" fill="hold"/>
                                        <p:tgtEl>
                                          <p:spTgt spid="218"/>
                                        </p:tgtEl>
                                        <p:attrNameLst>
                                          <p:attrName>ppt_x</p:attrName>
                                        </p:attrNameLst>
                                      </p:cBhvr>
                                      <p:tavLst>
                                        <p:tav tm="0">
                                          <p:val>
                                            <p:strVal val="#ppt_x"/>
                                          </p:val>
                                        </p:tav>
                                        <p:tav tm="100000">
                                          <p:val>
                                            <p:strVal val="#ppt_x"/>
                                          </p:val>
                                        </p:tav>
                                      </p:tavLst>
                                    </p:anim>
                                    <p:anim calcmode="lin" valueType="num">
                                      <p:cBhvr>
                                        <p:cTn id="107" dur="1000" fill="hold"/>
                                        <p:tgtEl>
                                          <p:spTgt spid="218"/>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nodeType="clickEffect">
                                  <p:stCondLst>
                                    <p:cond delay="0"/>
                                  </p:stCondLst>
                                  <p:childTnLst>
                                    <p:set>
                                      <p:cBhvr>
                                        <p:cTn id="111" dur="1" fill="hold">
                                          <p:stCondLst>
                                            <p:cond delay="0"/>
                                          </p:stCondLst>
                                        </p:cTn>
                                        <p:tgtEl>
                                          <p:spTgt spid="223"/>
                                        </p:tgtEl>
                                        <p:attrNameLst>
                                          <p:attrName>style.visibility</p:attrName>
                                        </p:attrNameLst>
                                      </p:cBhvr>
                                      <p:to>
                                        <p:strVal val="visible"/>
                                      </p:to>
                                    </p:set>
                                    <p:animEffect transition="in" filter="fade">
                                      <p:cBhvr>
                                        <p:cTn id="112" dur="1000"/>
                                        <p:tgtEl>
                                          <p:spTgt spid="223"/>
                                        </p:tgtEl>
                                      </p:cBhvr>
                                    </p:animEffect>
                                    <p:anim calcmode="lin" valueType="num">
                                      <p:cBhvr>
                                        <p:cTn id="113" dur="1000" fill="hold"/>
                                        <p:tgtEl>
                                          <p:spTgt spid="223"/>
                                        </p:tgtEl>
                                        <p:attrNameLst>
                                          <p:attrName>ppt_x</p:attrName>
                                        </p:attrNameLst>
                                      </p:cBhvr>
                                      <p:tavLst>
                                        <p:tav tm="0">
                                          <p:val>
                                            <p:strVal val="#ppt_x"/>
                                          </p:val>
                                        </p:tav>
                                        <p:tav tm="100000">
                                          <p:val>
                                            <p:strVal val="#ppt_x"/>
                                          </p:val>
                                        </p:tav>
                                      </p:tavLst>
                                    </p:anim>
                                    <p:anim calcmode="lin" valueType="num">
                                      <p:cBhvr>
                                        <p:cTn id="114" dur="1000" fill="hold"/>
                                        <p:tgtEl>
                                          <p:spTgt spid="2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30">
            <a:extLst>
              <a:ext uri="{FF2B5EF4-FFF2-40B4-BE49-F238E27FC236}">
                <a16:creationId xmlns:a16="http://schemas.microsoft.com/office/drawing/2014/main" id="{BA8EA202-F87D-45AF-91DB-F2B3A7B8F57B}"/>
              </a:ext>
            </a:extLst>
          </p:cNvPr>
          <p:cNvSpPr txBox="1"/>
          <p:nvPr/>
        </p:nvSpPr>
        <p:spPr>
          <a:xfrm>
            <a:off x="1503355" y="2558574"/>
            <a:ext cx="2436372" cy="2323713"/>
          </a:xfrm>
          <a:prstGeom prst="rect">
            <a:avLst/>
          </a:prstGeom>
          <a:noFill/>
        </p:spPr>
        <p:txBody>
          <a:bodyPr wrap="square" rtlCol="0">
            <a:spAutoFit/>
          </a:bodyPr>
          <a:lstStyle/>
          <a:p>
            <a:pPr algn="r" defTabSz="228600"/>
            <a:r>
              <a:rPr lang="en-US" altLang="zh-CN"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rPr>
              <a:t>01</a:t>
            </a:r>
            <a:endParaRPr lang="zh-CN" altLang="en-US"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endParaRPr>
          </a:p>
        </p:txBody>
      </p:sp>
      <p:sp>
        <p:nvSpPr>
          <p:cNvPr id="12" name="文本框 11"/>
          <p:cNvSpPr txBox="1"/>
          <p:nvPr/>
        </p:nvSpPr>
        <p:spPr>
          <a:xfrm>
            <a:off x="4523009" y="2732133"/>
            <a:ext cx="6469533" cy="1067343"/>
          </a:xfrm>
          <a:prstGeom prst="rect">
            <a:avLst/>
          </a:prstGeom>
          <a:noFill/>
          <a:scene3d>
            <a:camera prst="orthographicFront"/>
            <a:lightRig rig="threePt" dir="t"/>
          </a:scene3d>
        </p:spPr>
        <p:txBody>
          <a:bodyPr wrap="square" rtlCol="0">
            <a:spAutoFit/>
          </a:bodyPr>
          <a:lstStyle/>
          <a:p>
            <a:pPr>
              <a:lnSpc>
                <a:spcPct val="130000"/>
              </a:lnSpc>
            </a:pPr>
            <a:r>
              <a:rPr lang="en-US" altLang="zh-CN" sz="5400" b="1" dirty="0">
                <a:solidFill>
                  <a:srgbClr val="1B1B1B"/>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Project Overview</a:t>
            </a:r>
          </a:p>
        </p:txBody>
      </p:sp>
      <p:sp>
        <p:nvSpPr>
          <p:cNvPr id="13" name="Rectangle 3"/>
          <p:cNvSpPr>
            <a:spLocks/>
          </p:cNvSpPr>
          <p:nvPr/>
        </p:nvSpPr>
        <p:spPr bwMode="auto">
          <a:xfrm>
            <a:off x="4622835" y="3804722"/>
            <a:ext cx="5346619" cy="1363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20000"/>
              </a:lnSpc>
              <a:spcBef>
                <a:spcPct val="0"/>
              </a:spcBef>
              <a:buSzTx/>
              <a:buNone/>
            </a:pPr>
            <a:endPar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endParaRPr>
          </a:p>
          <a:p>
            <a:pPr>
              <a:lnSpc>
                <a:spcPct val="120000"/>
              </a:lnSpc>
              <a:spcBef>
                <a:spcPct val="0"/>
              </a:spcBef>
              <a:buSzTx/>
              <a:buNone/>
            </a:pPr>
            <a:r>
              <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rPr>
              <a:t>This project explores UK train ride data using Power BI. It involves cleaning raw data, building a relational model, visualizing insights through interactive dashboards.</a:t>
            </a:r>
          </a:p>
          <a:p>
            <a:pPr eaLnBrk="1">
              <a:lnSpc>
                <a:spcPct val="120000"/>
              </a:lnSpc>
              <a:spcBef>
                <a:spcPct val="0"/>
              </a:spcBef>
              <a:buSzTx/>
              <a:buFontTx/>
              <a:buNone/>
            </a:pPr>
            <a:endParaRPr lang="zh-CN"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endParaRPr>
          </a:p>
        </p:txBody>
      </p:sp>
      <p:sp>
        <p:nvSpPr>
          <p:cNvPr id="14" name="平行四边形 13"/>
          <p:cNvSpPr/>
          <p:nvPr/>
        </p:nvSpPr>
        <p:spPr>
          <a:xfrm flipH="1" flipV="1">
            <a:off x="11498754" y="5765570"/>
            <a:ext cx="1077967" cy="1119813"/>
          </a:xfrm>
          <a:prstGeom prst="parallelogram">
            <a:avLst>
              <a:gd name="adj" fmla="val 70972"/>
            </a:avLst>
          </a:prstGeom>
          <a:gradFill>
            <a:gsLst>
              <a:gs pos="0">
                <a:srgbClr val="E4E4E4">
                  <a:alpha val="34000"/>
                </a:srgbClr>
              </a:gs>
              <a:gs pos="85000">
                <a:srgbClr val="E4E4E4">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a:off x="8328249" y="3223805"/>
            <a:ext cx="3880471" cy="3645810"/>
          </a:xfrm>
          <a:prstGeom prst="triangle">
            <a:avLst>
              <a:gd name="adj" fmla="val 100000"/>
            </a:avLst>
          </a:prstGeom>
          <a:gradFill>
            <a:gsLst>
              <a:gs pos="3614">
                <a:srgbClr val="66A2C6"/>
              </a:gs>
              <a:gs pos="65000">
                <a:srgbClr val="0E4576"/>
              </a:gs>
              <a:gs pos="100000">
                <a:srgbClr val="102A52"/>
              </a:gs>
            </a:gsLst>
            <a:lin ang="5400000" scaled="1"/>
          </a:gradFill>
          <a:ln>
            <a:noFill/>
          </a:ln>
          <a:effectLst>
            <a:outerShdw blurRad="101600" dist="38100" dir="13500000" algn="b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nvSpPr>
        <p:spPr>
          <a:xfrm flipH="1" flipV="1">
            <a:off x="-46848" y="0"/>
            <a:ext cx="3046503" cy="2862274"/>
          </a:xfrm>
          <a:prstGeom prst="triangle">
            <a:avLst>
              <a:gd name="adj" fmla="val 100000"/>
            </a:avLst>
          </a:prstGeom>
          <a:solidFill>
            <a:srgbClr val="0E4576"/>
          </a:solidFill>
          <a:ln>
            <a:no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1415482" y="3505891"/>
            <a:ext cx="2552327" cy="3551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Box 30">
            <a:extLst>
              <a:ext uri="{FF2B5EF4-FFF2-40B4-BE49-F238E27FC236}">
                <a16:creationId xmlns:a16="http://schemas.microsoft.com/office/drawing/2014/main" id="{BA8EA202-F87D-45AF-91DB-F2B3A7B8F57B}"/>
              </a:ext>
            </a:extLst>
          </p:cNvPr>
          <p:cNvSpPr txBox="1"/>
          <p:nvPr/>
        </p:nvSpPr>
        <p:spPr>
          <a:xfrm>
            <a:off x="1957488" y="3521656"/>
            <a:ext cx="1352357" cy="338554"/>
          </a:xfrm>
          <a:prstGeom prst="rect">
            <a:avLst/>
          </a:prstGeom>
          <a:noFill/>
        </p:spPr>
        <p:txBody>
          <a:bodyPr wrap="square" rtlCol="0">
            <a:spAutoFit/>
          </a:bodyPr>
          <a:lstStyle/>
          <a:p>
            <a:pPr algn="ctr" defTabSz="228600"/>
            <a:r>
              <a:rPr lang="en-US" altLang="zh-CN"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rPr>
              <a:t>Part One</a:t>
            </a:r>
            <a:endParaRPr lang="zh-CN" altLang="en-US"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endParaRPr>
          </a:p>
        </p:txBody>
      </p:sp>
      <p:cxnSp>
        <p:nvCxnSpPr>
          <p:cNvPr id="31" name="直接连接符 30"/>
          <p:cNvCxnSpPr/>
          <p:nvPr/>
        </p:nvCxnSpPr>
        <p:spPr>
          <a:xfrm>
            <a:off x="4104487" y="2940710"/>
            <a:ext cx="0" cy="1510342"/>
          </a:xfrm>
          <a:prstGeom prst="line">
            <a:avLst/>
          </a:prstGeom>
          <a:ln w="12700">
            <a:solidFill>
              <a:srgbClr val="2D354B">
                <a:alpha val="20000"/>
              </a:srgbClr>
            </a:solidFill>
          </a:ln>
        </p:spPr>
        <p:style>
          <a:lnRef idx="1">
            <a:schemeClr val="accent1"/>
          </a:lnRef>
          <a:fillRef idx="0">
            <a:schemeClr val="accent1"/>
          </a:fillRef>
          <a:effectRef idx="0">
            <a:schemeClr val="accent1"/>
          </a:effectRef>
          <a:fontRef idx="minor">
            <a:schemeClr val="tx1"/>
          </a:fontRef>
        </p:style>
      </p:cxnSp>
      <p:sp>
        <p:nvSpPr>
          <p:cNvPr id="32" name="圆角矩形 31"/>
          <p:cNvSpPr/>
          <p:nvPr/>
        </p:nvSpPr>
        <p:spPr>
          <a:xfrm rot="2700000">
            <a:off x="609964" y="726490"/>
            <a:ext cx="369745" cy="369745"/>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94C5DE"/>
                  </a:gs>
                  <a:gs pos="100000">
                    <a:srgbClr val="356A9C"/>
                  </a:gs>
                </a:gsLst>
                <a:lin ang="2700000" scaled="0"/>
              </a:gradFill>
            </a:endParaRPr>
          </a:p>
        </p:txBody>
      </p:sp>
      <p:sp>
        <p:nvSpPr>
          <p:cNvPr id="33" name="圆角矩形 32"/>
          <p:cNvSpPr/>
          <p:nvPr/>
        </p:nvSpPr>
        <p:spPr>
          <a:xfrm rot="2700000">
            <a:off x="555613" y="1858238"/>
            <a:ext cx="134147" cy="134147"/>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a:stCxn id="17" idx="2"/>
            <a:endCxn id="17" idx="0"/>
          </p:cNvCxnSpPr>
          <p:nvPr/>
        </p:nvCxnSpPr>
        <p:spPr>
          <a:xfrm flipH="1">
            <a:off x="-46848" y="0"/>
            <a:ext cx="3046503" cy="2862274"/>
          </a:xfrm>
          <a:prstGeom prst="line">
            <a:avLst/>
          </a:prstGeom>
          <a:ln w="57150">
            <a:gradFill>
              <a:gsLst>
                <a:gs pos="0">
                  <a:srgbClr val="66A2C6">
                    <a:alpha val="0"/>
                  </a:srgbClr>
                </a:gs>
                <a:gs pos="100000">
                  <a:srgbClr val="66A2C6"/>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圆角矩形 33"/>
          <p:cNvSpPr/>
          <p:nvPr/>
        </p:nvSpPr>
        <p:spPr>
          <a:xfrm rot="2700000">
            <a:off x="1627747" y="647742"/>
            <a:ext cx="600616" cy="600616"/>
          </a:xfrm>
          <a:prstGeom prst="roundRect">
            <a:avLst>
              <a:gd name="adj" fmla="val 6915"/>
            </a:avLst>
          </a:prstGeom>
          <a:noFill/>
          <a:ln w="50800">
            <a:gradFill>
              <a:gsLst>
                <a:gs pos="0">
                  <a:srgbClr val="66A2C6"/>
                </a:gs>
                <a:gs pos="100000">
                  <a:srgbClr val="0E4576"/>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74" name="Picture 2" descr="Project plan - Free files and folders icons">
            <a:extLst>
              <a:ext uri="{FF2B5EF4-FFF2-40B4-BE49-F238E27FC236}">
                <a16:creationId xmlns:a16="http://schemas.microsoft.com/office/drawing/2014/main" id="{21D523F3-4FA2-66FC-A91B-8BA103E64F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0890" y="649913"/>
            <a:ext cx="2271385" cy="2271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85658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p:cTn id="13" dur="500" fill="hold"/>
                                        <p:tgtEl>
                                          <p:spTgt spid="32"/>
                                        </p:tgtEl>
                                        <p:attrNameLst>
                                          <p:attrName>ppt_w</p:attrName>
                                        </p:attrNameLst>
                                      </p:cBhvr>
                                      <p:tavLst>
                                        <p:tav tm="0">
                                          <p:val>
                                            <p:fltVal val="0"/>
                                          </p:val>
                                        </p:tav>
                                        <p:tav tm="100000">
                                          <p:val>
                                            <p:strVal val="#ppt_w"/>
                                          </p:val>
                                        </p:tav>
                                      </p:tavLst>
                                    </p:anim>
                                    <p:anim calcmode="lin" valueType="num">
                                      <p:cBhvr>
                                        <p:cTn id="14" dur="500" fill="hold"/>
                                        <p:tgtEl>
                                          <p:spTgt spid="32"/>
                                        </p:tgtEl>
                                        <p:attrNameLst>
                                          <p:attrName>ppt_h</p:attrName>
                                        </p:attrNameLst>
                                      </p:cBhvr>
                                      <p:tavLst>
                                        <p:tav tm="0">
                                          <p:val>
                                            <p:fltVal val="0"/>
                                          </p:val>
                                        </p:tav>
                                        <p:tav tm="100000">
                                          <p:val>
                                            <p:strVal val="#ppt_h"/>
                                          </p:val>
                                        </p:tav>
                                      </p:tavLst>
                                    </p:anim>
                                    <p:animEffect transition="in" filter="fade">
                                      <p:cBhvr>
                                        <p:cTn id="15" dur="500"/>
                                        <p:tgtEl>
                                          <p:spTgt spid="32"/>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 calcmode="lin" valueType="num">
                                      <p:cBhvr>
                                        <p:cTn id="18" dur="500" fill="hold"/>
                                        <p:tgtEl>
                                          <p:spTgt spid="33"/>
                                        </p:tgtEl>
                                        <p:attrNameLst>
                                          <p:attrName>ppt_w</p:attrName>
                                        </p:attrNameLst>
                                      </p:cBhvr>
                                      <p:tavLst>
                                        <p:tav tm="0">
                                          <p:val>
                                            <p:fltVal val="0"/>
                                          </p:val>
                                        </p:tav>
                                        <p:tav tm="100000">
                                          <p:val>
                                            <p:strVal val="#ppt_w"/>
                                          </p:val>
                                        </p:tav>
                                      </p:tavLst>
                                    </p:anim>
                                    <p:anim calcmode="lin" valueType="num">
                                      <p:cBhvr>
                                        <p:cTn id="19" dur="500" fill="hold"/>
                                        <p:tgtEl>
                                          <p:spTgt spid="33"/>
                                        </p:tgtEl>
                                        <p:attrNameLst>
                                          <p:attrName>ppt_h</p:attrName>
                                        </p:attrNameLst>
                                      </p:cBhvr>
                                      <p:tavLst>
                                        <p:tav tm="0">
                                          <p:val>
                                            <p:fltVal val="0"/>
                                          </p:val>
                                        </p:tav>
                                        <p:tav tm="100000">
                                          <p:val>
                                            <p:strVal val="#ppt_h"/>
                                          </p:val>
                                        </p:tav>
                                      </p:tavLst>
                                    </p:anim>
                                    <p:animEffect transition="in" filter="fade">
                                      <p:cBhvr>
                                        <p:cTn id="20" dur="500"/>
                                        <p:tgtEl>
                                          <p:spTgt spid="33"/>
                                        </p:tgtEl>
                                      </p:cBhvr>
                                    </p:animEffect>
                                  </p:childTnLst>
                                </p:cTn>
                              </p:par>
                              <p:par>
                                <p:cTn id="21" presetID="16" presetClass="entr" presetSubtype="21" fill="hold" grpId="0" nodeType="withEffect">
                                  <p:stCondLst>
                                    <p:cond delay="250"/>
                                  </p:stCondLst>
                                  <p:childTnLst>
                                    <p:set>
                                      <p:cBhvr>
                                        <p:cTn id="22" dur="1" fill="hold">
                                          <p:stCondLst>
                                            <p:cond delay="0"/>
                                          </p:stCondLst>
                                        </p:cTn>
                                        <p:tgtEl>
                                          <p:spTgt spid="30"/>
                                        </p:tgtEl>
                                        <p:attrNameLst>
                                          <p:attrName>style.visibility</p:attrName>
                                        </p:attrNameLst>
                                      </p:cBhvr>
                                      <p:to>
                                        <p:strVal val="visible"/>
                                      </p:to>
                                    </p:set>
                                    <p:animEffect transition="in" filter="barn(inVertical)">
                                      <p:cBhvr>
                                        <p:cTn id="23" dur="500"/>
                                        <p:tgtEl>
                                          <p:spTgt spid="30"/>
                                        </p:tgtEl>
                                      </p:cBhvr>
                                    </p:animEffect>
                                  </p:childTnLst>
                                </p:cTn>
                              </p:par>
                              <p:par>
                                <p:cTn id="24" presetID="16" presetClass="entr" presetSubtype="42" fill="hold" nodeType="withEffect">
                                  <p:stCondLst>
                                    <p:cond delay="250"/>
                                  </p:stCondLst>
                                  <p:childTnLst>
                                    <p:set>
                                      <p:cBhvr>
                                        <p:cTn id="25" dur="1" fill="hold">
                                          <p:stCondLst>
                                            <p:cond delay="0"/>
                                          </p:stCondLst>
                                        </p:cTn>
                                        <p:tgtEl>
                                          <p:spTgt spid="31"/>
                                        </p:tgtEl>
                                        <p:attrNameLst>
                                          <p:attrName>style.visibility</p:attrName>
                                        </p:attrNameLst>
                                      </p:cBhvr>
                                      <p:to>
                                        <p:strVal val="visible"/>
                                      </p:to>
                                    </p:set>
                                    <p:animEffect transition="in" filter="barn(outHorizontal)">
                                      <p:cBhvr>
                                        <p:cTn id="26" dur="500"/>
                                        <p:tgtEl>
                                          <p:spTgt spid="31"/>
                                        </p:tgtEl>
                                      </p:cBhvr>
                                    </p:animEffect>
                                  </p:childTnLst>
                                </p:cTn>
                              </p:par>
                              <p:par>
                                <p:cTn id="27" presetID="41" presetClass="entr" presetSubtype="0" fill="hold" grpId="0" nodeType="withEffect">
                                  <p:stCondLst>
                                    <p:cond delay="500"/>
                                  </p:stCondLst>
                                  <p:iterate type="lt">
                                    <p:tmPct val="10000"/>
                                  </p:iterate>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12"/>
                                        </p:tgtEl>
                                        <p:attrNameLst>
                                          <p:attrName>ppt_y</p:attrName>
                                        </p:attrNameLst>
                                      </p:cBhvr>
                                      <p:tavLst>
                                        <p:tav tm="0">
                                          <p:val>
                                            <p:strVal val="#ppt_y"/>
                                          </p:val>
                                        </p:tav>
                                        <p:tav tm="100000">
                                          <p:val>
                                            <p:strVal val="#ppt_y"/>
                                          </p:val>
                                        </p:tav>
                                      </p:tavLst>
                                    </p:anim>
                                    <p:anim calcmode="lin" valueType="num">
                                      <p:cBhvr>
                                        <p:cTn id="31"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12"/>
                                        </p:tgtEl>
                                      </p:cBhvr>
                                    </p:animEffect>
                                  </p:childTnLst>
                                </p:cTn>
                              </p:par>
                              <p:par>
                                <p:cTn id="34" presetID="42" presetClass="entr" presetSubtype="0" fill="hold" grpId="0" nodeType="withEffect">
                                  <p:stCondLst>
                                    <p:cond delay="7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par>
                                <p:cTn id="39" presetID="16" presetClass="entr" presetSubtype="21" fill="hold" grpId="0" nodeType="withEffect">
                                  <p:stCondLst>
                                    <p:cond delay="250"/>
                                  </p:stCondLst>
                                  <p:childTnLst>
                                    <p:set>
                                      <p:cBhvr>
                                        <p:cTn id="40" dur="1" fill="hold">
                                          <p:stCondLst>
                                            <p:cond delay="0"/>
                                          </p:stCondLst>
                                        </p:cTn>
                                        <p:tgtEl>
                                          <p:spTgt spid="11"/>
                                        </p:tgtEl>
                                        <p:attrNameLst>
                                          <p:attrName>style.visibility</p:attrName>
                                        </p:attrNameLst>
                                      </p:cBhvr>
                                      <p:to>
                                        <p:strVal val="visible"/>
                                      </p:to>
                                    </p:set>
                                    <p:animEffect transition="in" filter="barn(inVertical)">
                                      <p:cBhvr>
                                        <p:cTn id="41" dur="500"/>
                                        <p:tgtEl>
                                          <p:spTgt spid="11"/>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par>
                                <p:cTn id="47" presetID="22" presetClass="entr" presetSubtype="4" fill="hold" nodeType="with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5" grpId="0" animBg="1"/>
      <p:bldP spid="17" grpId="0" animBg="1"/>
      <p:bldP spid="30" grpId="0"/>
      <p:bldP spid="32" grpId="0" animBg="1"/>
      <p:bldP spid="33" grpId="0" animBg="1"/>
      <p:bldP spid="3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2A8F1-5D9D-20AF-9AA6-870BDA16CEA7}"/>
            </a:ext>
          </a:extLst>
        </p:cNvPr>
        <p:cNvGrpSpPr/>
        <p:nvPr/>
      </p:nvGrpSpPr>
      <p:grpSpPr>
        <a:xfrm>
          <a:off x="0" y="0"/>
          <a:ext cx="0" cy="0"/>
          <a:chOff x="0" y="0"/>
          <a:chExt cx="0" cy="0"/>
        </a:xfrm>
      </p:grpSpPr>
      <p:sp>
        <p:nvSpPr>
          <p:cNvPr id="11" name="TextBox 30">
            <a:extLst>
              <a:ext uri="{FF2B5EF4-FFF2-40B4-BE49-F238E27FC236}">
                <a16:creationId xmlns:a16="http://schemas.microsoft.com/office/drawing/2014/main" id="{6C8EDC52-2F86-1571-6D6C-B4514FAE203B}"/>
              </a:ext>
            </a:extLst>
          </p:cNvPr>
          <p:cNvSpPr txBox="1"/>
          <p:nvPr/>
        </p:nvSpPr>
        <p:spPr>
          <a:xfrm>
            <a:off x="1503355" y="2558574"/>
            <a:ext cx="2436372" cy="2323713"/>
          </a:xfrm>
          <a:prstGeom prst="rect">
            <a:avLst/>
          </a:prstGeom>
          <a:noFill/>
        </p:spPr>
        <p:txBody>
          <a:bodyPr wrap="square" rtlCol="0">
            <a:spAutoFit/>
          </a:bodyPr>
          <a:lstStyle/>
          <a:p>
            <a:pPr algn="r" defTabSz="228600"/>
            <a:r>
              <a:rPr lang="en-US" altLang="zh-CN"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rPr>
              <a:t>02</a:t>
            </a:r>
            <a:endParaRPr lang="zh-CN" altLang="en-US"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endParaRPr>
          </a:p>
        </p:txBody>
      </p:sp>
      <p:sp>
        <p:nvSpPr>
          <p:cNvPr id="12" name="文本框 11">
            <a:extLst>
              <a:ext uri="{FF2B5EF4-FFF2-40B4-BE49-F238E27FC236}">
                <a16:creationId xmlns:a16="http://schemas.microsoft.com/office/drawing/2014/main" id="{F4CF47D8-1032-3A75-BF7A-9549ACD6300E}"/>
              </a:ext>
            </a:extLst>
          </p:cNvPr>
          <p:cNvSpPr txBox="1"/>
          <p:nvPr/>
        </p:nvSpPr>
        <p:spPr>
          <a:xfrm>
            <a:off x="4523009" y="2732133"/>
            <a:ext cx="6469533" cy="1067343"/>
          </a:xfrm>
          <a:prstGeom prst="rect">
            <a:avLst/>
          </a:prstGeom>
          <a:noFill/>
          <a:scene3d>
            <a:camera prst="orthographicFront"/>
            <a:lightRig rig="threePt" dir="t"/>
          </a:scene3d>
        </p:spPr>
        <p:txBody>
          <a:bodyPr wrap="square" rtlCol="0">
            <a:spAutoFit/>
          </a:bodyPr>
          <a:lstStyle/>
          <a:p>
            <a:pPr>
              <a:lnSpc>
                <a:spcPct val="130000"/>
              </a:lnSpc>
            </a:pPr>
            <a:r>
              <a:rPr lang="en-US" altLang="zh-CN" sz="5400" b="1" dirty="0">
                <a:solidFill>
                  <a:srgbClr val="1B1B1B"/>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Data Sources</a:t>
            </a:r>
          </a:p>
        </p:txBody>
      </p:sp>
      <p:sp>
        <p:nvSpPr>
          <p:cNvPr id="13" name="Rectangle 3">
            <a:extLst>
              <a:ext uri="{FF2B5EF4-FFF2-40B4-BE49-F238E27FC236}">
                <a16:creationId xmlns:a16="http://schemas.microsoft.com/office/drawing/2014/main" id="{BA964363-88E2-4F96-5CCC-4768FD7AC21C}"/>
              </a:ext>
            </a:extLst>
          </p:cNvPr>
          <p:cNvSpPr>
            <a:spLocks/>
          </p:cNvSpPr>
          <p:nvPr/>
        </p:nvSpPr>
        <p:spPr bwMode="auto">
          <a:xfrm>
            <a:off x="4622835" y="3804722"/>
            <a:ext cx="5346619" cy="1363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20000"/>
              </a:lnSpc>
              <a:spcBef>
                <a:spcPct val="0"/>
              </a:spcBef>
              <a:buSzTx/>
              <a:buNone/>
            </a:pPr>
            <a:endPar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endParaRPr>
          </a:p>
          <a:p>
            <a:pPr>
              <a:lnSpc>
                <a:spcPct val="120000"/>
              </a:lnSpc>
              <a:spcBef>
                <a:spcPct val="0"/>
              </a:spcBef>
              <a:buSzTx/>
              <a:buNone/>
            </a:pPr>
            <a:r>
              <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rPr>
              <a:t>The data originates from structured CSV and Excel files, containing train stations, ticket sales, and journey records. These files were imported into Power BI Desktop for further analysis and modeling tasks.</a:t>
            </a:r>
          </a:p>
        </p:txBody>
      </p:sp>
      <p:sp>
        <p:nvSpPr>
          <p:cNvPr id="14" name="平行四边形 13">
            <a:extLst>
              <a:ext uri="{FF2B5EF4-FFF2-40B4-BE49-F238E27FC236}">
                <a16:creationId xmlns:a16="http://schemas.microsoft.com/office/drawing/2014/main" id="{AEAE7DD4-BC62-B4C7-77B3-26FD044D8AC9}"/>
              </a:ext>
            </a:extLst>
          </p:cNvPr>
          <p:cNvSpPr/>
          <p:nvPr/>
        </p:nvSpPr>
        <p:spPr>
          <a:xfrm flipH="1" flipV="1">
            <a:off x="11498754" y="5765570"/>
            <a:ext cx="1077967" cy="1119813"/>
          </a:xfrm>
          <a:prstGeom prst="parallelogram">
            <a:avLst>
              <a:gd name="adj" fmla="val 70972"/>
            </a:avLst>
          </a:prstGeom>
          <a:gradFill>
            <a:gsLst>
              <a:gs pos="0">
                <a:srgbClr val="E4E4E4">
                  <a:alpha val="34000"/>
                </a:srgbClr>
              </a:gs>
              <a:gs pos="85000">
                <a:srgbClr val="E4E4E4">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a:extLst>
              <a:ext uri="{FF2B5EF4-FFF2-40B4-BE49-F238E27FC236}">
                <a16:creationId xmlns:a16="http://schemas.microsoft.com/office/drawing/2014/main" id="{554D82FA-07E2-D220-8294-ED35AA982EBE}"/>
              </a:ext>
            </a:extLst>
          </p:cNvPr>
          <p:cNvSpPr/>
          <p:nvPr/>
        </p:nvSpPr>
        <p:spPr>
          <a:xfrm>
            <a:off x="8328249" y="3223805"/>
            <a:ext cx="3880471" cy="3645810"/>
          </a:xfrm>
          <a:prstGeom prst="triangle">
            <a:avLst>
              <a:gd name="adj" fmla="val 100000"/>
            </a:avLst>
          </a:prstGeom>
          <a:gradFill>
            <a:gsLst>
              <a:gs pos="3614">
                <a:srgbClr val="66A2C6"/>
              </a:gs>
              <a:gs pos="65000">
                <a:srgbClr val="0E4576"/>
              </a:gs>
              <a:gs pos="100000">
                <a:srgbClr val="102A52"/>
              </a:gs>
            </a:gsLst>
            <a:lin ang="5400000" scaled="1"/>
          </a:gradFill>
          <a:ln>
            <a:noFill/>
          </a:ln>
          <a:effectLst>
            <a:outerShdw blurRad="101600" dist="38100" dir="13500000" algn="b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a:extLst>
              <a:ext uri="{FF2B5EF4-FFF2-40B4-BE49-F238E27FC236}">
                <a16:creationId xmlns:a16="http://schemas.microsoft.com/office/drawing/2014/main" id="{C926D5F5-1AC9-DEA0-E22F-F9988C8E0D47}"/>
              </a:ext>
            </a:extLst>
          </p:cNvPr>
          <p:cNvSpPr/>
          <p:nvPr/>
        </p:nvSpPr>
        <p:spPr>
          <a:xfrm flipH="1" flipV="1">
            <a:off x="-46848" y="0"/>
            <a:ext cx="3046503" cy="2862274"/>
          </a:xfrm>
          <a:prstGeom prst="triangle">
            <a:avLst>
              <a:gd name="adj" fmla="val 100000"/>
            </a:avLst>
          </a:prstGeom>
          <a:solidFill>
            <a:srgbClr val="0E4576"/>
          </a:solidFill>
          <a:ln>
            <a:no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E0FA7B25-6C35-64F1-4059-ECB6609D4E45}"/>
              </a:ext>
            </a:extLst>
          </p:cNvPr>
          <p:cNvSpPr/>
          <p:nvPr/>
        </p:nvSpPr>
        <p:spPr>
          <a:xfrm>
            <a:off x="1415482" y="3505891"/>
            <a:ext cx="2552327" cy="3551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Box 30">
            <a:extLst>
              <a:ext uri="{FF2B5EF4-FFF2-40B4-BE49-F238E27FC236}">
                <a16:creationId xmlns:a16="http://schemas.microsoft.com/office/drawing/2014/main" id="{645E7BC4-A4B5-CF6F-B1E5-F33A4F6DE586}"/>
              </a:ext>
            </a:extLst>
          </p:cNvPr>
          <p:cNvSpPr txBox="1"/>
          <p:nvPr/>
        </p:nvSpPr>
        <p:spPr>
          <a:xfrm>
            <a:off x="1957488" y="3521656"/>
            <a:ext cx="1352357" cy="338554"/>
          </a:xfrm>
          <a:prstGeom prst="rect">
            <a:avLst/>
          </a:prstGeom>
          <a:noFill/>
        </p:spPr>
        <p:txBody>
          <a:bodyPr wrap="square" rtlCol="0">
            <a:spAutoFit/>
          </a:bodyPr>
          <a:lstStyle/>
          <a:p>
            <a:pPr algn="ctr" defTabSz="228600"/>
            <a:r>
              <a:rPr lang="en-US" altLang="zh-CN"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rPr>
              <a:t>Part Two</a:t>
            </a:r>
            <a:endParaRPr lang="zh-CN" altLang="en-US"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endParaRPr>
          </a:p>
        </p:txBody>
      </p:sp>
      <p:cxnSp>
        <p:nvCxnSpPr>
          <p:cNvPr id="31" name="直接连接符 30">
            <a:extLst>
              <a:ext uri="{FF2B5EF4-FFF2-40B4-BE49-F238E27FC236}">
                <a16:creationId xmlns:a16="http://schemas.microsoft.com/office/drawing/2014/main" id="{649C2163-2813-C549-FABD-22A46746F0A3}"/>
              </a:ext>
            </a:extLst>
          </p:cNvPr>
          <p:cNvCxnSpPr/>
          <p:nvPr/>
        </p:nvCxnSpPr>
        <p:spPr>
          <a:xfrm>
            <a:off x="4104487" y="2940710"/>
            <a:ext cx="0" cy="1510342"/>
          </a:xfrm>
          <a:prstGeom prst="line">
            <a:avLst/>
          </a:prstGeom>
          <a:ln w="12700">
            <a:solidFill>
              <a:srgbClr val="2D354B">
                <a:alpha val="20000"/>
              </a:srgbClr>
            </a:solidFill>
          </a:ln>
        </p:spPr>
        <p:style>
          <a:lnRef idx="1">
            <a:schemeClr val="accent1"/>
          </a:lnRef>
          <a:fillRef idx="0">
            <a:schemeClr val="accent1"/>
          </a:fillRef>
          <a:effectRef idx="0">
            <a:schemeClr val="accent1"/>
          </a:effectRef>
          <a:fontRef idx="minor">
            <a:schemeClr val="tx1"/>
          </a:fontRef>
        </p:style>
      </p:cxnSp>
      <p:sp>
        <p:nvSpPr>
          <p:cNvPr id="32" name="圆角矩形 31">
            <a:extLst>
              <a:ext uri="{FF2B5EF4-FFF2-40B4-BE49-F238E27FC236}">
                <a16:creationId xmlns:a16="http://schemas.microsoft.com/office/drawing/2014/main" id="{5028120C-9921-6299-49B8-0AFD38B5E05C}"/>
              </a:ext>
            </a:extLst>
          </p:cNvPr>
          <p:cNvSpPr/>
          <p:nvPr/>
        </p:nvSpPr>
        <p:spPr>
          <a:xfrm rot="2700000">
            <a:off x="609964" y="726490"/>
            <a:ext cx="369745" cy="369745"/>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94C5DE"/>
                  </a:gs>
                  <a:gs pos="100000">
                    <a:srgbClr val="356A9C"/>
                  </a:gs>
                </a:gsLst>
                <a:lin ang="2700000" scaled="0"/>
              </a:gradFill>
            </a:endParaRPr>
          </a:p>
        </p:txBody>
      </p:sp>
      <p:sp>
        <p:nvSpPr>
          <p:cNvPr id="33" name="圆角矩形 32">
            <a:extLst>
              <a:ext uri="{FF2B5EF4-FFF2-40B4-BE49-F238E27FC236}">
                <a16:creationId xmlns:a16="http://schemas.microsoft.com/office/drawing/2014/main" id="{CA6873A5-1956-F206-E89A-7C6F2A29DE86}"/>
              </a:ext>
            </a:extLst>
          </p:cNvPr>
          <p:cNvSpPr/>
          <p:nvPr/>
        </p:nvSpPr>
        <p:spPr>
          <a:xfrm rot="2700000">
            <a:off x="555613" y="1858238"/>
            <a:ext cx="134147" cy="134147"/>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5021DF93-8314-662A-1F51-905570910F04}"/>
              </a:ext>
            </a:extLst>
          </p:cNvPr>
          <p:cNvCxnSpPr>
            <a:stCxn id="17" idx="2"/>
            <a:endCxn id="17" idx="0"/>
          </p:cNvCxnSpPr>
          <p:nvPr/>
        </p:nvCxnSpPr>
        <p:spPr>
          <a:xfrm flipH="1">
            <a:off x="-46848" y="0"/>
            <a:ext cx="3046503" cy="2862274"/>
          </a:xfrm>
          <a:prstGeom prst="line">
            <a:avLst/>
          </a:prstGeom>
          <a:ln w="57150">
            <a:gradFill>
              <a:gsLst>
                <a:gs pos="0">
                  <a:srgbClr val="66A2C6">
                    <a:alpha val="0"/>
                  </a:srgbClr>
                </a:gs>
                <a:gs pos="100000">
                  <a:srgbClr val="66A2C6"/>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圆角矩形 33">
            <a:extLst>
              <a:ext uri="{FF2B5EF4-FFF2-40B4-BE49-F238E27FC236}">
                <a16:creationId xmlns:a16="http://schemas.microsoft.com/office/drawing/2014/main" id="{4DC83387-798E-B8FC-BC51-D3BD874A83F0}"/>
              </a:ext>
            </a:extLst>
          </p:cNvPr>
          <p:cNvSpPr/>
          <p:nvPr/>
        </p:nvSpPr>
        <p:spPr>
          <a:xfrm rot="2700000">
            <a:off x="1627747" y="647742"/>
            <a:ext cx="600616" cy="600616"/>
          </a:xfrm>
          <a:prstGeom prst="roundRect">
            <a:avLst>
              <a:gd name="adj" fmla="val 6915"/>
            </a:avLst>
          </a:prstGeom>
          <a:noFill/>
          <a:ln w="50800">
            <a:gradFill>
              <a:gsLst>
                <a:gs pos="0">
                  <a:srgbClr val="66A2C6"/>
                </a:gs>
                <a:gs pos="100000">
                  <a:srgbClr val="0E4576"/>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98" name="Picture 2" descr="Data source - Free multimedia icons">
            <a:extLst>
              <a:ext uri="{FF2B5EF4-FFF2-40B4-BE49-F238E27FC236}">
                <a16:creationId xmlns:a16="http://schemas.microsoft.com/office/drawing/2014/main" id="{73329183-D8F3-447C-F631-E5E1190741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0774" y="420112"/>
            <a:ext cx="2323714" cy="2323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592851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p:cTn id="13" dur="500" fill="hold"/>
                                        <p:tgtEl>
                                          <p:spTgt spid="32"/>
                                        </p:tgtEl>
                                        <p:attrNameLst>
                                          <p:attrName>ppt_w</p:attrName>
                                        </p:attrNameLst>
                                      </p:cBhvr>
                                      <p:tavLst>
                                        <p:tav tm="0">
                                          <p:val>
                                            <p:fltVal val="0"/>
                                          </p:val>
                                        </p:tav>
                                        <p:tav tm="100000">
                                          <p:val>
                                            <p:strVal val="#ppt_w"/>
                                          </p:val>
                                        </p:tav>
                                      </p:tavLst>
                                    </p:anim>
                                    <p:anim calcmode="lin" valueType="num">
                                      <p:cBhvr>
                                        <p:cTn id="14" dur="500" fill="hold"/>
                                        <p:tgtEl>
                                          <p:spTgt spid="32"/>
                                        </p:tgtEl>
                                        <p:attrNameLst>
                                          <p:attrName>ppt_h</p:attrName>
                                        </p:attrNameLst>
                                      </p:cBhvr>
                                      <p:tavLst>
                                        <p:tav tm="0">
                                          <p:val>
                                            <p:fltVal val="0"/>
                                          </p:val>
                                        </p:tav>
                                        <p:tav tm="100000">
                                          <p:val>
                                            <p:strVal val="#ppt_h"/>
                                          </p:val>
                                        </p:tav>
                                      </p:tavLst>
                                    </p:anim>
                                    <p:animEffect transition="in" filter="fade">
                                      <p:cBhvr>
                                        <p:cTn id="15" dur="500"/>
                                        <p:tgtEl>
                                          <p:spTgt spid="32"/>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 calcmode="lin" valueType="num">
                                      <p:cBhvr>
                                        <p:cTn id="18" dur="500" fill="hold"/>
                                        <p:tgtEl>
                                          <p:spTgt spid="33"/>
                                        </p:tgtEl>
                                        <p:attrNameLst>
                                          <p:attrName>ppt_w</p:attrName>
                                        </p:attrNameLst>
                                      </p:cBhvr>
                                      <p:tavLst>
                                        <p:tav tm="0">
                                          <p:val>
                                            <p:fltVal val="0"/>
                                          </p:val>
                                        </p:tav>
                                        <p:tav tm="100000">
                                          <p:val>
                                            <p:strVal val="#ppt_w"/>
                                          </p:val>
                                        </p:tav>
                                      </p:tavLst>
                                    </p:anim>
                                    <p:anim calcmode="lin" valueType="num">
                                      <p:cBhvr>
                                        <p:cTn id="19" dur="500" fill="hold"/>
                                        <p:tgtEl>
                                          <p:spTgt spid="33"/>
                                        </p:tgtEl>
                                        <p:attrNameLst>
                                          <p:attrName>ppt_h</p:attrName>
                                        </p:attrNameLst>
                                      </p:cBhvr>
                                      <p:tavLst>
                                        <p:tav tm="0">
                                          <p:val>
                                            <p:fltVal val="0"/>
                                          </p:val>
                                        </p:tav>
                                        <p:tav tm="100000">
                                          <p:val>
                                            <p:strVal val="#ppt_h"/>
                                          </p:val>
                                        </p:tav>
                                      </p:tavLst>
                                    </p:anim>
                                    <p:animEffect transition="in" filter="fade">
                                      <p:cBhvr>
                                        <p:cTn id="20" dur="500"/>
                                        <p:tgtEl>
                                          <p:spTgt spid="33"/>
                                        </p:tgtEl>
                                      </p:cBhvr>
                                    </p:animEffect>
                                  </p:childTnLst>
                                </p:cTn>
                              </p:par>
                              <p:par>
                                <p:cTn id="21" presetID="16" presetClass="entr" presetSubtype="21" fill="hold" grpId="0" nodeType="withEffect">
                                  <p:stCondLst>
                                    <p:cond delay="250"/>
                                  </p:stCondLst>
                                  <p:childTnLst>
                                    <p:set>
                                      <p:cBhvr>
                                        <p:cTn id="22" dur="1" fill="hold">
                                          <p:stCondLst>
                                            <p:cond delay="0"/>
                                          </p:stCondLst>
                                        </p:cTn>
                                        <p:tgtEl>
                                          <p:spTgt spid="30"/>
                                        </p:tgtEl>
                                        <p:attrNameLst>
                                          <p:attrName>style.visibility</p:attrName>
                                        </p:attrNameLst>
                                      </p:cBhvr>
                                      <p:to>
                                        <p:strVal val="visible"/>
                                      </p:to>
                                    </p:set>
                                    <p:animEffect transition="in" filter="barn(inVertical)">
                                      <p:cBhvr>
                                        <p:cTn id="23" dur="500"/>
                                        <p:tgtEl>
                                          <p:spTgt spid="30"/>
                                        </p:tgtEl>
                                      </p:cBhvr>
                                    </p:animEffect>
                                  </p:childTnLst>
                                </p:cTn>
                              </p:par>
                              <p:par>
                                <p:cTn id="24" presetID="16" presetClass="entr" presetSubtype="42" fill="hold" nodeType="withEffect">
                                  <p:stCondLst>
                                    <p:cond delay="250"/>
                                  </p:stCondLst>
                                  <p:childTnLst>
                                    <p:set>
                                      <p:cBhvr>
                                        <p:cTn id="25" dur="1" fill="hold">
                                          <p:stCondLst>
                                            <p:cond delay="0"/>
                                          </p:stCondLst>
                                        </p:cTn>
                                        <p:tgtEl>
                                          <p:spTgt spid="31"/>
                                        </p:tgtEl>
                                        <p:attrNameLst>
                                          <p:attrName>style.visibility</p:attrName>
                                        </p:attrNameLst>
                                      </p:cBhvr>
                                      <p:to>
                                        <p:strVal val="visible"/>
                                      </p:to>
                                    </p:set>
                                    <p:animEffect transition="in" filter="barn(outHorizontal)">
                                      <p:cBhvr>
                                        <p:cTn id="26" dur="500"/>
                                        <p:tgtEl>
                                          <p:spTgt spid="31"/>
                                        </p:tgtEl>
                                      </p:cBhvr>
                                    </p:animEffect>
                                  </p:childTnLst>
                                </p:cTn>
                              </p:par>
                              <p:par>
                                <p:cTn id="27" presetID="41" presetClass="entr" presetSubtype="0" fill="hold" grpId="0" nodeType="withEffect">
                                  <p:stCondLst>
                                    <p:cond delay="500"/>
                                  </p:stCondLst>
                                  <p:iterate type="lt">
                                    <p:tmPct val="10000"/>
                                  </p:iterate>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12"/>
                                        </p:tgtEl>
                                        <p:attrNameLst>
                                          <p:attrName>ppt_y</p:attrName>
                                        </p:attrNameLst>
                                      </p:cBhvr>
                                      <p:tavLst>
                                        <p:tav tm="0">
                                          <p:val>
                                            <p:strVal val="#ppt_y"/>
                                          </p:val>
                                        </p:tav>
                                        <p:tav tm="100000">
                                          <p:val>
                                            <p:strVal val="#ppt_y"/>
                                          </p:val>
                                        </p:tav>
                                      </p:tavLst>
                                    </p:anim>
                                    <p:anim calcmode="lin" valueType="num">
                                      <p:cBhvr>
                                        <p:cTn id="31"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12"/>
                                        </p:tgtEl>
                                      </p:cBhvr>
                                    </p:animEffect>
                                  </p:childTnLst>
                                </p:cTn>
                              </p:par>
                              <p:par>
                                <p:cTn id="34" presetID="42" presetClass="entr" presetSubtype="0" fill="hold" grpId="0" nodeType="withEffect">
                                  <p:stCondLst>
                                    <p:cond delay="7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par>
                                <p:cTn id="39" presetID="16" presetClass="entr" presetSubtype="21" fill="hold" grpId="0" nodeType="withEffect">
                                  <p:stCondLst>
                                    <p:cond delay="250"/>
                                  </p:stCondLst>
                                  <p:childTnLst>
                                    <p:set>
                                      <p:cBhvr>
                                        <p:cTn id="40" dur="1" fill="hold">
                                          <p:stCondLst>
                                            <p:cond delay="0"/>
                                          </p:stCondLst>
                                        </p:cTn>
                                        <p:tgtEl>
                                          <p:spTgt spid="11"/>
                                        </p:tgtEl>
                                        <p:attrNameLst>
                                          <p:attrName>style.visibility</p:attrName>
                                        </p:attrNameLst>
                                      </p:cBhvr>
                                      <p:to>
                                        <p:strVal val="visible"/>
                                      </p:to>
                                    </p:set>
                                    <p:animEffect transition="in" filter="barn(inVertical)">
                                      <p:cBhvr>
                                        <p:cTn id="41" dur="500"/>
                                        <p:tgtEl>
                                          <p:spTgt spid="11"/>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par>
                                <p:cTn id="47" presetID="22" presetClass="entr" presetSubtype="4" fill="hold" nodeType="with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5" grpId="0" animBg="1"/>
      <p:bldP spid="17" grpId="0" animBg="1"/>
      <p:bldP spid="30" grpId="0"/>
      <p:bldP spid="32" grpId="0" animBg="1"/>
      <p:bldP spid="33" grpId="0" animBg="1"/>
      <p:bldP spid="3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7A8B8-F93C-A335-F5EB-318160E11544}"/>
            </a:ext>
          </a:extLst>
        </p:cNvPr>
        <p:cNvGrpSpPr/>
        <p:nvPr/>
      </p:nvGrpSpPr>
      <p:grpSpPr>
        <a:xfrm>
          <a:off x="0" y="0"/>
          <a:ext cx="0" cy="0"/>
          <a:chOff x="0" y="0"/>
          <a:chExt cx="0" cy="0"/>
        </a:xfrm>
      </p:grpSpPr>
      <p:sp>
        <p:nvSpPr>
          <p:cNvPr id="11" name="TextBox 30">
            <a:extLst>
              <a:ext uri="{FF2B5EF4-FFF2-40B4-BE49-F238E27FC236}">
                <a16:creationId xmlns:a16="http://schemas.microsoft.com/office/drawing/2014/main" id="{B6A5D8E7-C0B3-7061-471D-2C52617246A4}"/>
              </a:ext>
            </a:extLst>
          </p:cNvPr>
          <p:cNvSpPr txBox="1"/>
          <p:nvPr/>
        </p:nvSpPr>
        <p:spPr>
          <a:xfrm>
            <a:off x="1503355" y="2558574"/>
            <a:ext cx="2436372" cy="2323713"/>
          </a:xfrm>
          <a:prstGeom prst="rect">
            <a:avLst/>
          </a:prstGeom>
          <a:noFill/>
        </p:spPr>
        <p:txBody>
          <a:bodyPr wrap="square" rtlCol="0">
            <a:spAutoFit/>
          </a:bodyPr>
          <a:lstStyle/>
          <a:p>
            <a:pPr algn="r" defTabSz="228600"/>
            <a:r>
              <a:rPr lang="en-US" altLang="zh-CN"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rPr>
              <a:t>03</a:t>
            </a:r>
            <a:endParaRPr lang="zh-CN" altLang="en-US"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endParaRPr>
          </a:p>
        </p:txBody>
      </p:sp>
      <p:sp>
        <p:nvSpPr>
          <p:cNvPr id="12" name="文本框 11">
            <a:extLst>
              <a:ext uri="{FF2B5EF4-FFF2-40B4-BE49-F238E27FC236}">
                <a16:creationId xmlns:a16="http://schemas.microsoft.com/office/drawing/2014/main" id="{DF9E1E2A-F0E8-750E-A6EF-41A82C1F88CA}"/>
              </a:ext>
            </a:extLst>
          </p:cNvPr>
          <p:cNvSpPr txBox="1"/>
          <p:nvPr/>
        </p:nvSpPr>
        <p:spPr>
          <a:xfrm>
            <a:off x="4523009" y="2732133"/>
            <a:ext cx="6469533" cy="1067343"/>
          </a:xfrm>
          <a:prstGeom prst="rect">
            <a:avLst/>
          </a:prstGeom>
          <a:noFill/>
          <a:scene3d>
            <a:camera prst="orthographicFront"/>
            <a:lightRig rig="threePt" dir="t"/>
          </a:scene3d>
        </p:spPr>
        <p:txBody>
          <a:bodyPr wrap="square" rtlCol="0">
            <a:spAutoFit/>
          </a:bodyPr>
          <a:lstStyle/>
          <a:p>
            <a:pPr>
              <a:lnSpc>
                <a:spcPct val="130000"/>
              </a:lnSpc>
            </a:pPr>
            <a:r>
              <a:rPr lang="en-US" altLang="zh-CN" sz="5400" b="1" dirty="0">
                <a:solidFill>
                  <a:srgbClr val="1B1B1B"/>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Initial Review</a:t>
            </a:r>
          </a:p>
        </p:txBody>
      </p:sp>
      <p:sp>
        <p:nvSpPr>
          <p:cNvPr id="13" name="Rectangle 3">
            <a:extLst>
              <a:ext uri="{FF2B5EF4-FFF2-40B4-BE49-F238E27FC236}">
                <a16:creationId xmlns:a16="http://schemas.microsoft.com/office/drawing/2014/main" id="{6E766BE1-BD6F-E602-86B5-DB09D862AC44}"/>
              </a:ext>
            </a:extLst>
          </p:cNvPr>
          <p:cNvSpPr>
            <a:spLocks/>
          </p:cNvSpPr>
          <p:nvPr/>
        </p:nvSpPr>
        <p:spPr bwMode="auto">
          <a:xfrm>
            <a:off x="4622835" y="3804722"/>
            <a:ext cx="5346619" cy="1363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20000"/>
              </a:lnSpc>
              <a:spcBef>
                <a:spcPct val="0"/>
              </a:spcBef>
              <a:buSzTx/>
              <a:buNone/>
            </a:pPr>
            <a:endPar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endParaRPr>
          </a:p>
          <a:p>
            <a:pPr>
              <a:lnSpc>
                <a:spcPct val="120000"/>
              </a:lnSpc>
              <a:spcBef>
                <a:spcPct val="0"/>
              </a:spcBef>
              <a:buSzTx/>
              <a:buNone/>
            </a:pPr>
            <a:r>
              <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rPr>
              <a:t>Data review involved checking for missing fields, unexpected data types, and outliers. Understanding the structure and content was crucial for designing a clean, reliable, and insightful data model foundation.</a:t>
            </a:r>
          </a:p>
        </p:txBody>
      </p:sp>
      <p:sp>
        <p:nvSpPr>
          <p:cNvPr id="14" name="平行四边形 13">
            <a:extLst>
              <a:ext uri="{FF2B5EF4-FFF2-40B4-BE49-F238E27FC236}">
                <a16:creationId xmlns:a16="http://schemas.microsoft.com/office/drawing/2014/main" id="{3D1876D3-8C1B-2166-55AB-5F60E6035897}"/>
              </a:ext>
            </a:extLst>
          </p:cNvPr>
          <p:cNvSpPr/>
          <p:nvPr/>
        </p:nvSpPr>
        <p:spPr>
          <a:xfrm flipH="1" flipV="1">
            <a:off x="11498754" y="5765570"/>
            <a:ext cx="1077967" cy="1119813"/>
          </a:xfrm>
          <a:prstGeom prst="parallelogram">
            <a:avLst>
              <a:gd name="adj" fmla="val 70972"/>
            </a:avLst>
          </a:prstGeom>
          <a:gradFill>
            <a:gsLst>
              <a:gs pos="0">
                <a:srgbClr val="E4E4E4">
                  <a:alpha val="34000"/>
                </a:srgbClr>
              </a:gs>
              <a:gs pos="85000">
                <a:srgbClr val="E4E4E4">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a:extLst>
              <a:ext uri="{FF2B5EF4-FFF2-40B4-BE49-F238E27FC236}">
                <a16:creationId xmlns:a16="http://schemas.microsoft.com/office/drawing/2014/main" id="{587308EE-8B82-4D6B-8BA0-F92D97FC15A4}"/>
              </a:ext>
            </a:extLst>
          </p:cNvPr>
          <p:cNvSpPr/>
          <p:nvPr/>
        </p:nvSpPr>
        <p:spPr>
          <a:xfrm>
            <a:off x="8328249" y="3223805"/>
            <a:ext cx="3880471" cy="3645810"/>
          </a:xfrm>
          <a:prstGeom prst="triangle">
            <a:avLst>
              <a:gd name="adj" fmla="val 100000"/>
            </a:avLst>
          </a:prstGeom>
          <a:gradFill>
            <a:gsLst>
              <a:gs pos="3614">
                <a:srgbClr val="66A2C6"/>
              </a:gs>
              <a:gs pos="65000">
                <a:srgbClr val="0E4576"/>
              </a:gs>
              <a:gs pos="100000">
                <a:srgbClr val="102A52"/>
              </a:gs>
            </a:gsLst>
            <a:lin ang="5400000" scaled="1"/>
          </a:gradFill>
          <a:ln>
            <a:noFill/>
          </a:ln>
          <a:effectLst>
            <a:outerShdw blurRad="101600" dist="38100" dir="13500000" algn="b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a:extLst>
              <a:ext uri="{FF2B5EF4-FFF2-40B4-BE49-F238E27FC236}">
                <a16:creationId xmlns:a16="http://schemas.microsoft.com/office/drawing/2014/main" id="{3C63906C-9269-1E4E-D562-9F3B1F58979B}"/>
              </a:ext>
            </a:extLst>
          </p:cNvPr>
          <p:cNvSpPr/>
          <p:nvPr/>
        </p:nvSpPr>
        <p:spPr>
          <a:xfrm flipH="1" flipV="1">
            <a:off x="-46848" y="0"/>
            <a:ext cx="3046503" cy="2862274"/>
          </a:xfrm>
          <a:prstGeom prst="triangle">
            <a:avLst>
              <a:gd name="adj" fmla="val 100000"/>
            </a:avLst>
          </a:prstGeom>
          <a:solidFill>
            <a:srgbClr val="0E4576"/>
          </a:solidFill>
          <a:ln>
            <a:no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3A99D78F-693E-2F0D-6C6D-F375A4FB9AD4}"/>
              </a:ext>
            </a:extLst>
          </p:cNvPr>
          <p:cNvSpPr/>
          <p:nvPr/>
        </p:nvSpPr>
        <p:spPr>
          <a:xfrm>
            <a:off x="1415482" y="3505891"/>
            <a:ext cx="2552327" cy="3551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Box 30">
            <a:extLst>
              <a:ext uri="{FF2B5EF4-FFF2-40B4-BE49-F238E27FC236}">
                <a16:creationId xmlns:a16="http://schemas.microsoft.com/office/drawing/2014/main" id="{0A6069F3-FF85-6B7C-52DA-84AF6280FCDF}"/>
              </a:ext>
            </a:extLst>
          </p:cNvPr>
          <p:cNvSpPr txBox="1"/>
          <p:nvPr/>
        </p:nvSpPr>
        <p:spPr>
          <a:xfrm>
            <a:off x="1957488" y="3521656"/>
            <a:ext cx="1352357" cy="338554"/>
          </a:xfrm>
          <a:prstGeom prst="rect">
            <a:avLst/>
          </a:prstGeom>
          <a:noFill/>
        </p:spPr>
        <p:txBody>
          <a:bodyPr wrap="square" rtlCol="0">
            <a:spAutoFit/>
          </a:bodyPr>
          <a:lstStyle/>
          <a:p>
            <a:pPr algn="ctr" defTabSz="228600"/>
            <a:r>
              <a:rPr lang="en-US" altLang="zh-CN"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rPr>
              <a:t>Part Three</a:t>
            </a:r>
            <a:endParaRPr lang="zh-CN" altLang="en-US"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endParaRPr>
          </a:p>
        </p:txBody>
      </p:sp>
      <p:cxnSp>
        <p:nvCxnSpPr>
          <p:cNvPr id="31" name="直接连接符 30">
            <a:extLst>
              <a:ext uri="{FF2B5EF4-FFF2-40B4-BE49-F238E27FC236}">
                <a16:creationId xmlns:a16="http://schemas.microsoft.com/office/drawing/2014/main" id="{86487C87-E9B3-FCB2-12A4-739DE934A8E2}"/>
              </a:ext>
            </a:extLst>
          </p:cNvPr>
          <p:cNvCxnSpPr/>
          <p:nvPr/>
        </p:nvCxnSpPr>
        <p:spPr>
          <a:xfrm>
            <a:off x="4104487" y="2940710"/>
            <a:ext cx="0" cy="1510342"/>
          </a:xfrm>
          <a:prstGeom prst="line">
            <a:avLst/>
          </a:prstGeom>
          <a:ln w="12700">
            <a:solidFill>
              <a:srgbClr val="2D354B">
                <a:alpha val="20000"/>
              </a:srgbClr>
            </a:solidFill>
          </a:ln>
        </p:spPr>
        <p:style>
          <a:lnRef idx="1">
            <a:schemeClr val="accent1"/>
          </a:lnRef>
          <a:fillRef idx="0">
            <a:schemeClr val="accent1"/>
          </a:fillRef>
          <a:effectRef idx="0">
            <a:schemeClr val="accent1"/>
          </a:effectRef>
          <a:fontRef idx="minor">
            <a:schemeClr val="tx1"/>
          </a:fontRef>
        </p:style>
      </p:cxnSp>
      <p:sp>
        <p:nvSpPr>
          <p:cNvPr id="32" name="圆角矩形 31">
            <a:extLst>
              <a:ext uri="{FF2B5EF4-FFF2-40B4-BE49-F238E27FC236}">
                <a16:creationId xmlns:a16="http://schemas.microsoft.com/office/drawing/2014/main" id="{3C4A3024-B093-F73F-B286-B92CD9E83B00}"/>
              </a:ext>
            </a:extLst>
          </p:cNvPr>
          <p:cNvSpPr/>
          <p:nvPr/>
        </p:nvSpPr>
        <p:spPr>
          <a:xfrm rot="2700000">
            <a:off x="609964" y="726490"/>
            <a:ext cx="369745" cy="369745"/>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94C5DE"/>
                  </a:gs>
                  <a:gs pos="100000">
                    <a:srgbClr val="356A9C"/>
                  </a:gs>
                </a:gsLst>
                <a:lin ang="2700000" scaled="0"/>
              </a:gradFill>
            </a:endParaRPr>
          </a:p>
        </p:txBody>
      </p:sp>
      <p:sp>
        <p:nvSpPr>
          <p:cNvPr id="33" name="圆角矩形 32">
            <a:extLst>
              <a:ext uri="{FF2B5EF4-FFF2-40B4-BE49-F238E27FC236}">
                <a16:creationId xmlns:a16="http://schemas.microsoft.com/office/drawing/2014/main" id="{C17B98FE-DD1B-1F09-B67B-5F5F03E93775}"/>
              </a:ext>
            </a:extLst>
          </p:cNvPr>
          <p:cNvSpPr/>
          <p:nvPr/>
        </p:nvSpPr>
        <p:spPr>
          <a:xfrm rot="2700000">
            <a:off x="555613" y="1858238"/>
            <a:ext cx="134147" cy="134147"/>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24EE8FEA-2A8D-E2B9-1415-8156700DDFE3}"/>
              </a:ext>
            </a:extLst>
          </p:cNvPr>
          <p:cNvCxnSpPr>
            <a:stCxn id="17" idx="2"/>
            <a:endCxn id="17" idx="0"/>
          </p:cNvCxnSpPr>
          <p:nvPr/>
        </p:nvCxnSpPr>
        <p:spPr>
          <a:xfrm flipH="1">
            <a:off x="-46848" y="0"/>
            <a:ext cx="3046503" cy="2862274"/>
          </a:xfrm>
          <a:prstGeom prst="line">
            <a:avLst/>
          </a:prstGeom>
          <a:ln w="57150">
            <a:gradFill>
              <a:gsLst>
                <a:gs pos="0">
                  <a:srgbClr val="66A2C6">
                    <a:alpha val="0"/>
                  </a:srgbClr>
                </a:gs>
                <a:gs pos="100000">
                  <a:srgbClr val="66A2C6"/>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圆角矩形 33">
            <a:extLst>
              <a:ext uri="{FF2B5EF4-FFF2-40B4-BE49-F238E27FC236}">
                <a16:creationId xmlns:a16="http://schemas.microsoft.com/office/drawing/2014/main" id="{B9A458AC-D35A-BF00-2E81-58F5E19AF3F8}"/>
              </a:ext>
            </a:extLst>
          </p:cNvPr>
          <p:cNvSpPr/>
          <p:nvPr/>
        </p:nvSpPr>
        <p:spPr>
          <a:xfrm rot="2700000">
            <a:off x="1627747" y="647742"/>
            <a:ext cx="600616" cy="600616"/>
          </a:xfrm>
          <a:prstGeom prst="roundRect">
            <a:avLst>
              <a:gd name="adj" fmla="val 6915"/>
            </a:avLst>
          </a:prstGeom>
          <a:noFill/>
          <a:ln w="50800">
            <a:gradFill>
              <a:gsLst>
                <a:gs pos="0">
                  <a:srgbClr val="66A2C6"/>
                </a:gs>
                <a:gs pos="100000">
                  <a:srgbClr val="0E4576"/>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16" name="Picture 4" descr="Search - Free seo and web icons">
            <a:extLst>
              <a:ext uri="{FF2B5EF4-FFF2-40B4-BE49-F238E27FC236}">
                <a16:creationId xmlns:a16="http://schemas.microsoft.com/office/drawing/2014/main" id="{EE2BD374-12E3-AE9D-D2F1-C7BCA0AE34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6462" y="186722"/>
            <a:ext cx="2659363" cy="2659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11163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p:cTn id="13" dur="500" fill="hold"/>
                                        <p:tgtEl>
                                          <p:spTgt spid="32"/>
                                        </p:tgtEl>
                                        <p:attrNameLst>
                                          <p:attrName>ppt_w</p:attrName>
                                        </p:attrNameLst>
                                      </p:cBhvr>
                                      <p:tavLst>
                                        <p:tav tm="0">
                                          <p:val>
                                            <p:fltVal val="0"/>
                                          </p:val>
                                        </p:tav>
                                        <p:tav tm="100000">
                                          <p:val>
                                            <p:strVal val="#ppt_w"/>
                                          </p:val>
                                        </p:tav>
                                      </p:tavLst>
                                    </p:anim>
                                    <p:anim calcmode="lin" valueType="num">
                                      <p:cBhvr>
                                        <p:cTn id="14" dur="500" fill="hold"/>
                                        <p:tgtEl>
                                          <p:spTgt spid="32"/>
                                        </p:tgtEl>
                                        <p:attrNameLst>
                                          <p:attrName>ppt_h</p:attrName>
                                        </p:attrNameLst>
                                      </p:cBhvr>
                                      <p:tavLst>
                                        <p:tav tm="0">
                                          <p:val>
                                            <p:fltVal val="0"/>
                                          </p:val>
                                        </p:tav>
                                        <p:tav tm="100000">
                                          <p:val>
                                            <p:strVal val="#ppt_h"/>
                                          </p:val>
                                        </p:tav>
                                      </p:tavLst>
                                    </p:anim>
                                    <p:animEffect transition="in" filter="fade">
                                      <p:cBhvr>
                                        <p:cTn id="15" dur="500"/>
                                        <p:tgtEl>
                                          <p:spTgt spid="32"/>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 calcmode="lin" valueType="num">
                                      <p:cBhvr>
                                        <p:cTn id="18" dur="500" fill="hold"/>
                                        <p:tgtEl>
                                          <p:spTgt spid="33"/>
                                        </p:tgtEl>
                                        <p:attrNameLst>
                                          <p:attrName>ppt_w</p:attrName>
                                        </p:attrNameLst>
                                      </p:cBhvr>
                                      <p:tavLst>
                                        <p:tav tm="0">
                                          <p:val>
                                            <p:fltVal val="0"/>
                                          </p:val>
                                        </p:tav>
                                        <p:tav tm="100000">
                                          <p:val>
                                            <p:strVal val="#ppt_w"/>
                                          </p:val>
                                        </p:tav>
                                      </p:tavLst>
                                    </p:anim>
                                    <p:anim calcmode="lin" valueType="num">
                                      <p:cBhvr>
                                        <p:cTn id="19" dur="500" fill="hold"/>
                                        <p:tgtEl>
                                          <p:spTgt spid="33"/>
                                        </p:tgtEl>
                                        <p:attrNameLst>
                                          <p:attrName>ppt_h</p:attrName>
                                        </p:attrNameLst>
                                      </p:cBhvr>
                                      <p:tavLst>
                                        <p:tav tm="0">
                                          <p:val>
                                            <p:fltVal val="0"/>
                                          </p:val>
                                        </p:tav>
                                        <p:tav tm="100000">
                                          <p:val>
                                            <p:strVal val="#ppt_h"/>
                                          </p:val>
                                        </p:tav>
                                      </p:tavLst>
                                    </p:anim>
                                    <p:animEffect transition="in" filter="fade">
                                      <p:cBhvr>
                                        <p:cTn id="20" dur="500"/>
                                        <p:tgtEl>
                                          <p:spTgt spid="33"/>
                                        </p:tgtEl>
                                      </p:cBhvr>
                                    </p:animEffect>
                                  </p:childTnLst>
                                </p:cTn>
                              </p:par>
                              <p:par>
                                <p:cTn id="21" presetID="16" presetClass="entr" presetSubtype="21" fill="hold" grpId="0" nodeType="withEffect">
                                  <p:stCondLst>
                                    <p:cond delay="250"/>
                                  </p:stCondLst>
                                  <p:childTnLst>
                                    <p:set>
                                      <p:cBhvr>
                                        <p:cTn id="22" dur="1" fill="hold">
                                          <p:stCondLst>
                                            <p:cond delay="0"/>
                                          </p:stCondLst>
                                        </p:cTn>
                                        <p:tgtEl>
                                          <p:spTgt spid="30"/>
                                        </p:tgtEl>
                                        <p:attrNameLst>
                                          <p:attrName>style.visibility</p:attrName>
                                        </p:attrNameLst>
                                      </p:cBhvr>
                                      <p:to>
                                        <p:strVal val="visible"/>
                                      </p:to>
                                    </p:set>
                                    <p:animEffect transition="in" filter="barn(inVertical)">
                                      <p:cBhvr>
                                        <p:cTn id="23" dur="500"/>
                                        <p:tgtEl>
                                          <p:spTgt spid="30"/>
                                        </p:tgtEl>
                                      </p:cBhvr>
                                    </p:animEffect>
                                  </p:childTnLst>
                                </p:cTn>
                              </p:par>
                              <p:par>
                                <p:cTn id="24" presetID="16" presetClass="entr" presetSubtype="42" fill="hold" nodeType="withEffect">
                                  <p:stCondLst>
                                    <p:cond delay="250"/>
                                  </p:stCondLst>
                                  <p:childTnLst>
                                    <p:set>
                                      <p:cBhvr>
                                        <p:cTn id="25" dur="1" fill="hold">
                                          <p:stCondLst>
                                            <p:cond delay="0"/>
                                          </p:stCondLst>
                                        </p:cTn>
                                        <p:tgtEl>
                                          <p:spTgt spid="31"/>
                                        </p:tgtEl>
                                        <p:attrNameLst>
                                          <p:attrName>style.visibility</p:attrName>
                                        </p:attrNameLst>
                                      </p:cBhvr>
                                      <p:to>
                                        <p:strVal val="visible"/>
                                      </p:to>
                                    </p:set>
                                    <p:animEffect transition="in" filter="barn(outHorizontal)">
                                      <p:cBhvr>
                                        <p:cTn id="26" dur="500"/>
                                        <p:tgtEl>
                                          <p:spTgt spid="31"/>
                                        </p:tgtEl>
                                      </p:cBhvr>
                                    </p:animEffect>
                                  </p:childTnLst>
                                </p:cTn>
                              </p:par>
                              <p:par>
                                <p:cTn id="27" presetID="41" presetClass="entr" presetSubtype="0" fill="hold" grpId="0" nodeType="withEffect">
                                  <p:stCondLst>
                                    <p:cond delay="500"/>
                                  </p:stCondLst>
                                  <p:iterate type="lt">
                                    <p:tmPct val="10000"/>
                                  </p:iterate>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12"/>
                                        </p:tgtEl>
                                        <p:attrNameLst>
                                          <p:attrName>ppt_y</p:attrName>
                                        </p:attrNameLst>
                                      </p:cBhvr>
                                      <p:tavLst>
                                        <p:tav tm="0">
                                          <p:val>
                                            <p:strVal val="#ppt_y"/>
                                          </p:val>
                                        </p:tav>
                                        <p:tav tm="100000">
                                          <p:val>
                                            <p:strVal val="#ppt_y"/>
                                          </p:val>
                                        </p:tav>
                                      </p:tavLst>
                                    </p:anim>
                                    <p:anim calcmode="lin" valueType="num">
                                      <p:cBhvr>
                                        <p:cTn id="31"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12"/>
                                        </p:tgtEl>
                                      </p:cBhvr>
                                    </p:animEffect>
                                  </p:childTnLst>
                                </p:cTn>
                              </p:par>
                              <p:par>
                                <p:cTn id="34" presetID="42" presetClass="entr" presetSubtype="0" fill="hold" grpId="0" nodeType="withEffect">
                                  <p:stCondLst>
                                    <p:cond delay="7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par>
                                <p:cTn id="39" presetID="16" presetClass="entr" presetSubtype="21" fill="hold" grpId="0" nodeType="withEffect">
                                  <p:stCondLst>
                                    <p:cond delay="250"/>
                                  </p:stCondLst>
                                  <p:childTnLst>
                                    <p:set>
                                      <p:cBhvr>
                                        <p:cTn id="40" dur="1" fill="hold">
                                          <p:stCondLst>
                                            <p:cond delay="0"/>
                                          </p:stCondLst>
                                        </p:cTn>
                                        <p:tgtEl>
                                          <p:spTgt spid="11"/>
                                        </p:tgtEl>
                                        <p:attrNameLst>
                                          <p:attrName>style.visibility</p:attrName>
                                        </p:attrNameLst>
                                      </p:cBhvr>
                                      <p:to>
                                        <p:strVal val="visible"/>
                                      </p:to>
                                    </p:set>
                                    <p:animEffect transition="in" filter="barn(inVertical)">
                                      <p:cBhvr>
                                        <p:cTn id="41" dur="500"/>
                                        <p:tgtEl>
                                          <p:spTgt spid="11"/>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par>
                                <p:cTn id="47" presetID="22" presetClass="entr" presetSubtype="4" fill="hold" nodeType="with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5" grpId="0" animBg="1"/>
      <p:bldP spid="17" grpId="0" animBg="1"/>
      <p:bldP spid="30" grpId="0"/>
      <p:bldP spid="32" grpId="0" animBg="1"/>
      <p:bldP spid="33" grpId="0" animBg="1"/>
      <p:bldP spid="3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nvGrpSpPr>
        <p:grpSpPr>
          <a:xfrm>
            <a:off x="1190336" y="272525"/>
            <a:ext cx="4905664" cy="618693"/>
            <a:chOff x="1438134" y="699421"/>
            <a:chExt cx="4905663" cy="618693"/>
          </a:xfrm>
        </p:grpSpPr>
        <p:sp>
          <p:nvSpPr>
            <p:cNvPr id="37" name="文本框 36"/>
            <p:cNvSpPr txBox="1"/>
            <p:nvPr/>
          </p:nvSpPr>
          <p:spPr>
            <a:xfrm>
              <a:off x="1438134" y="699421"/>
              <a:ext cx="4905663" cy="461665"/>
            </a:xfrm>
            <a:prstGeom prst="rect">
              <a:avLst/>
            </a:prstGeom>
            <a:noFill/>
          </p:spPr>
          <p:txBody>
            <a:bodyPr wrap="square" rtlCol="0">
              <a:spAutoFit/>
            </a:bodyPr>
            <a:lstStyle>
              <a:defPPr>
                <a:defRPr lang="zh-CN"/>
              </a:defPPr>
              <a:lvl1pPr algn="ctr">
                <a:defRPr sz="1200" spc="300">
                  <a:gradFill flip="none" rotWithShape="1">
                    <a:gsLst>
                      <a:gs pos="0">
                        <a:schemeClr val="accent5">
                          <a:lumMod val="60000"/>
                          <a:lumOff val="40000"/>
                        </a:schemeClr>
                      </a:gs>
                      <a:gs pos="100000">
                        <a:schemeClr val="accent3"/>
                      </a:gs>
                    </a:gsLst>
                    <a:lin ang="16200000" scaled="1"/>
                    <a:tileRect/>
                  </a:gradFill>
                  <a:cs typeface="+mn-ea"/>
                </a:defRPr>
              </a:lvl1pPr>
            </a:lstStyle>
            <a:p>
              <a:pPr algn="l"/>
              <a:r>
                <a:rPr lang="en-US" altLang="zh-CN" sz="2400" b="1" spc="0" dirty="0">
                  <a:solidFill>
                    <a:schemeClr val="tx1">
                      <a:lumMod val="75000"/>
                      <a:lumOff val="2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04 Power Query Overview</a:t>
              </a:r>
              <a:endParaRPr lang="zh-CN" altLang="en-US" sz="2400" b="1" spc="0" dirty="0">
                <a:solidFill>
                  <a:schemeClr val="tx1">
                    <a:lumMod val="75000"/>
                    <a:lumOff val="2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sp>
          <p:nvSpPr>
            <p:cNvPr id="38" name="文本框 37"/>
            <p:cNvSpPr txBox="1"/>
            <p:nvPr/>
          </p:nvSpPr>
          <p:spPr>
            <a:xfrm>
              <a:off x="1440874" y="1087282"/>
              <a:ext cx="4087091" cy="230832"/>
            </a:xfrm>
            <a:prstGeom prst="rect">
              <a:avLst/>
            </a:prstGeom>
          </p:spPr>
          <p:txBody>
            <a:bodyPr wrap="square">
              <a:spAutoFit/>
            </a:bodyPr>
            <a:lstStyle>
              <a:defPPr>
                <a:defRPr lang="zh-CN"/>
              </a:defPPr>
              <a:lvl1pPr algn="ctr">
                <a:defRPr sz="2800">
                  <a:solidFill>
                    <a:srgbClr val="000000">
                      <a:lumMod val="65000"/>
                      <a:lumOff val="35000"/>
                    </a:srgbClr>
                  </a:solidFill>
                  <a:latin typeface="Century Gothic" panose="020B0502020202020204" pitchFamily="34" charset="0"/>
                  <a:cs typeface="Lato Thin" panose="020F0502020204030203" pitchFamily="34" charset="0"/>
                </a:defRPr>
              </a:lvl1pPr>
            </a:lstStyle>
            <a:p>
              <a:pPr algn="l">
                <a:lnSpc>
                  <a:spcPct val="90000"/>
                </a:lnSpc>
                <a:spcBef>
                  <a:spcPts val="1000"/>
                </a:spcBef>
              </a:pPr>
              <a:endParaRPr lang="en-US" altLang="zh-CN" sz="1000" dirty="0">
                <a:solidFill>
                  <a:prstClr val="white">
                    <a:lumMod val="50000"/>
                  </a:prstClr>
                </a:solidFill>
                <a:latin typeface="阿里巴巴普惠体 Medium" pitchFamily="18" charset="-122"/>
                <a:ea typeface="阿里巴巴普惠体 Medium" pitchFamily="18" charset="-122"/>
                <a:cs typeface="Arial" panose="020B0604020202020204" pitchFamily="34" charset="0"/>
              </a:endParaRPr>
            </a:p>
          </p:txBody>
        </p:sp>
      </p:grpSp>
      <p:sp>
        <p:nvSpPr>
          <p:cNvPr id="6" name="TextBox 5">
            <a:extLst>
              <a:ext uri="{FF2B5EF4-FFF2-40B4-BE49-F238E27FC236}">
                <a16:creationId xmlns:a16="http://schemas.microsoft.com/office/drawing/2014/main" id="{D9694F8E-87D3-DA4E-E46F-CB099079C949}"/>
              </a:ext>
            </a:extLst>
          </p:cNvPr>
          <p:cNvSpPr txBox="1"/>
          <p:nvPr/>
        </p:nvSpPr>
        <p:spPr>
          <a:xfrm>
            <a:off x="335360" y="1104539"/>
            <a:ext cx="11089232" cy="1477328"/>
          </a:xfrm>
          <a:prstGeom prst="rect">
            <a:avLst/>
          </a:prstGeom>
          <a:noFill/>
        </p:spPr>
        <p:txBody>
          <a:bodyPr wrap="square">
            <a:spAutoFit/>
          </a:bodyPr>
          <a:lstStyle/>
          <a:p>
            <a:pPr algn="l">
              <a:defRPr sz="1800">
                <a:solidFill>
                  <a:srgbClr val="282828"/>
                </a:solidFill>
              </a:defRPr>
            </a:pPr>
            <a:r>
              <a:rPr lang="en-US" dirty="0"/>
              <a:t>- clean and transform the data</a:t>
            </a:r>
            <a:br>
              <a:rPr lang="en-US" dirty="0"/>
            </a:br>
            <a:r>
              <a:rPr lang="en-US" dirty="0"/>
              <a:t>- Each step—renaming columns.</a:t>
            </a:r>
            <a:br>
              <a:rPr lang="en-US" dirty="0"/>
            </a:br>
            <a:r>
              <a:rPr lang="en-US" dirty="0"/>
              <a:t>- changing data types.</a:t>
            </a:r>
            <a:br>
              <a:rPr lang="en-US" dirty="0"/>
            </a:br>
            <a:r>
              <a:rPr lang="en-US" dirty="0"/>
              <a:t>- Filtering rows</a:t>
            </a:r>
            <a:br>
              <a:rPr lang="en-US" dirty="0"/>
            </a:br>
            <a:r>
              <a:rPr lang="en-US" dirty="0"/>
              <a:t>- Was documented in applied steps for easy traceability and reproducibility.</a:t>
            </a:r>
          </a:p>
        </p:txBody>
      </p:sp>
      <p:pic>
        <p:nvPicPr>
          <p:cNvPr id="7" name="Picture 6">
            <a:extLst>
              <a:ext uri="{FF2B5EF4-FFF2-40B4-BE49-F238E27FC236}">
                <a16:creationId xmlns:a16="http://schemas.microsoft.com/office/drawing/2014/main" id="{88ADC77B-AC40-B92E-3FC7-2C5344E03ACB}"/>
              </a:ext>
            </a:extLst>
          </p:cNvPr>
          <p:cNvPicPr>
            <a:picLocks noChangeAspect="1"/>
          </p:cNvPicPr>
          <p:nvPr/>
        </p:nvPicPr>
        <p:blipFill>
          <a:blip r:embed="rId2"/>
          <a:stretch>
            <a:fillRect/>
          </a:stretch>
        </p:blipFill>
        <p:spPr>
          <a:xfrm>
            <a:off x="5901194" y="2828752"/>
            <a:ext cx="6017886" cy="2616472"/>
          </a:xfrm>
          <a:prstGeom prst="rect">
            <a:avLst/>
          </a:prstGeom>
        </p:spPr>
      </p:pic>
      <p:sp>
        <p:nvSpPr>
          <p:cNvPr id="10" name="TextBox 9">
            <a:extLst>
              <a:ext uri="{FF2B5EF4-FFF2-40B4-BE49-F238E27FC236}">
                <a16:creationId xmlns:a16="http://schemas.microsoft.com/office/drawing/2014/main" id="{8F961674-D1CB-DC18-88E5-9BF65B47FDD8}"/>
              </a:ext>
            </a:extLst>
          </p:cNvPr>
          <p:cNvSpPr txBox="1"/>
          <p:nvPr/>
        </p:nvSpPr>
        <p:spPr>
          <a:xfrm>
            <a:off x="7066800" y="5618836"/>
            <a:ext cx="3686673" cy="646331"/>
          </a:xfrm>
          <a:prstGeom prst="rect">
            <a:avLst/>
          </a:prstGeom>
          <a:noFill/>
        </p:spPr>
        <p:txBody>
          <a:bodyPr wrap="square">
            <a:spAutoFit/>
          </a:bodyPr>
          <a:lstStyle/>
          <a:p>
            <a:r>
              <a:rPr lang="en-US" b="1" dirty="0"/>
              <a:t>"</a:t>
            </a:r>
            <a:r>
              <a:rPr lang="en-US" dirty="0">
                <a:solidFill>
                  <a:srgbClr val="282828"/>
                </a:solidFill>
              </a:rPr>
              <a:t>Locating Train Stations – These Represent Departure Points</a:t>
            </a:r>
            <a:r>
              <a:rPr lang="en-US" b="1" dirty="0"/>
              <a:t>"</a:t>
            </a:r>
          </a:p>
        </p:txBody>
      </p:sp>
      <p:pic>
        <p:nvPicPr>
          <p:cNvPr id="11" name="Picture 10">
            <a:extLst>
              <a:ext uri="{FF2B5EF4-FFF2-40B4-BE49-F238E27FC236}">
                <a16:creationId xmlns:a16="http://schemas.microsoft.com/office/drawing/2014/main" id="{AE6C36A6-4938-66E9-6362-A4339F80CF82}"/>
              </a:ext>
            </a:extLst>
          </p:cNvPr>
          <p:cNvPicPr>
            <a:picLocks noChangeAspect="1"/>
          </p:cNvPicPr>
          <p:nvPr/>
        </p:nvPicPr>
        <p:blipFill>
          <a:blip r:embed="rId3"/>
          <a:stretch>
            <a:fillRect/>
          </a:stretch>
        </p:blipFill>
        <p:spPr>
          <a:xfrm>
            <a:off x="119336" y="2828752"/>
            <a:ext cx="5655540" cy="2616472"/>
          </a:xfrm>
          <a:prstGeom prst="rect">
            <a:avLst/>
          </a:prstGeom>
        </p:spPr>
      </p:pic>
      <p:sp>
        <p:nvSpPr>
          <p:cNvPr id="14" name="TextBox 13">
            <a:extLst>
              <a:ext uri="{FF2B5EF4-FFF2-40B4-BE49-F238E27FC236}">
                <a16:creationId xmlns:a16="http://schemas.microsoft.com/office/drawing/2014/main" id="{BC06141F-153A-79F6-D3F0-6CF5D2E4C593}"/>
              </a:ext>
            </a:extLst>
          </p:cNvPr>
          <p:cNvSpPr txBox="1"/>
          <p:nvPr/>
        </p:nvSpPr>
        <p:spPr>
          <a:xfrm>
            <a:off x="695400" y="5633260"/>
            <a:ext cx="3686673" cy="646331"/>
          </a:xfrm>
          <a:prstGeom prst="rect">
            <a:avLst/>
          </a:prstGeom>
          <a:noFill/>
        </p:spPr>
        <p:txBody>
          <a:bodyPr wrap="square">
            <a:spAutoFit/>
          </a:bodyPr>
          <a:lstStyle/>
          <a:p>
            <a:r>
              <a:rPr lang="en-US" b="1" dirty="0"/>
              <a:t>"</a:t>
            </a:r>
            <a:r>
              <a:rPr lang="en-US" dirty="0">
                <a:solidFill>
                  <a:srgbClr val="282828"/>
                </a:solidFill>
              </a:rPr>
              <a:t> Locating Train Stations– These Are Arrival Stations</a:t>
            </a:r>
            <a:r>
              <a:rPr lang="en-US" b="1" dirty="0"/>
              <a:t>"</a:t>
            </a:r>
          </a:p>
        </p:txBody>
      </p:sp>
    </p:spTree>
    <p:extLst>
      <p:ext uri="{BB962C8B-B14F-4D97-AF65-F5344CB8AC3E}">
        <p14:creationId xmlns:p14="http://schemas.microsoft.com/office/powerpoint/2010/main" val="704105494"/>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61086-1BC0-1ABE-AC75-78CA3B8A1F72}"/>
            </a:ext>
          </a:extLst>
        </p:cNvPr>
        <p:cNvGrpSpPr/>
        <p:nvPr/>
      </p:nvGrpSpPr>
      <p:grpSpPr>
        <a:xfrm>
          <a:off x="0" y="0"/>
          <a:ext cx="0" cy="0"/>
          <a:chOff x="0" y="0"/>
          <a:chExt cx="0" cy="0"/>
        </a:xfrm>
      </p:grpSpPr>
      <p:sp>
        <p:nvSpPr>
          <p:cNvPr id="11" name="TextBox 30">
            <a:extLst>
              <a:ext uri="{FF2B5EF4-FFF2-40B4-BE49-F238E27FC236}">
                <a16:creationId xmlns:a16="http://schemas.microsoft.com/office/drawing/2014/main" id="{3838B626-9A2B-A13F-9F0F-C3CCDF921C8F}"/>
              </a:ext>
            </a:extLst>
          </p:cNvPr>
          <p:cNvSpPr txBox="1"/>
          <p:nvPr/>
        </p:nvSpPr>
        <p:spPr>
          <a:xfrm>
            <a:off x="1503355" y="2558574"/>
            <a:ext cx="2436372" cy="2323713"/>
          </a:xfrm>
          <a:prstGeom prst="rect">
            <a:avLst/>
          </a:prstGeom>
          <a:noFill/>
        </p:spPr>
        <p:txBody>
          <a:bodyPr wrap="square" rtlCol="0">
            <a:spAutoFit/>
          </a:bodyPr>
          <a:lstStyle/>
          <a:p>
            <a:pPr algn="r" defTabSz="228600"/>
            <a:r>
              <a:rPr lang="en-US" altLang="zh-CN"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rPr>
              <a:t>05</a:t>
            </a:r>
            <a:endParaRPr lang="zh-CN" altLang="en-US"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endParaRPr>
          </a:p>
        </p:txBody>
      </p:sp>
      <p:sp>
        <p:nvSpPr>
          <p:cNvPr id="12" name="文本框 11">
            <a:extLst>
              <a:ext uri="{FF2B5EF4-FFF2-40B4-BE49-F238E27FC236}">
                <a16:creationId xmlns:a16="http://schemas.microsoft.com/office/drawing/2014/main" id="{40D45334-8C61-CBD5-3019-105CCF5696A7}"/>
              </a:ext>
            </a:extLst>
          </p:cNvPr>
          <p:cNvSpPr txBox="1"/>
          <p:nvPr/>
        </p:nvSpPr>
        <p:spPr>
          <a:xfrm>
            <a:off x="4523009" y="2732133"/>
            <a:ext cx="6469533" cy="814582"/>
          </a:xfrm>
          <a:prstGeom prst="rect">
            <a:avLst/>
          </a:prstGeom>
          <a:noFill/>
          <a:scene3d>
            <a:camera prst="orthographicFront"/>
            <a:lightRig rig="threePt" dir="t"/>
          </a:scene3d>
        </p:spPr>
        <p:txBody>
          <a:bodyPr wrap="square" rtlCol="0">
            <a:spAutoFit/>
          </a:bodyPr>
          <a:lstStyle/>
          <a:p>
            <a:pPr>
              <a:lnSpc>
                <a:spcPct val="130000"/>
              </a:lnSpc>
            </a:pPr>
            <a:r>
              <a:rPr lang="en-US" altLang="zh-CN" sz="4000" b="1" dirty="0">
                <a:solidFill>
                  <a:srgbClr val="1B1B1B"/>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Handling Missing Data</a:t>
            </a:r>
          </a:p>
        </p:txBody>
      </p:sp>
      <p:sp>
        <p:nvSpPr>
          <p:cNvPr id="13" name="Rectangle 3">
            <a:extLst>
              <a:ext uri="{FF2B5EF4-FFF2-40B4-BE49-F238E27FC236}">
                <a16:creationId xmlns:a16="http://schemas.microsoft.com/office/drawing/2014/main" id="{4F8C4343-1756-6A95-60C5-BCB8586F71CA}"/>
              </a:ext>
            </a:extLst>
          </p:cNvPr>
          <p:cNvSpPr>
            <a:spLocks/>
          </p:cNvSpPr>
          <p:nvPr/>
        </p:nvSpPr>
        <p:spPr bwMode="auto">
          <a:xfrm>
            <a:off x="4622835" y="3429000"/>
            <a:ext cx="5346619" cy="1363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20000"/>
              </a:lnSpc>
              <a:spcBef>
                <a:spcPct val="0"/>
              </a:spcBef>
              <a:buSzTx/>
              <a:buNone/>
            </a:pPr>
            <a:endPar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endParaRPr>
          </a:p>
          <a:p>
            <a:pPr>
              <a:lnSpc>
                <a:spcPct val="120000"/>
              </a:lnSpc>
              <a:spcBef>
                <a:spcPct val="0"/>
              </a:spcBef>
              <a:buSzTx/>
              <a:buNone/>
            </a:pPr>
            <a:r>
              <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rPr>
              <a:t>Identified and handled by filling in with default values or removing incomplete rows. Ensuring completeness was key to maintaining data integrity and supporting meaningful analysis.</a:t>
            </a:r>
          </a:p>
        </p:txBody>
      </p:sp>
      <p:sp>
        <p:nvSpPr>
          <p:cNvPr id="14" name="平行四边形 13">
            <a:extLst>
              <a:ext uri="{FF2B5EF4-FFF2-40B4-BE49-F238E27FC236}">
                <a16:creationId xmlns:a16="http://schemas.microsoft.com/office/drawing/2014/main" id="{43580413-2C26-4400-D972-F39B2B01E0E6}"/>
              </a:ext>
            </a:extLst>
          </p:cNvPr>
          <p:cNvSpPr/>
          <p:nvPr/>
        </p:nvSpPr>
        <p:spPr>
          <a:xfrm flipH="1" flipV="1">
            <a:off x="11498754" y="5765570"/>
            <a:ext cx="1077967" cy="1119813"/>
          </a:xfrm>
          <a:prstGeom prst="parallelogram">
            <a:avLst>
              <a:gd name="adj" fmla="val 70972"/>
            </a:avLst>
          </a:prstGeom>
          <a:gradFill>
            <a:gsLst>
              <a:gs pos="0">
                <a:srgbClr val="E4E4E4">
                  <a:alpha val="34000"/>
                </a:srgbClr>
              </a:gs>
              <a:gs pos="85000">
                <a:srgbClr val="E4E4E4">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a:extLst>
              <a:ext uri="{FF2B5EF4-FFF2-40B4-BE49-F238E27FC236}">
                <a16:creationId xmlns:a16="http://schemas.microsoft.com/office/drawing/2014/main" id="{D70910B9-308A-4542-A34D-7C5E28474344}"/>
              </a:ext>
            </a:extLst>
          </p:cNvPr>
          <p:cNvSpPr/>
          <p:nvPr/>
        </p:nvSpPr>
        <p:spPr>
          <a:xfrm>
            <a:off x="8328249" y="3223805"/>
            <a:ext cx="3880471" cy="3645810"/>
          </a:xfrm>
          <a:prstGeom prst="triangle">
            <a:avLst>
              <a:gd name="adj" fmla="val 100000"/>
            </a:avLst>
          </a:prstGeom>
          <a:gradFill>
            <a:gsLst>
              <a:gs pos="3614">
                <a:srgbClr val="66A2C6"/>
              </a:gs>
              <a:gs pos="65000">
                <a:srgbClr val="0E4576"/>
              </a:gs>
              <a:gs pos="100000">
                <a:srgbClr val="102A52"/>
              </a:gs>
            </a:gsLst>
            <a:lin ang="5400000" scaled="1"/>
          </a:gradFill>
          <a:ln>
            <a:noFill/>
          </a:ln>
          <a:effectLst>
            <a:outerShdw blurRad="101600" dist="38100" dir="13500000" algn="b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a:extLst>
              <a:ext uri="{FF2B5EF4-FFF2-40B4-BE49-F238E27FC236}">
                <a16:creationId xmlns:a16="http://schemas.microsoft.com/office/drawing/2014/main" id="{CF75822E-7D2E-359B-9048-EB9DADA0E564}"/>
              </a:ext>
            </a:extLst>
          </p:cNvPr>
          <p:cNvSpPr/>
          <p:nvPr/>
        </p:nvSpPr>
        <p:spPr>
          <a:xfrm flipH="1" flipV="1">
            <a:off x="-46848" y="0"/>
            <a:ext cx="3046503" cy="2862274"/>
          </a:xfrm>
          <a:prstGeom prst="triangle">
            <a:avLst>
              <a:gd name="adj" fmla="val 100000"/>
            </a:avLst>
          </a:prstGeom>
          <a:solidFill>
            <a:srgbClr val="0E4576"/>
          </a:solidFill>
          <a:ln>
            <a:no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43386A3A-C918-F454-041C-CCCC009904E9}"/>
              </a:ext>
            </a:extLst>
          </p:cNvPr>
          <p:cNvSpPr/>
          <p:nvPr/>
        </p:nvSpPr>
        <p:spPr>
          <a:xfrm>
            <a:off x="1415482" y="3505891"/>
            <a:ext cx="2552327" cy="3551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Box 30">
            <a:extLst>
              <a:ext uri="{FF2B5EF4-FFF2-40B4-BE49-F238E27FC236}">
                <a16:creationId xmlns:a16="http://schemas.microsoft.com/office/drawing/2014/main" id="{9B06E243-DAF7-51DF-F892-2A6D0B0CA60A}"/>
              </a:ext>
            </a:extLst>
          </p:cNvPr>
          <p:cNvSpPr txBox="1"/>
          <p:nvPr/>
        </p:nvSpPr>
        <p:spPr>
          <a:xfrm>
            <a:off x="1957488" y="3521656"/>
            <a:ext cx="1352357" cy="338554"/>
          </a:xfrm>
          <a:prstGeom prst="rect">
            <a:avLst/>
          </a:prstGeom>
          <a:noFill/>
        </p:spPr>
        <p:txBody>
          <a:bodyPr wrap="square" rtlCol="0">
            <a:spAutoFit/>
          </a:bodyPr>
          <a:lstStyle/>
          <a:p>
            <a:pPr algn="ctr" defTabSz="228600"/>
            <a:r>
              <a:rPr lang="en-US" altLang="zh-CN"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rPr>
              <a:t>Part Five</a:t>
            </a:r>
            <a:endParaRPr lang="zh-CN" altLang="en-US"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endParaRPr>
          </a:p>
        </p:txBody>
      </p:sp>
      <p:cxnSp>
        <p:nvCxnSpPr>
          <p:cNvPr id="31" name="直接连接符 30">
            <a:extLst>
              <a:ext uri="{FF2B5EF4-FFF2-40B4-BE49-F238E27FC236}">
                <a16:creationId xmlns:a16="http://schemas.microsoft.com/office/drawing/2014/main" id="{7CC39764-E8DF-9044-CDB4-EA4E9AADB08B}"/>
              </a:ext>
            </a:extLst>
          </p:cNvPr>
          <p:cNvCxnSpPr/>
          <p:nvPr/>
        </p:nvCxnSpPr>
        <p:spPr>
          <a:xfrm>
            <a:off x="4104487" y="2940710"/>
            <a:ext cx="0" cy="1510342"/>
          </a:xfrm>
          <a:prstGeom prst="line">
            <a:avLst/>
          </a:prstGeom>
          <a:ln w="12700">
            <a:solidFill>
              <a:srgbClr val="2D354B">
                <a:alpha val="20000"/>
              </a:srgbClr>
            </a:solidFill>
          </a:ln>
        </p:spPr>
        <p:style>
          <a:lnRef idx="1">
            <a:schemeClr val="accent1"/>
          </a:lnRef>
          <a:fillRef idx="0">
            <a:schemeClr val="accent1"/>
          </a:fillRef>
          <a:effectRef idx="0">
            <a:schemeClr val="accent1"/>
          </a:effectRef>
          <a:fontRef idx="minor">
            <a:schemeClr val="tx1"/>
          </a:fontRef>
        </p:style>
      </p:cxnSp>
      <p:sp>
        <p:nvSpPr>
          <p:cNvPr id="32" name="圆角矩形 31">
            <a:extLst>
              <a:ext uri="{FF2B5EF4-FFF2-40B4-BE49-F238E27FC236}">
                <a16:creationId xmlns:a16="http://schemas.microsoft.com/office/drawing/2014/main" id="{377A9C14-04AA-5322-1C11-D65C1D78E6A6}"/>
              </a:ext>
            </a:extLst>
          </p:cNvPr>
          <p:cNvSpPr/>
          <p:nvPr/>
        </p:nvSpPr>
        <p:spPr>
          <a:xfrm rot="2700000">
            <a:off x="609964" y="726490"/>
            <a:ext cx="369745" cy="369745"/>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94C5DE"/>
                  </a:gs>
                  <a:gs pos="100000">
                    <a:srgbClr val="356A9C"/>
                  </a:gs>
                </a:gsLst>
                <a:lin ang="2700000" scaled="0"/>
              </a:gradFill>
            </a:endParaRPr>
          </a:p>
        </p:txBody>
      </p:sp>
      <p:sp>
        <p:nvSpPr>
          <p:cNvPr id="33" name="圆角矩形 32">
            <a:extLst>
              <a:ext uri="{FF2B5EF4-FFF2-40B4-BE49-F238E27FC236}">
                <a16:creationId xmlns:a16="http://schemas.microsoft.com/office/drawing/2014/main" id="{F78FF46B-2150-0B4C-50F5-5271D1FEFAED}"/>
              </a:ext>
            </a:extLst>
          </p:cNvPr>
          <p:cNvSpPr/>
          <p:nvPr/>
        </p:nvSpPr>
        <p:spPr>
          <a:xfrm rot="2700000">
            <a:off x="555613" y="1858238"/>
            <a:ext cx="134147" cy="134147"/>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D0D563DC-0036-1A68-193F-F6BB4B4846F3}"/>
              </a:ext>
            </a:extLst>
          </p:cNvPr>
          <p:cNvCxnSpPr>
            <a:stCxn id="17" idx="2"/>
            <a:endCxn id="17" idx="0"/>
          </p:cNvCxnSpPr>
          <p:nvPr/>
        </p:nvCxnSpPr>
        <p:spPr>
          <a:xfrm flipH="1">
            <a:off x="-46848" y="0"/>
            <a:ext cx="3046503" cy="2862274"/>
          </a:xfrm>
          <a:prstGeom prst="line">
            <a:avLst/>
          </a:prstGeom>
          <a:ln w="57150">
            <a:gradFill>
              <a:gsLst>
                <a:gs pos="0">
                  <a:srgbClr val="66A2C6">
                    <a:alpha val="0"/>
                  </a:srgbClr>
                </a:gs>
                <a:gs pos="100000">
                  <a:srgbClr val="66A2C6"/>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圆角矩形 33">
            <a:extLst>
              <a:ext uri="{FF2B5EF4-FFF2-40B4-BE49-F238E27FC236}">
                <a16:creationId xmlns:a16="http://schemas.microsoft.com/office/drawing/2014/main" id="{3269791F-59B6-29CD-9546-E4EACF1C4DA8}"/>
              </a:ext>
            </a:extLst>
          </p:cNvPr>
          <p:cNvSpPr/>
          <p:nvPr/>
        </p:nvSpPr>
        <p:spPr>
          <a:xfrm rot="2700000">
            <a:off x="1627747" y="647742"/>
            <a:ext cx="600616" cy="600616"/>
          </a:xfrm>
          <a:prstGeom prst="roundRect">
            <a:avLst>
              <a:gd name="adj" fmla="val 6915"/>
            </a:avLst>
          </a:prstGeom>
          <a:noFill/>
          <a:ln w="50800">
            <a:gradFill>
              <a:gsLst>
                <a:gs pos="0">
                  <a:srgbClr val="66A2C6"/>
                </a:gs>
                <a:gs pos="100000">
                  <a:srgbClr val="0E4576"/>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22" name="Picture 2" descr="No data - Free files and folders icons">
            <a:extLst>
              <a:ext uri="{FF2B5EF4-FFF2-40B4-BE49-F238E27FC236}">
                <a16:creationId xmlns:a16="http://schemas.microsoft.com/office/drawing/2014/main" id="{9C11A191-CCF7-E9FD-399C-46B727E1A9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1650" y="405852"/>
            <a:ext cx="2232249" cy="2232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921235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p:cTn id="13" dur="500" fill="hold"/>
                                        <p:tgtEl>
                                          <p:spTgt spid="32"/>
                                        </p:tgtEl>
                                        <p:attrNameLst>
                                          <p:attrName>ppt_w</p:attrName>
                                        </p:attrNameLst>
                                      </p:cBhvr>
                                      <p:tavLst>
                                        <p:tav tm="0">
                                          <p:val>
                                            <p:fltVal val="0"/>
                                          </p:val>
                                        </p:tav>
                                        <p:tav tm="100000">
                                          <p:val>
                                            <p:strVal val="#ppt_w"/>
                                          </p:val>
                                        </p:tav>
                                      </p:tavLst>
                                    </p:anim>
                                    <p:anim calcmode="lin" valueType="num">
                                      <p:cBhvr>
                                        <p:cTn id="14" dur="500" fill="hold"/>
                                        <p:tgtEl>
                                          <p:spTgt spid="32"/>
                                        </p:tgtEl>
                                        <p:attrNameLst>
                                          <p:attrName>ppt_h</p:attrName>
                                        </p:attrNameLst>
                                      </p:cBhvr>
                                      <p:tavLst>
                                        <p:tav tm="0">
                                          <p:val>
                                            <p:fltVal val="0"/>
                                          </p:val>
                                        </p:tav>
                                        <p:tav tm="100000">
                                          <p:val>
                                            <p:strVal val="#ppt_h"/>
                                          </p:val>
                                        </p:tav>
                                      </p:tavLst>
                                    </p:anim>
                                    <p:animEffect transition="in" filter="fade">
                                      <p:cBhvr>
                                        <p:cTn id="15" dur="500"/>
                                        <p:tgtEl>
                                          <p:spTgt spid="32"/>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 calcmode="lin" valueType="num">
                                      <p:cBhvr>
                                        <p:cTn id="18" dur="500" fill="hold"/>
                                        <p:tgtEl>
                                          <p:spTgt spid="33"/>
                                        </p:tgtEl>
                                        <p:attrNameLst>
                                          <p:attrName>ppt_w</p:attrName>
                                        </p:attrNameLst>
                                      </p:cBhvr>
                                      <p:tavLst>
                                        <p:tav tm="0">
                                          <p:val>
                                            <p:fltVal val="0"/>
                                          </p:val>
                                        </p:tav>
                                        <p:tav tm="100000">
                                          <p:val>
                                            <p:strVal val="#ppt_w"/>
                                          </p:val>
                                        </p:tav>
                                      </p:tavLst>
                                    </p:anim>
                                    <p:anim calcmode="lin" valueType="num">
                                      <p:cBhvr>
                                        <p:cTn id="19" dur="500" fill="hold"/>
                                        <p:tgtEl>
                                          <p:spTgt spid="33"/>
                                        </p:tgtEl>
                                        <p:attrNameLst>
                                          <p:attrName>ppt_h</p:attrName>
                                        </p:attrNameLst>
                                      </p:cBhvr>
                                      <p:tavLst>
                                        <p:tav tm="0">
                                          <p:val>
                                            <p:fltVal val="0"/>
                                          </p:val>
                                        </p:tav>
                                        <p:tav tm="100000">
                                          <p:val>
                                            <p:strVal val="#ppt_h"/>
                                          </p:val>
                                        </p:tav>
                                      </p:tavLst>
                                    </p:anim>
                                    <p:animEffect transition="in" filter="fade">
                                      <p:cBhvr>
                                        <p:cTn id="20" dur="500"/>
                                        <p:tgtEl>
                                          <p:spTgt spid="33"/>
                                        </p:tgtEl>
                                      </p:cBhvr>
                                    </p:animEffect>
                                  </p:childTnLst>
                                </p:cTn>
                              </p:par>
                              <p:par>
                                <p:cTn id="21" presetID="16" presetClass="entr" presetSubtype="21" fill="hold" grpId="0" nodeType="withEffect">
                                  <p:stCondLst>
                                    <p:cond delay="250"/>
                                  </p:stCondLst>
                                  <p:childTnLst>
                                    <p:set>
                                      <p:cBhvr>
                                        <p:cTn id="22" dur="1" fill="hold">
                                          <p:stCondLst>
                                            <p:cond delay="0"/>
                                          </p:stCondLst>
                                        </p:cTn>
                                        <p:tgtEl>
                                          <p:spTgt spid="30"/>
                                        </p:tgtEl>
                                        <p:attrNameLst>
                                          <p:attrName>style.visibility</p:attrName>
                                        </p:attrNameLst>
                                      </p:cBhvr>
                                      <p:to>
                                        <p:strVal val="visible"/>
                                      </p:to>
                                    </p:set>
                                    <p:animEffect transition="in" filter="barn(inVertical)">
                                      <p:cBhvr>
                                        <p:cTn id="23" dur="500"/>
                                        <p:tgtEl>
                                          <p:spTgt spid="30"/>
                                        </p:tgtEl>
                                      </p:cBhvr>
                                    </p:animEffect>
                                  </p:childTnLst>
                                </p:cTn>
                              </p:par>
                              <p:par>
                                <p:cTn id="24" presetID="16" presetClass="entr" presetSubtype="42" fill="hold" nodeType="withEffect">
                                  <p:stCondLst>
                                    <p:cond delay="250"/>
                                  </p:stCondLst>
                                  <p:childTnLst>
                                    <p:set>
                                      <p:cBhvr>
                                        <p:cTn id="25" dur="1" fill="hold">
                                          <p:stCondLst>
                                            <p:cond delay="0"/>
                                          </p:stCondLst>
                                        </p:cTn>
                                        <p:tgtEl>
                                          <p:spTgt spid="31"/>
                                        </p:tgtEl>
                                        <p:attrNameLst>
                                          <p:attrName>style.visibility</p:attrName>
                                        </p:attrNameLst>
                                      </p:cBhvr>
                                      <p:to>
                                        <p:strVal val="visible"/>
                                      </p:to>
                                    </p:set>
                                    <p:animEffect transition="in" filter="barn(outHorizontal)">
                                      <p:cBhvr>
                                        <p:cTn id="26" dur="500"/>
                                        <p:tgtEl>
                                          <p:spTgt spid="31"/>
                                        </p:tgtEl>
                                      </p:cBhvr>
                                    </p:animEffect>
                                  </p:childTnLst>
                                </p:cTn>
                              </p:par>
                              <p:par>
                                <p:cTn id="27" presetID="41" presetClass="entr" presetSubtype="0" fill="hold" grpId="0" nodeType="withEffect">
                                  <p:stCondLst>
                                    <p:cond delay="500"/>
                                  </p:stCondLst>
                                  <p:iterate type="lt">
                                    <p:tmPct val="10000"/>
                                  </p:iterate>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12"/>
                                        </p:tgtEl>
                                        <p:attrNameLst>
                                          <p:attrName>ppt_y</p:attrName>
                                        </p:attrNameLst>
                                      </p:cBhvr>
                                      <p:tavLst>
                                        <p:tav tm="0">
                                          <p:val>
                                            <p:strVal val="#ppt_y"/>
                                          </p:val>
                                        </p:tav>
                                        <p:tav tm="100000">
                                          <p:val>
                                            <p:strVal val="#ppt_y"/>
                                          </p:val>
                                        </p:tav>
                                      </p:tavLst>
                                    </p:anim>
                                    <p:anim calcmode="lin" valueType="num">
                                      <p:cBhvr>
                                        <p:cTn id="31"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12"/>
                                        </p:tgtEl>
                                      </p:cBhvr>
                                    </p:animEffect>
                                  </p:childTnLst>
                                </p:cTn>
                              </p:par>
                              <p:par>
                                <p:cTn id="34" presetID="42" presetClass="entr" presetSubtype="0" fill="hold" grpId="0" nodeType="withEffect">
                                  <p:stCondLst>
                                    <p:cond delay="7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par>
                                <p:cTn id="39" presetID="16" presetClass="entr" presetSubtype="21" fill="hold" grpId="0" nodeType="withEffect">
                                  <p:stCondLst>
                                    <p:cond delay="250"/>
                                  </p:stCondLst>
                                  <p:childTnLst>
                                    <p:set>
                                      <p:cBhvr>
                                        <p:cTn id="40" dur="1" fill="hold">
                                          <p:stCondLst>
                                            <p:cond delay="0"/>
                                          </p:stCondLst>
                                        </p:cTn>
                                        <p:tgtEl>
                                          <p:spTgt spid="11"/>
                                        </p:tgtEl>
                                        <p:attrNameLst>
                                          <p:attrName>style.visibility</p:attrName>
                                        </p:attrNameLst>
                                      </p:cBhvr>
                                      <p:to>
                                        <p:strVal val="visible"/>
                                      </p:to>
                                    </p:set>
                                    <p:animEffect transition="in" filter="barn(inVertical)">
                                      <p:cBhvr>
                                        <p:cTn id="41" dur="500"/>
                                        <p:tgtEl>
                                          <p:spTgt spid="11"/>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par>
                                <p:cTn id="47" presetID="22" presetClass="entr" presetSubtype="4" fill="hold" nodeType="with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5" grpId="0" animBg="1"/>
      <p:bldP spid="17" grpId="0" animBg="1"/>
      <p:bldP spid="30" grpId="0"/>
      <p:bldP spid="32" grpId="0" animBg="1"/>
      <p:bldP spid="33" grpId="0" animBg="1"/>
      <p:bldP spid="3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E0CE5-F4B7-5470-D578-0C741DDE0FDB}"/>
            </a:ext>
          </a:extLst>
        </p:cNvPr>
        <p:cNvGrpSpPr/>
        <p:nvPr/>
      </p:nvGrpSpPr>
      <p:grpSpPr>
        <a:xfrm>
          <a:off x="0" y="0"/>
          <a:ext cx="0" cy="0"/>
          <a:chOff x="0" y="0"/>
          <a:chExt cx="0" cy="0"/>
        </a:xfrm>
      </p:grpSpPr>
      <p:sp>
        <p:nvSpPr>
          <p:cNvPr id="11" name="TextBox 30">
            <a:extLst>
              <a:ext uri="{FF2B5EF4-FFF2-40B4-BE49-F238E27FC236}">
                <a16:creationId xmlns:a16="http://schemas.microsoft.com/office/drawing/2014/main" id="{3A588B49-CC85-C7A8-9836-E0054ED9D5FE}"/>
              </a:ext>
            </a:extLst>
          </p:cNvPr>
          <p:cNvSpPr txBox="1"/>
          <p:nvPr/>
        </p:nvSpPr>
        <p:spPr>
          <a:xfrm>
            <a:off x="1503355" y="2558574"/>
            <a:ext cx="2436372" cy="2323713"/>
          </a:xfrm>
          <a:prstGeom prst="rect">
            <a:avLst/>
          </a:prstGeom>
          <a:noFill/>
        </p:spPr>
        <p:txBody>
          <a:bodyPr wrap="square" rtlCol="0">
            <a:spAutoFit/>
          </a:bodyPr>
          <a:lstStyle/>
          <a:p>
            <a:pPr algn="r" defTabSz="228600"/>
            <a:r>
              <a:rPr lang="en-US" altLang="zh-CN"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rPr>
              <a:t>06</a:t>
            </a:r>
            <a:endParaRPr lang="zh-CN" altLang="en-US"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endParaRPr>
          </a:p>
        </p:txBody>
      </p:sp>
      <p:sp>
        <p:nvSpPr>
          <p:cNvPr id="12" name="文本框 11">
            <a:extLst>
              <a:ext uri="{FF2B5EF4-FFF2-40B4-BE49-F238E27FC236}">
                <a16:creationId xmlns:a16="http://schemas.microsoft.com/office/drawing/2014/main" id="{8C8F920A-3D8C-EFF0-14A8-DCA0B399226E}"/>
              </a:ext>
            </a:extLst>
          </p:cNvPr>
          <p:cNvSpPr txBox="1"/>
          <p:nvPr/>
        </p:nvSpPr>
        <p:spPr>
          <a:xfrm>
            <a:off x="4523009" y="2732133"/>
            <a:ext cx="6469533" cy="814582"/>
          </a:xfrm>
          <a:prstGeom prst="rect">
            <a:avLst/>
          </a:prstGeom>
          <a:noFill/>
          <a:scene3d>
            <a:camera prst="orthographicFront"/>
            <a:lightRig rig="threePt" dir="t"/>
          </a:scene3d>
        </p:spPr>
        <p:txBody>
          <a:bodyPr wrap="square" rtlCol="0">
            <a:spAutoFit/>
          </a:bodyPr>
          <a:lstStyle/>
          <a:p>
            <a:pPr>
              <a:lnSpc>
                <a:spcPct val="130000"/>
              </a:lnSpc>
            </a:pPr>
            <a:r>
              <a:rPr lang="en-US" altLang="zh-CN" sz="4000" b="1" dirty="0">
                <a:solidFill>
                  <a:srgbClr val="1B1B1B"/>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Removing Duplicates</a:t>
            </a:r>
          </a:p>
        </p:txBody>
      </p:sp>
      <p:sp>
        <p:nvSpPr>
          <p:cNvPr id="13" name="Rectangle 3">
            <a:extLst>
              <a:ext uri="{FF2B5EF4-FFF2-40B4-BE49-F238E27FC236}">
                <a16:creationId xmlns:a16="http://schemas.microsoft.com/office/drawing/2014/main" id="{2EEA0CAF-D677-D16C-2A9C-C8BAD8EEE584}"/>
              </a:ext>
            </a:extLst>
          </p:cNvPr>
          <p:cNvSpPr>
            <a:spLocks/>
          </p:cNvSpPr>
          <p:nvPr/>
        </p:nvSpPr>
        <p:spPr bwMode="auto">
          <a:xfrm>
            <a:off x="4622835" y="3640747"/>
            <a:ext cx="5346619" cy="1363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20000"/>
              </a:lnSpc>
              <a:spcBef>
                <a:spcPct val="0"/>
              </a:spcBef>
              <a:buSzTx/>
              <a:buNone/>
            </a:pPr>
            <a:r>
              <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rPr>
              <a:t>Duplicate records in stations and rides data were removed using Power Query's remove duplicate's function.</a:t>
            </a:r>
            <a:br>
              <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rPr>
            </a:br>
            <a:br>
              <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rPr>
            </a:br>
            <a:r>
              <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rPr>
              <a:t>*This ensured unique identifiers were preserved and data redundancy did not affect analysis outcomes.</a:t>
            </a:r>
          </a:p>
        </p:txBody>
      </p:sp>
      <p:sp>
        <p:nvSpPr>
          <p:cNvPr id="14" name="平行四边形 13">
            <a:extLst>
              <a:ext uri="{FF2B5EF4-FFF2-40B4-BE49-F238E27FC236}">
                <a16:creationId xmlns:a16="http://schemas.microsoft.com/office/drawing/2014/main" id="{014B4AC1-746C-053C-F184-D640D41E382A}"/>
              </a:ext>
            </a:extLst>
          </p:cNvPr>
          <p:cNvSpPr/>
          <p:nvPr/>
        </p:nvSpPr>
        <p:spPr>
          <a:xfrm flipH="1" flipV="1">
            <a:off x="11498754" y="5765570"/>
            <a:ext cx="1077967" cy="1119813"/>
          </a:xfrm>
          <a:prstGeom prst="parallelogram">
            <a:avLst>
              <a:gd name="adj" fmla="val 70972"/>
            </a:avLst>
          </a:prstGeom>
          <a:gradFill>
            <a:gsLst>
              <a:gs pos="0">
                <a:srgbClr val="E4E4E4">
                  <a:alpha val="34000"/>
                </a:srgbClr>
              </a:gs>
              <a:gs pos="85000">
                <a:srgbClr val="E4E4E4">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a:extLst>
              <a:ext uri="{FF2B5EF4-FFF2-40B4-BE49-F238E27FC236}">
                <a16:creationId xmlns:a16="http://schemas.microsoft.com/office/drawing/2014/main" id="{84DDE7DA-0AF0-43D5-0F4F-88301A159F0D}"/>
              </a:ext>
            </a:extLst>
          </p:cNvPr>
          <p:cNvSpPr/>
          <p:nvPr/>
        </p:nvSpPr>
        <p:spPr>
          <a:xfrm>
            <a:off x="8328249" y="3223805"/>
            <a:ext cx="3880471" cy="3645810"/>
          </a:xfrm>
          <a:prstGeom prst="triangle">
            <a:avLst>
              <a:gd name="adj" fmla="val 100000"/>
            </a:avLst>
          </a:prstGeom>
          <a:gradFill>
            <a:gsLst>
              <a:gs pos="3614">
                <a:srgbClr val="66A2C6"/>
              </a:gs>
              <a:gs pos="65000">
                <a:srgbClr val="0E4576"/>
              </a:gs>
              <a:gs pos="100000">
                <a:srgbClr val="102A52"/>
              </a:gs>
            </a:gsLst>
            <a:lin ang="5400000" scaled="1"/>
          </a:gradFill>
          <a:ln>
            <a:noFill/>
          </a:ln>
          <a:effectLst>
            <a:outerShdw blurRad="101600" dist="38100" dir="13500000" algn="b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a:extLst>
              <a:ext uri="{FF2B5EF4-FFF2-40B4-BE49-F238E27FC236}">
                <a16:creationId xmlns:a16="http://schemas.microsoft.com/office/drawing/2014/main" id="{C349E03C-62B1-B558-E779-1B4F74F4C9ED}"/>
              </a:ext>
            </a:extLst>
          </p:cNvPr>
          <p:cNvSpPr/>
          <p:nvPr/>
        </p:nvSpPr>
        <p:spPr>
          <a:xfrm flipH="1" flipV="1">
            <a:off x="-46848" y="0"/>
            <a:ext cx="3046503" cy="2862274"/>
          </a:xfrm>
          <a:prstGeom prst="triangle">
            <a:avLst>
              <a:gd name="adj" fmla="val 100000"/>
            </a:avLst>
          </a:prstGeom>
          <a:solidFill>
            <a:srgbClr val="0E4576"/>
          </a:solidFill>
          <a:ln>
            <a:no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C827ABA7-B0D0-8B1F-409C-F0AC88AC7248}"/>
              </a:ext>
            </a:extLst>
          </p:cNvPr>
          <p:cNvSpPr/>
          <p:nvPr/>
        </p:nvSpPr>
        <p:spPr>
          <a:xfrm>
            <a:off x="1415482" y="3505891"/>
            <a:ext cx="2552327" cy="3551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Box 30">
            <a:extLst>
              <a:ext uri="{FF2B5EF4-FFF2-40B4-BE49-F238E27FC236}">
                <a16:creationId xmlns:a16="http://schemas.microsoft.com/office/drawing/2014/main" id="{2DA09108-5AC6-CD0E-521D-30CAC2FA6886}"/>
              </a:ext>
            </a:extLst>
          </p:cNvPr>
          <p:cNvSpPr txBox="1"/>
          <p:nvPr/>
        </p:nvSpPr>
        <p:spPr>
          <a:xfrm>
            <a:off x="1957488" y="3521656"/>
            <a:ext cx="1352357" cy="338554"/>
          </a:xfrm>
          <a:prstGeom prst="rect">
            <a:avLst/>
          </a:prstGeom>
          <a:noFill/>
        </p:spPr>
        <p:txBody>
          <a:bodyPr wrap="square" rtlCol="0">
            <a:spAutoFit/>
          </a:bodyPr>
          <a:lstStyle/>
          <a:p>
            <a:pPr algn="ctr" defTabSz="228600"/>
            <a:r>
              <a:rPr lang="en-US" altLang="zh-CN"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rPr>
              <a:t>Part Sex</a:t>
            </a:r>
            <a:endParaRPr lang="zh-CN" altLang="en-US"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endParaRPr>
          </a:p>
        </p:txBody>
      </p:sp>
      <p:cxnSp>
        <p:nvCxnSpPr>
          <p:cNvPr id="31" name="直接连接符 30">
            <a:extLst>
              <a:ext uri="{FF2B5EF4-FFF2-40B4-BE49-F238E27FC236}">
                <a16:creationId xmlns:a16="http://schemas.microsoft.com/office/drawing/2014/main" id="{30AD44A7-3233-114E-2322-626399BE827B}"/>
              </a:ext>
            </a:extLst>
          </p:cNvPr>
          <p:cNvCxnSpPr/>
          <p:nvPr/>
        </p:nvCxnSpPr>
        <p:spPr>
          <a:xfrm>
            <a:off x="4104487" y="2940710"/>
            <a:ext cx="0" cy="1510342"/>
          </a:xfrm>
          <a:prstGeom prst="line">
            <a:avLst/>
          </a:prstGeom>
          <a:ln w="12700">
            <a:solidFill>
              <a:srgbClr val="2D354B">
                <a:alpha val="20000"/>
              </a:srgbClr>
            </a:solidFill>
          </a:ln>
        </p:spPr>
        <p:style>
          <a:lnRef idx="1">
            <a:schemeClr val="accent1"/>
          </a:lnRef>
          <a:fillRef idx="0">
            <a:schemeClr val="accent1"/>
          </a:fillRef>
          <a:effectRef idx="0">
            <a:schemeClr val="accent1"/>
          </a:effectRef>
          <a:fontRef idx="minor">
            <a:schemeClr val="tx1"/>
          </a:fontRef>
        </p:style>
      </p:cxnSp>
      <p:sp>
        <p:nvSpPr>
          <p:cNvPr id="32" name="圆角矩形 31">
            <a:extLst>
              <a:ext uri="{FF2B5EF4-FFF2-40B4-BE49-F238E27FC236}">
                <a16:creationId xmlns:a16="http://schemas.microsoft.com/office/drawing/2014/main" id="{EEEADC95-BE86-8B1F-4BB6-9AA0B06381E1}"/>
              </a:ext>
            </a:extLst>
          </p:cNvPr>
          <p:cNvSpPr/>
          <p:nvPr/>
        </p:nvSpPr>
        <p:spPr>
          <a:xfrm rot="2700000">
            <a:off x="609964" y="726490"/>
            <a:ext cx="369745" cy="369745"/>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94C5DE"/>
                  </a:gs>
                  <a:gs pos="100000">
                    <a:srgbClr val="356A9C"/>
                  </a:gs>
                </a:gsLst>
                <a:lin ang="2700000" scaled="0"/>
              </a:gradFill>
            </a:endParaRPr>
          </a:p>
        </p:txBody>
      </p:sp>
      <p:sp>
        <p:nvSpPr>
          <p:cNvPr id="33" name="圆角矩形 32">
            <a:extLst>
              <a:ext uri="{FF2B5EF4-FFF2-40B4-BE49-F238E27FC236}">
                <a16:creationId xmlns:a16="http://schemas.microsoft.com/office/drawing/2014/main" id="{5FAAC862-ADA6-18CE-9E3C-A19AA213F795}"/>
              </a:ext>
            </a:extLst>
          </p:cNvPr>
          <p:cNvSpPr/>
          <p:nvPr/>
        </p:nvSpPr>
        <p:spPr>
          <a:xfrm rot="2700000">
            <a:off x="555613" y="1858238"/>
            <a:ext cx="134147" cy="134147"/>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A7FE3371-292A-FCCB-3E29-00C45ED28B55}"/>
              </a:ext>
            </a:extLst>
          </p:cNvPr>
          <p:cNvCxnSpPr>
            <a:stCxn id="17" idx="2"/>
            <a:endCxn id="17" idx="0"/>
          </p:cNvCxnSpPr>
          <p:nvPr/>
        </p:nvCxnSpPr>
        <p:spPr>
          <a:xfrm flipH="1">
            <a:off x="-46848" y="0"/>
            <a:ext cx="3046503" cy="2862274"/>
          </a:xfrm>
          <a:prstGeom prst="line">
            <a:avLst/>
          </a:prstGeom>
          <a:ln w="57150">
            <a:gradFill>
              <a:gsLst>
                <a:gs pos="0">
                  <a:srgbClr val="66A2C6">
                    <a:alpha val="0"/>
                  </a:srgbClr>
                </a:gs>
                <a:gs pos="100000">
                  <a:srgbClr val="66A2C6"/>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圆角矩形 33">
            <a:extLst>
              <a:ext uri="{FF2B5EF4-FFF2-40B4-BE49-F238E27FC236}">
                <a16:creationId xmlns:a16="http://schemas.microsoft.com/office/drawing/2014/main" id="{B3C8740B-35B5-7176-ECB8-76B02B5B9CFD}"/>
              </a:ext>
            </a:extLst>
          </p:cNvPr>
          <p:cNvSpPr/>
          <p:nvPr/>
        </p:nvSpPr>
        <p:spPr>
          <a:xfrm rot="2700000">
            <a:off x="1627747" y="647742"/>
            <a:ext cx="600616" cy="600616"/>
          </a:xfrm>
          <a:prstGeom prst="roundRect">
            <a:avLst>
              <a:gd name="adj" fmla="val 6915"/>
            </a:avLst>
          </a:prstGeom>
          <a:noFill/>
          <a:ln w="50800">
            <a:gradFill>
              <a:gsLst>
                <a:gs pos="0">
                  <a:srgbClr val="66A2C6"/>
                </a:gs>
                <a:gs pos="100000">
                  <a:srgbClr val="0E4576"/>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148" name="Picture 4" descr="Duplicate Icon PNG Transparent Background, Free Download #40244 -  FreeIconsPNG">
            <a:extLst>
              <a:ext uri="{FF2B5EF4-FFF2-40B4-BE49-F238E27FC236}">
                <a16:creationId xmlns:a16="http://schemas.microsoft.com/office/drawing/2014/main" id="{FA16E4DA-D052-1899-73D3-51BB792EB6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0986" y="404664"/>
            <a:ext cx="2213578" cy="2213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280431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p:cTn id="13" dur="500" fill="hold"/>
                                        <p:tgtEl>
                                          <p:spTgt spid="32"/>
                                        </p:tgtEl>
                                        <p:attrNameLst>
                                          <p:attrName>ppt_w</p:attrName>
                                        </p:attrNameLst>
                                      </p:cBhvr>
                                      <p:tavLst>
                                        <p:tav tm="0">
                                          <p:val>
                                            <p:fltVal val="0"/>
                                          </p:val>
                                        </p:tav>
                                        <p:tav tm="100000">
                                          <p:val>
                                            <p:strVal val="#ppt_w"/>
                                          </p:val>
                                        </p:tav>
                                      </p:tavLst>
                                    </p:anim>
                                    <p:anim calcmode="lin" valueType="num">
                                      <p:cBhvr>
                                        <p:cTn id="14" dur="500" fill="hold"/>
                                        <p:tgtEl>
                                          <p:spTgt spid="32"/>
                                        </p:tgtEl>
                                        <p:attrNameLst>
                                          <p:attrName>ppt_h</p:attrName>
                                        </p:attrNameLst>
                                      </p:cBhvr>
                                      <p:tavLst>
                                        <p:tav tm="0">
                                          <p:val>
                                            <p:fltVal val="0"/>
                                          </p:val>
                                        </p:tav>
                                        <p:tav tm="100000">
                                          <p:val>
                                            <p:strVal val="#ppt_h"/>
                                          </p:val>
                                        </p:tav>
                                      </p:tavLst>
                                    </p:anim>
                                    <p:animEffect transition="in" filter="fade">
                                      <p:cBhvr>
                                        <p:cTn id="15" dur="500"/>
                                        <p:tgtEl>
                                          <p:spTgt spid="32"/>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 calcmode="lin" valueType="num">
                                      <p:cBhvr>
                                        <p:cTn id="18" dur="500" fill="hold"/>
                                        <p:tgtEl>
                                          <p:spTgt spid="33"/>
                                        </p:tgtEl>
                                        <p:attrNameLst>
                                          <p:attrName>ppt_w</p:attrName>
                                        </p:attrNameLst>
                                      </p:cBhvr>
                                      <p:tavLst>
                                        <p:tav tm="0">
                                          <p:val>
                                            <p:fltVal val="0"/>
                                          </p:val>
                                        </p:tav>
                                        <p:tav tm="100000">
                                          <p:val>
                                            <p:strVal val="#ppt_w"/>
                                          </p:val>
                                        </p:tav>
                                      </p:tavLst>
                                    </p:anim>
                                    <p:anim calcmode="lin" valueType="num">
                                      <p:cBhvr>
                                        <p:cTn id="19" dur="500" fill="hold"/>
                                        <p:tgtEl>
                                          <p:spTgt spid="33"/>
                                        </p:tgtEl>
                                        <p:attrNameLst>
                                          <p:attrName>ppt_h</p:attrName>
                                        </p:attrNameLst>
                                      </p:cBhvr>
                                      <p:tavLst>
                                        <p:tav tm="0">
                                          <p:val>
                                            <p:fltVal val="0"/>
                                          </p:val>
                                        </p:tav>
                                        <p:tav tm="100000">
                                          <p:val>
                                            <p:strVal val="#ppt_h"/>
                                          </p:val>
                                        </p:tav>
                                      </p:tavLst>
                                    </p:anim>
                                    <p:animEffect transition="in" filter="fade">
                                      <p:cBhvr>
                                        <p:cTn id="20" dur="500"/>
                                        <p:tgtEl>
                                          <p:spTgt spid="33"/>
                                        </p:tgtEl>
                                      </p:cBhvr>
                                    </p:animEffect>
                                  </p:childTnLst>
                                </p:cTn>
                              </p:par>
                              <p:par>
                                <p:cTn id="21" presetID="16" presetClass="entr" presetSubtype="21" fill="hold" grpId="0" nodeType="withEffect">
                                  <p:stCondLst>
                                    <p:cond delay="250"/>
                                  </p:stCondLst>
                                  <p:childTnLst>
                                    <p:set>
                                      <p:cBhvr>
                                        <p:cTn id="22" dur="1" fill="hold">
                                          <p:stCondLst>
                                            <p:cond delay="0"/>
                                          </p:stCondLst>
                                        </p:cTn>
                                        <p:tgtEl>
                                          <p:spTgt spid="30"/>
                                        </p:tgtEl>
                                        <p:attrNameLst>
                                          <p:attrName>style.visibility</p:attrName>
                                        </p:attrNameLst>
                                      </p:cBhvr>
                                      <p:to>
                                        <p:strVal val="visible"/>
                                      </p:to>
                                    </p:set>
                                    <p:animEffect transition="in" filter="barn(inVertical)">
                                      <p:cBhvr>
                                        <p:cTn id="23" dur="500"/>
                                        <p:tgtEl>
                                          <p:spTgt spid="30"/>
                                        </p:tgtEl>
                                      </p:cBhvr>
                                    </p:animEffect>
                                  </p:childTnLst>
                                </p:cTn>
                              </p:par>
                              <p:par>
                                <p:cTn id="24" presetID="16" presetClass="entr" presetSubtype="42" fill="hold" nodeType="withEffect">
                                  <p:stCondLst>
                                    <p:cond delay="250"/>
                                  </p:stCondLst>
                                  <p:childTnLst>
                                    <p:set>
                                      <p:cBhvr>
                                        <p:cTn id="25" dur="1" fill="hold">
                                          <p:stCondLst>
                                            <p:cond delay="0"/>
                                          </p:stCondLst>
                                        </p:cTn>
                                        <p:tgtEl>
                                          <p:spTgt spid="31"/>
                                        </p:tgtEl>
                                        <p:attrNameLst>
                                          <p:attrName>style.visibility</p:attrName>
                                        </p:attrNameLst>
                                      </p:cBhvr>
                                      <p:to>
                                        <p:strVal val="visible"/>
                                      </p:to>
                                    </p:set>
                                    <p:animEffect transition="in" filter="barn(outHorizontal)">
                                      <p:cBhvr>
                                        <p:cTn id="26" dur="500"/>
                                        <p:tgtEl>
                                          <p:spTgt spid="31"/>
                                        </p:tgtEl>
                                      </p:cBhvr>
                                    </p:animEffect>
                                  </p:childTnLst>
                                </p:cTn>
                              </p:par>
                              <p:par>
                                <p:cTn id="27" presetID="41" presetClass="entr" presetSubtype="0" fill="hold" grpId="0" nodeType="withEffect">
                                  <p:stCondLst>
                                    <p:cond delay="500"/>
                                  </p:stCondLst>
                                  <p:iterate type="lt">
                                    <p:tmPct val="10000"/>
                                  </p:iterate>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12"/>
                                        </p:tgtEl>
                                        <p:attrNameLst>
                                          <p:attrName>ppt_y</p:attrName>
                                        </p:attrNameLst>
                                      </p:cBhvr>
                                      <p:tavLst>
                                        <p:tav tm="0">
                                          <p:val>
                                            <p:strVal val="#ppt_y"/>
                                          </p:val>
                                        </p:tav>
                                        <p:tav tm="100000">
                                          <p:val>
                                            <p:strVal val="#ppt_y"/>
                                          </p:val>
                                        </p:tav>
                                      </p:tavLst>
                                    </p:anim>
                                    <p:anim calcmode="lin" valueType="num">
                                      <p:cBhvr>
                                        <p:cTn id="31"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12"/>
                                        </p:tgtEl>
                                      </p:cBhvr>
                                    </p:animEffect>
                                  </p:childTnLst>
                                </p:cTn>
                              </p:par>
                              <p:par>
                                <p:cTn id="34" presetID="42" presetClass="entr" presetSubtype="0" fill="hold" grpId="0" nodeType="withEffect">
                                  <p:stCondLst>
                                    <p:cond delay="7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par>
                                <p:cTn id="39" presetID="16" presetClass="entr" presetSubtype="21" fill="hold" grpId="0" nodeType="withEffect">
                                  <p:stCondLst>
                                    <p:cond delay="250"/>
                                  </p:stCondLst>
                                  <p:childTnLst>
                                    <p:set>
                                      <p:cBhvr>
                                        <p:cTn id="40" dur="1" fill="hold">
                                          <p:stCondLst>
                                            <p:cond delay="0"/>
                                          </p:stCondLst>
                                        </p:cTn>
                                        <p:tgtEl>
                                          <p:spTgt spid="11"/>
                                        </p:tgtEl>
                                        <p:attrNameLst>
                                          <p:attrName>style.visibility</p:attrName>
                                        </p:attrNameLst>
                                      </p:cBhvr>
                                      <p:to>
                                        <p:strVal val="visible"/>
                                      </p:to>
                                    </p:set>
                                    <p:animEffect transition="in" filter="barn(inVertical)">
                                      <p:cBhvr>
                                        <p:cTn id="41" dur="500"/>
                                        <p:tgtEl>
                                          <p:spTgt spid="11"/>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par>
                                <p:cTn id="47" presetID="22" presetClass="entr" presetSubtype="4" fill="hold" nodeType="with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5" grpId="0" animBg="1"/>
      <p:bldP spid="17" grpId="0" animBg="1"/>
      <p:bldP spid="30" grpId="0"/>
      <p:bldP spid="32" grpId="0" animBg="1"/>
      <p:bldP spid="33" grpId="0" animBg="1"/>
      <p:bldP spid="3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9D19A-07F6-C968-DA28-BDCCFB4A0F64}"/>
            </a:ext>
          </a:extLst>
        </p:cNvPr>
        <p:cNvGrpSpPr/>
        <p:nvPr/>
      </p:nvGrpSpPr>
      <p:grpSpPr>
        <a:xfrm>
          <a:off x="0" y="0"/>
          <a:ext cx="0" cy="0"/>
          <a:chOff x="0" y="0"/>
          <a:chExt cx="0" cy="0"/>
        </a:xfrm>
      </p:grpSpPr>
      <p:sp>
        <p:nvSpPr>
          <p:cNvPr id="11" name="TextBox 30">
            <a:extLst>
              <a:ext uri="{FF2B5EF4-FFF2-40B4-BE49-F238E27FC236}">
                <a16:creationId xmlns:a16="http://schemas.microsoft.com/office/drawing/2014/main" id="{C70D5AB3-E206-8A33-9B88-4B74D8C49348}"/>
              </a:ext>
            </a:extLst>
          </p:cNvPr>
          <p:cNvSpPr txBox="1"/>
          <p:nvPr/>
        </p:nvSpPr>
        <p:spPr>
          <a:xfrm>
            <a:off x="1503355" y="2558574"/>
            <a:ext cx="2436372" cy="2323713"/>
          </a:xfrm>
          <a:prstGeom prst="rect">
            <a:avLst/>
          </a:prstGeom>
          <a:noFill/>
        </p:spPr>
        <p:txBody>
          <a:bodyPr wrap="square" rtlCol="0">
            <a:spAutoFit/>
          </a:bodyPr>
          <a:lstStyle/>
          <a:p>
            <a:pPr algn="r" defTabSz="228600"/>
            <a:r>
              <a:rPr lang="en-US" altLang="zh-CN"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rPr>
              <a:t>07</a:t>
            </a:r>
            <a:endParaRPr lang="zh-CN" altLang="en-US"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endParaRPr>
          </a:p>
        </p:txBody>
      </p:sp>
      <p:sp>
        <p:nvSpPr>
          <p:cNvPr id="12" name="文本框 11">
            <a:extLst>
              <a:ext uri="{FF2B5EF4-FFF2-40B4-BE49-F238E27FC236}">
                <a16:creationId xmlns:a16="http://schemas.microsoft.com/office/drawing/2014/main" id="{EADCF195-9E0F-9DE4-98B9-ADCE2AACE135}"/>
              </a:ext>
            </a:extLst>
          </p:cNvPr>
          <p:cNvSpPr txBox="1"/>
          <p:nvPr/>
        </p:nvSpPr>
        <p:spPr>
          <a:xfrm>
            <a:off x="4523009" y="2732133"/>
            <a:ext cx="6469533" cy="814582"/>
          </a:xfrm>
          <a:prstGeom prst="rect">
            <a:avLst/>
          </a:prstGeom>
          <a:noFill/>
          <a:scene3d>
            <a:camera prst="orthographicFront"/>
            <a:lightRig rig="threePt" dir="t"/>
          </a:scene3d>
        </p:spPr>
        <p:txBody>
          <a:bodyPr wrap="square" rtlCol="0">
            <a:spAutoFit/>
          </a:bodyPr>
          <a:lstStyle/>
          <a:p>
            <a:pPr>
              <a:lnSpc>
                <a:spcPct val="130000"/>
              </a:lnSpc>
            </a:pPr>
            <a:r>
              <a:rPr lang="en-US" altLang="zh-CN" sz="4000" b="1" dirty="0">
                <a:solidFill>
                  <a:srgbClr val="1B1B1B"/>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Standardizing Columns</a:t>
            </a:r>
          </a:p>
        </p:txBody>
      </p:sp>
      <p:sp>
        <p:nvSpPr>
          <p:cNvPr id="13" name="Rectangle 3">
            <a:extLst>
              <a:ext uri="{FF2B5EF4-FFF2-40B4-BE49-F238E27FC236}">
                <a16:creationId xmlns:a16="http://schemas.microsoft.com/office/drawing/2014/main" id="{3CF2F15F-BFD3-0B75-1FD2-5660648053CD}"/>
              </a:ext>
            </a:extLst>
          </p:cNvPr>
          <p:cNvSpPr>
            <a:spLocks/>
          </p:cNvSpPr>
          <p:nvPr/>
        </p:nvSpPr>
        <p:spPr bwMode="auto">
          <a:xfrm>
            <a:off x="4622835" y="3640747"/>
            <a:ext cx="5346619" cy="11045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20000"/>
              </a:lnSpc>
              <a:spcBef>
                <a:spcPct val="0"/>
              </a:spcBef>
              <a:buSzTx/>
              <a:buNone/>
            </a:pPr>
            <a:r>
              <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rPr>
              <a:t>Ensured date formats, numerical units, and text entries were consistent. This step made downstream calculations and visualizations more reliable, enhancing overall clarity and report quality for decision-makers.</a:t>
            </a:r>
          </a:p>
        </p:txBody>
      </p:sp>
      <p:sp>
        <p:nvSpPr>
          <p:cNvPr id="14" name="平行四边形 13">
            <a:extLst>
              <a:ext uri="{FF2B5EF4-FFF2-40B4-BE49-F238E27FC236}">
                <a16:creationId xmlns:a16="http://schemas.microsoft.com/office/drawing/2014/main" id="{6466205D-0C7F-9003-65B9-D3112AFE0125}"/>
              </a:ext>
            </a:extLst>
          </p:cNvPr>
          <p:cNvSpPr/>
          <p:nvPr/>
        </p:nvSpPr>
        <p:spPr>
          <a:xfrm flipH="1" flipV="1">
            <a:off x="11498754" y="5765570"/>
            <a:ext cx="1077967" cy="1119813"/>
          </a:xfrm>
          <a:prstGeom prst="parallelogram">
            <a:avLst>
              <a:gd name="adj" fmla="val 70972"/>
            </a:avLst>
          </a:prstGeom>
          <a:gradFill>
            <a:gsLst>
              <a:gs pos="0">
                <a:srgbClr val="E4E4E4">
                  <a:alpha val="34000"/>
                </a:srgbClr>
              </a:gs>
              <a:gs pos="85000">
                <a:srgbClr val="E4E4E4">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a:extLst>
              <a:ext uri="{FF2B5EF4-FFF2-40B4-BE49-F238E27FC236}">
                <a16:creationId xmlns:a16="http://schemas.microsoft.com/office/drawing/2014/main" id="{EB3EA8C4-A4B0-5789-5F0D-FEF20AE5102A}"/>
              </a:ext>
            </a:extLst>
          </p:cNvPr>
          <p:cNvSpPr/>
          <p:nvPr/>
        </p:nvSpPr>
        <p:spPr>
          <a:xfrm>
            <a:off x="8328249" y="3223805"/>
            <a:ext cx="3880471" cy="3645810"/>
          </a:xfrm>
          <a:prstGeom prst="triangle">
            <a:avLst>
              <a:gd name="adj" fmla="val 100000"/>
            </a:avLst>
          </a:prstGeom>
          <a:gradFill>
            <a:gsLst>
              <a:gs pos="3614">
                <a:srgbClr val="66A2C6"/>
              </a:gs>
              <a:gs pos="65000">
                <a:srgbClr val="0E4576"/>
              </a:gs>
              <a:gs pos="100000">
                <a:srgbClr val="102A52"/>
              </a:gs>
            </a:gsLst>
            <a:lin ang="5400000" scaled="1"/>
          </a:gradFill>
          <a:ln>
            <a:noFill/>
          </a:ln>
          <a:effectLst>
            <a:outerShdw blurRad="101600" dist="38100" dir="13500000" algn="b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a:extLst>
              <a:ext uri="{FF2B5EF4-FFF2-40B4-BE49-F238E27FC236}">
                <a16:creationId xmlns:a16="http://schemas.microsoft.com/office/drawing/2014/main" id="{7806C108-0485-6659-DF90-EFB601218F3B}"/>
              </a:ext>
            </a:extLst>
          </p:cNvPr>
          <p:cNvSpPr/>
          <p:nvPr/>
        </p:nvSpPr>
        <p:spPr>
          <a:xfrm flipH="1" flipV="1">
            <a:off x="-46848" y="0"/>
            <a:ext cx="3046503" cy="2862274"/>
          </a:xfrm>
          <a:prstGeom prst="triangle">
            <a:avLst>
              <a:gd name="adj" fmla="val 100000"/>
            </a:avLst>
          </a:prstGeom>
          <a:solidFill>
            <a:srgbClr val="0E4576"/>
          </a:solidFill>
          <a:ln>
            <a:no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878979F4-CE97-A0B1-B3CE-5F269846A7E3}"/>
              </a:ext>
            </a:extLst>
          </p:cNvPr>
          <p:cNvSpPr/>
          <p:nvPr/>
        </p:nvSpPr>
        <p:spPr>
          <a:xfrm>
            <a:off x="1415482" y="3505891"/>
            <a:ext cx="2552327" cy="3551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Box 30">
            <a:extLst>
              <a:ext uri="{FF2B5EF4-FFF2-40B4-BE49-F238E27FC236}">
                <a16:creationId xmlns:a16="http://schemas.microsoft.com/office/drawing/2014/main" id="{7F88AC37-DA4B-E298-3D93-8BD2C6EBF84D}"/>
              </a:ext>
            </a:extLst>
          </p:cNvPr>
          <p:cNvSpPr txBox="1"/>
          <p:nvPr/>
        </p:nvSpPr>
        <p:spPr>
          <a:xfrm>
            <a:off x="1957488" y="3521656"/>
            <a:ext cx="1352357" cy="338554"/>
          </a:xfrm>
          <a:prstGeom prst="rect">
            <a:avLst/>
          </a:prstGeom>
          <a:noFill/>
        </p:spPr>
        <p:txBody>
          <a:bodyPr wrap="square" rtlCol="0">
            <a:spAutoFit/>
          </a:bodyPr>
          <a:lstStyle/>
          <a:p>
            <a:pPr algn="ctr" defTabSz="228600"/>
            <a:r>
              <a:rPr lang="en-US" altLang="zh-CN"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rPr>
              <a:t>Part Seven</a:t>
            </a:r>
            <a:endParaRPr lang="zh-CN" altLang="en-US"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endParaRPr>
          </a:p>
        </p:txBody>
      </p:sp>
      <p:cxnSp>
        <p:nvCxnSpPr>
          <p:cNvPr id="31" name="直接连接符 30">
            <a:extLst>
              <a:ext uri="{FF2B5EF4-FFF2-40B4-BE49-F238E27FC236}">
                <a16:creationId xmlns:a16="http://schemas.microsoft.com/office/drawing/2014/main" id="{C17020CB-9C9C-8D7B-0839-D6694D7F3A24}"/>
              </a:ext>
            </a:extLst>
          </p:cNvPr>
          <p:cNvCxnSpPr/>
          <p:nvPr/>
        </p:nvCxnSpPr>
        <p:spPr>
          <a:xfrm>
            <a:off x="4104487" y="2940710"/>
            <a:ext cx="0" cy="1510342"/>
          </a:xfrm>
          <a:prstGeom prst="line">
            <a:avLst/>
          </a:prstGeom>
          <a:ln w="12700">
            <a:solidFill>
              <a:srgbClr val="2D354B">
                <a:alpha val="20000"/>
              </a:srgbClr>
            </a:solidFill>
          </a:ln>
        </p:spPr>
        <p:style>
          <a:lnRef idx="1">
            <a:schemeClr val="accent1"/>
          </a:lnRef>
          <a:fillRef idx="0">
            <a:schemeClr val="accent1"/>
          </a:fillRef>
          <a:effectRef idx="0">
            <a:schemeClr val="accent1"/>
          </a:effectRef>
          <a:fontRef idx="minor">
            <a:schemeClr val="tx1"/>
          </a:fontRef>
        </p:style>
      </p:cxnSp>
      <p:sp>
        <p:nvSpPr>
          <p:cNvPr id="32" name="圆角矩形 31">
            <a:extLst>
              <a:ext uri="{FF2B5EF4-FFF2-40B4-BE49-F238E27FC236}">
                <a16:creationId xmlns:a16="http://schemas.microsoft.com/office/drawing/2014/main" id="{E6822087-FA73-9EC2-B49C-9523AF236D4E}"/>
              </a:ext>
            </a:extLst>
          </p:cNvPr>
          <p:cNvSpPr/>
          <p:nvPr/>
        </p:nvSpPr>
        <p:spPr>
          <a:xfrm rot="2700000">
            <a:off x="609964" y="726490"/>
            <a:ext cx="369745" cy="369745"/>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94C5DE"/>
                  </a:gs>
                  <a:gs pos="100000">
                    <a:srgbClr val="356A9C"/>
                  </a:gs>
                </a:gsLst>
                <a:lin ang="2700000" scaled="0"/>
              </a:gradFill>
            </a:endParaRPr>
          </a:p>
        </p:txBody>
      </p:sp>
      <p:sp>
        <p:nvSpPr>
          <p:cNvPr id="33" name="圆角矩形 32">
            <a:extLst>
              <a:ext uri="{FF2B5EF4-FFF2-40B4-BE49-F238E27FC236}">
                <a16:creationId xmlns:a16="http://schemas.microsoft.com/office/drawing/2014/main" id="{FCFF0AD4-13C8-B4C4-368E-C80224C37946}"/>
              </a:ext>
            </a:extLst>
          </p:cNvPr>
          <p:cNvSpPr/>
          <p:nvPr/>
        </p:nvSpPr>
        <p:spPr>
          <a:xfrm rot="2700000">
            <a:off x="555613" y="1858238"/>
            <a:ext cx="134147" cy="134147"/>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92273BD9-0D11-1499-4195-BE673733D1D1}"/>
              </a:ext>
            </a:extLst>
          </p:cNvPr>
          <p:cNvCxnSpPr>
            <a:stCxn id="17" idx="2"/>
            <a:endCxn id="17" idx="0"/>
          </p:cNvCxnSpPr>
          <p:nvPr/>
        </p:nvCxnSpPr>
        <p:spPr>
          <a:xfrm flipH="1">
            <a:off x="-46848" y="0"/>
            <a:ext cx="3046503" cy="2862274"/>
          </a:xfrm>
          <a:prstGeom prst="line">
            <a:avLst/>
          </a:prstGeom>
          <a:ln w="57150">
            <a:gradFill>
              <a:gsLst>
                <a:gs pos="0">
                  <a:srgbClr val="66A2C6">
                    <a:alpha val="0"/>
                  </a:srgbClr>
                </a:gs>
                <a:gs pos="100000">
                  <a:srgbClr val="66A2C6"/>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圆角矩形 33">
            <a:extLst>
              <a:ext uri="{FF2B5EF4-FFF2-40B4-BE49-F238E27FC236}">
                <a16:creationId xmlns:a16="http://schemas.microsoft.com/office/drawing/2014/main" id="{2387D194-8334-4A9D-AD1E-150CA24AC22D}"/>
              </a:ext>
            </a:extLst>
          </p:cNvPr>
          <p:cNvSpPr/>
          <p:nvPr/>
        </p:nvSpPr>
        <p:spPr>
          <a:xfrm rot="2700000">
            <a:off x="1627747" y="647742"/>
            <a:ext cx="600616" cy="600616"/>
          </a:xfrm>
          <a:prstGeom prst="roundRect">
            <a:avLst>
              <a:gd name="adj" fmla="val 6915"/>
            </a:avLst>
          </a:prstGeom>
          <a:noFill/>
          <a:ln w="50800">
            <a:gradFill>
              <a:gsLst>
                <a:gs pos="0">
                  <a:srgbClr val="66A2C6"/>
                </a:gs>
                <a:gs pos="100000">
                  <a:srgbClr val="0E4576"/>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70" name="Picture 2" descr="Standardization - Free icons">
            <a:extLst>
              <a:ext uri="{FF2B5EF4-FFF2-40B4-BE49-F238E27FC236}">
                <a16:creationId xmlns:a16="http://schemas.microsoft.com/office/drawing/2014/main" id="{E1C34832-F807-E1B1-9A83-F2C9BFBE5B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5918" y="354555"/>
            <a:ext cx="2323713" cy="2323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356336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p:cTn id="13" dur="500" fill="hold"/>
                                        <p:tgtEl>
                                          <p:spTgt spid="32"/>
                                        </p:tgtEl>
                                        <p:attrNameLst>
                                          <p:attrName>ppt_w</p:attrName>
                                        </p:attrNameLst>
                                      </p:cBhvr>
                                      <p:tavLst>
                                        <p:tav tm="0">
                                          <p:val>
                                            <p:fltVal val="0"/>
                                          </p:val>
                                        </p:tav>
                                        <p:tav tm="100000">
                                          <p:val>
                                            <p:strVal val="#ppt_w"/>
                                          </p:val>
                                        </p:tav>
                                      </p:tavLst>
                                    </p:anim>
                                    <p:anim calcmode="lin" valueType="num">
                                      <p:cBhvr>
                                        <p:cTn id="14" dur="500" fill="hold"/>
                                        <p:tgtEl>
                                          <p:spTgt spid="32"/>
                                        </p:tgtEl>
                                        <p:attrNameLst>
                                          <p:attrName>ppt_h</p:attrName>
                                        </p:attrNameLst>
                                      </p:cBhvr>
                                      <p:tavLst>
                                        <p:tav tm="0">
                                          <p:val>
                                            <p:fltVal val="0"/>
                                          </p:val>
                                        </p:tav>
                                        <p:tav tm="100000">
                                          <p:val>
                                            <p:strVal val="#ppt_h"/>
                                          </p:val>
                                        </p:tav>
                                      </p:tavLst>
                                    </p:anim>
                                    <p:animEffect transition="in" filter="fade">
                                      <p:cBhvr>
                                        <p:cTn id="15" dur="500"/>
                                        <p:tgtEl>
                                          <p:spTgt spid="32"/>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 calcmode="lin" valueType="num">
                                      <p:cBhvr>
                                        <p:cTn id="18" dur="500" fill="hold"/>
                                        <p:tgtEl>
                                          <p:spTgt spid="33"/>
                                        </p:tgtEl>
                                        <p:attrNameLst>
                                          <p:attrName>ppt_w</p:attrName>
                                        </p:attrNameLst>
                                      </p:cBhvr>
                                      <p:tavLst>
                                        <p:tav tm="0">
                                          <p:val>
                                            <p:fltVal val="0"/>
                                          </p:val>
                                        </p:tav>
                                        <p:tav tm="100000">
                                          <p:val>
                                            <p:strVal val="#ppt_w"/>
                                          </p:val>
                                        </p:tav>
                                      </p:tavLst>
                                    </p:anim>
                                    <p:anim calcmode="lin" valueType="num">
                                      <p:cBhvr>
                                        <p:cTn id="19" dur="500" fill="hold"/>
                                        <p:tgtEl>
                                          <p:spTgt spid="33"/>
                                        </p:tgtEl>
                                        <p:attrNameLst>
                                          <p:attrName>ppt_h</p:attrName>
                                        </p:attrNameLst>
                                      </p:cBhvr>
                                      <p:tavLst>
                                        <p:tav tm="0">
                                          <p:val>
                                            <p:fltVal val="0"/>
                                          </p:val>
                                        </p:tav>
                                        <p:tav tm="100000">
                                          <p:val>
                                            <p:strVal val="#ppt_h"/>
                                          </p:val>
                                        </p:tav>
                                      </p:tavLst>
                                    </p:anim>
                                    <p:animEffect transition="in" filter="fade">
                                      <p:cBhvr>
                                        <p:cTn id="20" dur="500"/>
                                        <p:tgtEl>
                                          <p:spTgt spid="33"/>
                                        </p:tgtEl>
                                      </p:cBhvr>
                                    </p:animEffect>
                                  </p:childTnLst>
                                </p:cTn>
                              </p:par>
                              <p:par>
                                <p:cTn id="21" presetID="16" presetClass="entr" presetSubtype="21" fill="hold" grpId="0" nodeType="withEffect">
                                  <p:stCondLst>
                                    <p:cond delay="250"/>
                                  </p:stCondLst>
                                  <p:childTnLst>
                                    <p:set>
                                      <p:cBhvr>
                                        <p:cTn id="22" dur="1" fill="hold">
                                          <p:stCondLst>
                                            <p:cond delay="0"/>
                                          </p:stCondLst>
                                        </p:cTn>
                                        <p:tgtEl>
                                          <p:spTgt spid="30"/>
                                        </p:tgtEl>
                                        <p:attrNameLst>
                                          <p:attrName>style.visibility</p:attrName>
                                        </p:attrNameLst>
                                      </p:cBhvr>
                                      <p:to>
                                        <p:strVal val="visible"/>
                                      </p:to>
                                    </p:set>
                                    <p:animEffect transition="in" filter="barn(inVertical)">
                                      <p:cBhvr>
                                        <p:cTn id="23" dur="500"/>
                                        <p:tgtEl>
                                          <p:spTgt spid="30"/>
                                        </p:tgtEl>
                                      </p:cBhvr>
                                    </p:animEffect>
                                  </p:childTnLst>
                                </p:cTn>
                              </p:par>
                              <p:par>
                                <p:cTn id="24" presetID="16" presetClass="entr" presetSubtype="42" fill="hold" nodeType="withEffect">
                                  <p:stCondLst>
                                    <p:cond delay="250"/>
                                  </p:stCondLst>
                                  <p:childTnLst>
                                    <p:set>
                                      <p:cBhvr>
                                        <p:cTn id="25" dur="1" fill="hold">
                                          <p:stCondLst>
                                            <p:cond delay="0"/>
                                          </p:stCondLst>
                                        </p:cTn>
                                        <p:tgtEl>
                                          <p:spTgt spid="31"/>
                                        </p:tgtEl>
                                        <p:attrNameLst>
                                          <p:attrName>style.visibility</p:attrName>
                                        </p:attrNameLst>
                                      </p:cBhvr>
                                      <p:to>
                                        <p:strVal val="visible"/>
                                      </p:to>
                                    </p:set>
                                    <p:animEffect transition="in" filter="barn(outHorizontal)">
                                      <p:cBhvr>
                                        <p:cTn id="26" dur="500"/>
                                        <p:tgtEl>
                                          <p:spTgt spid="31"/>
                                        </p:tgtEl>
                                      </p:cBhvr>
                                    </p:animEffect>
                                  </p:childTnLst>
                                </p:cTn>
                              </p:par>
                              <p:par>
                                <p:cTn id="27" presetID="41" presetClass="entr" presetSubtype="0" fill="hold" grpId="0" nodeType="withEffect">
                                  <p:stCondLst>
                                    <p:cond delay="500"/>
                                  </p:stCondLst>
                                  <p:iterate type="lt">
                                    <p:tmPct val="10000"/>
                                  </p:iterate>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12"/>
                                        </p:tgtEl>
                                        <p:attrNameLst>
                                          <p:attrName>ppt_y</p:attrName>
                                        </p:attrNameLst>
                                      </p:cBhvr>
                                      <p:tavLst>
                                        <p:tav tm="0">
                                          <p:val>
                                            <p:strVal val="#ppt_y"/>
                                          </p:val>
                                        </p:tav>
                                        <p:tav tm="100000">
                                          <p:val>
                                            <p:strVal val="#ppt_y"/>
                                          </p:val>
                                        </p:tav>
                                      </p:tavLst>
                                    </p:anim>
                                    <p:anim calcmode="lin" valueType="num">
                                      <p:cBhvr>
                                        <p:cTn id="31"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12"/>
                                        </p:tgtEl>
                                      </p:cBhvr>
                                    </p:animEffect>
                                  </p:childTnLst>
                                </p:cTn>
                              </p:par>
                              <p:par>
                                <p:cTn id="34" presetID="42" presetClass="entr" presetSubtype="0" fill="hold" grpId="0" nodeType="withEffect">
                                  <p:stCondLst>
                                    <p:cond delay="7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par>
                                <p:cTn id="39" presetID="16" presetClass="entr" presetSubtype="21" fill="hold" grpId="0" nodeType="withEffect">
                                  <p:stCondLst>
                                    <p:cond delay="250"/>
                                  </p:stCondLst>
                                  <p:childTnLst>
                                    <p:set>
                                      <p:cBhvr>
                                        <p:cTn id="40" dur="1" fill="hold">
                                          <p:stCondLst>
                                            <p:cond delay="0"/>
                                          </p:stCondLst>
                                        </p:cTn>
                                        <p:tgtEl>
                                          <p:spTgt spid="11"/>
                                        </p:tgtEl>
                                        <p:attrNameLst>
                                          <p:attrName>style.visibility</p:attrName>
                                        </p:attrNameLst>
                                      </p:cBhvr>
                                      <p:to>
                                        <p:strVal val="visible"/>
                                      </p:to>
                                    </p:set>
                                    <p:animEffect transition="in" filter="barn(inVertical)">
                                      <p:cBhvr>
                                        <p:cTn id="41" dur="500"/>
                                        <p:tgtEl>
                                          <p:spTgt spid="11"/>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par>
                                <p:cTn id="47" presetID="22" presetClass="entr" presetSubtype="4" fill="hold" nodeType="with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5" grpId="0" animBg="1"/>
      <p:bldP spid="17" grpId="0" animBg="1"/>
      <p:bldP spid="30" grpId="0"/>
      <p:bldP spid="32" grpId="0" animBg="1"/>
      <p:bldP spid="33" grpId="0" animBg="1"/>
      <p:bldP spid="3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0A1F88DE-AC72-4CD0-A9C0-B7C7342F0956}"/>
              </a:ext>
            </a:extLst>
          </p:cNvPr>
          <p:cNvSpPr/>
          <p:nvPr/>
        </p:nvSpPr>
        <p:spPr>
          <a:xfrm>
            <a:off x="863369" y="1325484"/>
            <a:ext cx="5232631" cy="1167692"/>
          </a:xfrm>
          <a:prstGeom prst="rect">
            <a:avLst/>
          </a:prstGeom>
        </p:spPr>
        <p:txBody>
          <a:bodyPr wrap="square">
            <a:spAutoFit/>
          </a:bodyPr>
          <a:lstStyle/>
          <a:p>
            <a:pPr>
              <a:lnSpc>
                <a:spcPct val="150000"/>
              </a:lnSpc>
            </a:pPr>
            <a:r>
              <a:rPr lang="en-US" altLang="zh-CN" sz="1200" kern="1400" spc="100" dirty="0">
                <a:solidFill>
                  <a:schemeClr val="tx1">
                    <a:lumMod val="65000"/>
                    <a:lumOff val="35000"/>
                  </a:schemeClr>
                </a:solidFill>
                <a:latin typeface="阿里巴巴普惠体 Medium" pitchFamily="18" charset="-122"/>
                <a:ea typeface="阿里巴巴普惠体 Medium" pitchFamily="18" charset="-122"/>
                <a:sym typeface="思源黑体 CN Normal" panose="020B0400000000000000" pitchFamily="34" charset="-122"/>
              </a:rPr>
              <a:t>DAX formulas were used to create new columns such as Trip Duration and Ticket Revenue. These derived fields helped summarize and categorize data in ways that drove better visual storytelling.</a:t>
            </a:r>
          </a:p>
        </p:txBody>
      </p:sp>
      <p:sp>
        <p:nvSpPr>
          <p:cNvPr id="20" name="文本框 19"/>
          <p:cNvSpPr txBox="1"/>
          <p:nvPr/>
        </p:nvSpPr>
        <p:spPr>
          <a:xfrm>
            <a:off x="1190336" y="272525"/>
            <a:ext cx="5425567" cy="461665"/>
          </a:xfrm>
          <a:prstGeom prst="rect">
            <a:avLst/>
          </a:prstGeom>
          <a:noFill/>
        </p:spPr>
        <p:txBody>
          <a:bodyPr wrap="square" rtlCol="0">
            <a:spAutoFit/>
          </a:bodyPr>
          <a:lstStyle>
            <a:defPPr>
              <a:defRPr lang="zh-CN"/>
            </a:defPPr>
            <a:lvl1pPr algn="ctr">
              <a:defRPr sz="1200" spc="300">
                <a:gradFill flip="none" rotWithShape="1">
                  <a:gsLst>
                    <a:gs pos="0">
                      <a:schemeClr val="accent5">
                        <a:lumMod val="60000"/>
                        <a:lumOff val="40000"/>
                      </a:schemeClr>
                    </a:gs>
                    <a:gs pos="100000">
                      <a:schemeClr val="accent3"/>
                    </a:gs>
                  </a:gsLst>
                  <a:lin ang="16200000" scaled="1"/>
                  <a:tileRect/>
                </a:gradFill>
                <a:cs typeface="+mn-ea"/>
              </a:defRPr>
            </a:lvl1pPr>
          </a:lstStyle>
          <a:p>
            <a:pPr algn="l"/>
            <a:r>
              <a:rPr lang="en-US" altLang="zh-CN" sz="2400" b="1" spc="0" dirty="0">
                <a:solidFill>
                  <a:schemeClr val="tx1">
                    <a:lumMod val="75000"/>
                    <a:lumOff val="2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08 Creating Calculated Columns</a:t>
            </a:r>
          </a:p>
        </p:txBody>
      </p:sp>
      <p:pic>
        <p:nvPicPr>
          <p:cNvPr id="2" name="Picture 1">
            <a:extLst>
              <a:ext uri="{FF2B5EF4-FFF2-40B4-BE49-F238E27FC236}">
                <a16:creationId xmlns:a16="http://schemas.microsoft.com/office/drawing/2014/main" id="{C12FCB5B-2001-1D51-280E-4615A4D0DD5D}"/>
              </a:ext>
            </a:extLst>
          </p:cNvPr>
          <p:cNvPicPr>
            <a:picLocks noChangeAspect="1"/>
          </p:cNvPicPr>
          <p:nvPr/>
        </p:nvPicPr>
        <p:blipFill>
          <a:blip r:embed="rId2"/>
          <a:stretch>
            <a:fillRect/>
          </a:stretch>
        </p:blipFill>
        <p:spPr>
          <a:xfrm>
            <a:off x="3982755" y="2493176"/>
            <a:ext cx="7916670" cy="3888152"/>
          </a:xfrm>
          <a:prstGeom prst="rect">
            <a:avLst/>
          </a:prstGeom>
        </p:spPr>
      </p:pic>
    </p:spTree>
    <p:extLst>
      <p:ext uri="{BB962C8B-B14F-4D97-AF65-F5344CB8AC3E}">
        <p14:creationId xmlns:p14="http://schemas.microsoft.com/office/powerpoint/2010/main" val="68665947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C50AE-7287-87DE-917A-71D55ECA539B}"/>
            </a:ext>
          </a:extLst>
        </p:cNvPr>
        <p:cNvGrpSpPr/>
        <p:nvPr/>
      </p:nvGrpSpPr>
      <p:grpSpPr>
        <a:xfrm>
          <a:off x="0" y="0"/>
          <a:ext cx="0" cy="0"/>
          <a:chOff x="0" y="0"/>
          <a:chExt cx="0" cy="0"/>
        </a:xfrm>
      </p:grpSpPr>
      <p:sp>
        <p:nvSpPr>
          <p:cNvPr id="11" name="TextBox 30">
            <a:extLst>
              <a:ext uri="{FF2B5EF4-FFF2-40B4-BE49-F238E27FC236}">
                <a16:creationId xmlns:a16="http://schemas.microsoft.com/office/drawing/2014/main" id="{9FE0BEA1-01DE-7EC6-218D-4020CDB10BB4}"/>
              </a:ext>
            </a:extLst>
          </p:cNvPr>
          <p:cNvSpPr txBox="1"/>
          <p:nvPr/>
        </p:nvSpPr>
        <p:spPr>
          <a:xfrm>
            <a:off x="1503355" y="2558574"/>
            <a:ext cx="2436372" cy="2323713"/>
          </a:xfrm>
          <a:prstGeom prst="rect">
            <a:avLst/>
          </a:prstGeom>
          <a:noFill/>
        </p:spPr>
        <p:txBody>
          <a:bodyPr wrap="square" rtlCol="0">
            <a:spAutoFit/>
          </a:bodyPr>
          <a:lstStyle/>
          <a:p>
            <a:pPr algn="r" defTabSz="228600"/>
            <a:r>
              <a:rPr lang="en-US" altLang="zh-CN"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rPr>
              <a:t>09</a:t>
            </a:r>
            <a:endParaRPr lang="zh-CN" altLang="en-US"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endParaRPr>
          </a:p>
        </p:txBody>
      </p:sp>
      <p:sp>
        <p:nvSpPr>
          <p:cNvPr id="12" name="文本框 11">
            <a:extLst>
              <a:ext uri="{FF2B5EF4-FFF2-40B4-BE49-F238E27FC236}">
                <a16:creationId xmlns:a16="http://schemas.microsoft.com/office/drawing/2014/main" id="{87AC0875-54B4-549F-D851-8CB0699DC392}"/>
              </a:ext>
            </a:extLst>
          </p:cNvPr>
          <p:cNvSpPr txBox="1"/>
          <p:nvPr/>
        </p:nvSpPr>
        <p:spPr>
          <a:xfrm>
            <a:off x="4523009" y="2732133"/>
            <a:ext cx="6469533" cy="814582"/>
          </a:xfrm>
          <a:prstGeom prst="rect">
            <a:avLst/>
          </a:prstGeom>
          <a:noFill/>
          <a:scene3d>
            <a:camera prst="orthographicFront"/>
            <a:lightRig rig="threePt" dir="t"/>
          </a:scene3d>
        </p:spPr>
        <p:txBody>
          <a:bodyPr wrap="square" rtlCol="0">
            <a:spAutoFit/>
          </a:bodyPr>
          <a:lstStyle/>
          <a:p>
            <a:pPr>
              <a:lnSpc>
                <a:spcPct val="130000"/>
              </a:lnSpc>
            </a:pPr>
            <a:r>
              <a:rPr lang="en-US" altLang="zh-CN" sz="4000" b="1" dirty="0">
                <a:solidFill>
                  <a:srgbClr val="1B1B1B"/>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Data Model Structure</a:t>
            </a:r>
          </a:p>
        </p:txBody>
      </p:sp>
      <p:sp>
        <p:nvSpPr>
          <p:cNvPr id="13" name="Rectangle 3">
            <a:extLst>
              <a:ext uri="{FF2B5EF4-FFF2-40B4-BE49-F238E27FC236}">
                <a16:creationId xmlns:a16="http://schemas.microsoft.com/office/drawing/2014/main" id="{F151E467-E90B-803B-2D60-985E0DD728F8}"/>
              </a:ext>
            </a:extLst>
          </p:cNvPr>
          <p:cNvSpPr>
            <a:spLocks/>
          </p:cNvSpPr>
          <p:nvPr/>
        </p:nvSpPr>
        <p:spPr bwMode="auto">
          <a:xfrm>
            <a:off x="4622835" y="3640747"/>
            <a:ext cx="5346619" cy="11045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20000"/>
              </a:lnSpc>
              <a:spcBef>
                <a:spcPct val="0"/>
              </a:spcBef>
              <a:buSzTx/>
              <a:buNone/>
            </a:pPr>
            <a:r>
              <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rPr>
              <a:t>The model was structured as a star schema with fact tables (rides, tickets) and dimension tables (stations). Clear relationships made it easy to aggregate data across categories and time.</a:t>
            </a:r>
          </a:p>
        </p:txBody>
      </p:sp>
      <p:sp>
        <p:nvSpPr>
          <p:cNvPr id="14" name="平行四边形 13">
            <a:extLst>
              <a:ext uri="{FF2B5EF4-FFF2-40B4-BE49-F238E27FC236}">
                <a16:creationId xmlns:a16="http://schemas.microsoft.com/office/drawing/2014/main" id="{ED781312-A824-577B-5C76-F26CBA735FFA}"/>
              </a:ext>
            </a:extLst>
          </p:cNvPr>
          <p:cNvSpPr/>
          <p:nvPr/>
        </p:nvSpPr>
        <p:spPr>
          <a:xfrm flipH="1" flipV="1">
            <a:off x="11498754" y="5765570"/>
            <a:ext cx="1077967" cy="1119813"/>
          </a:xfrm>
          <a:prstGeom prst="parallelogram">
            <a:avLst>
              <a:gd name="adj" fmla="val 70972"/>
            </a:avLst>
          </a:prstGeom>
          <a:gradFill>
            <a:gsLst>
              <a:gs pos="0">
                <a:srgbClr val="E4E4E4">
                  <a:alpha val="34000"/>
                </a:srgbClr>
              </a:gs>
              <a:gs pos="85000">
                <a:srgbClr val="E4E4E4">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a:extLst>
              <a:ext uri="{FF2B5EF4-FFF2-40B4-BE49-F238E27FC236}">
                <a16:creationId xmlns:a16="http://schemas.microsoft.com/office/drawing/2014/main" id="{F2D40F0E-4562-E62F-99CE-D4A63EAB8E53}"/>
              </a:ext>
            </a:extLst>
          </p:cNvPr>
          <p:cNvSpPr/>
          <p:nvPr/>
        </p:nvSpPr>
        <p:spPr>
          <a:xfrm>
            <a:off x="8328249" y="3223805"/>
            <a:ext cx="3880471" cy="3645810"/>
          </a:xfrm>
          <a:prstGeom prst="triangle">
            <a:avLst>
              <a:gd name="adj" fmla="val 100000"/>
            </a:avLst>
          </a:prstGeom>
          <a:gradFill>
            <a:gsLst>
              <a:gs pos="3614">
                <a:srgbClr val="66A2C6"/>
              </a:gs>
              <a:gs pos="65000">
                <a:srgbClr val="0E4576"/>
              </a:gs>
              <a:gs pos="100000">
                <a:srgbClr val="102A52"/>
              </a:gs>
            </a:gsLst>
            <a:lin ang="5400000" scaled="1"/>
          </a:gradFill>
          <a:ln>
            <a:noFill/>
          </a:ln>
          <a:effectLst>
            <a:outerShdw blurRad="101600" dist="38100" dir="13500000" algn="b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a:extLst>
              <a:ext uri="{FF2B5EF4-FFF2-40B4-BE49-F238E27FC236}">
                <a16:creationId xmlns:a16="http://schemas.microsoft.com/office/drawing/2014/main" id="{DBB08E56-ABB1-811A-0B26-A4A9AFDEAAD7}"/>
              </a:ext>
            </a:extLst>
          </p:cNvPr>
          <p:cNvSpPr/>
          <p:nvPr/>
        </p:nvSpPr>
        <p:spPr>
          <a:xfrm flipH="1" flipV="1">
            <a:off x="-46848" y="0"/>
            <a:ext cx="3046503" cy="2862274"/>
          </a:xfrm>
          <a:prstGeom prst="triangle">
            <a:avLst>
              <a:gd name="adj" fmla="val 100000"/>
            </a:avLst>
          </a:prstGeom>
          <a:solidFill>
            <a:srgbClr val="0E4576"/>
          </a:solidFill>
          <a:ln>
            <a:no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42D67A78-FA75-84CA-C395-6C4E256429E6}"/>
              </a:ext>
            </a:extLst>
          </p:cNvPr>
          <p:cNvSpPr/>
          <p:nvPr/>
        </p:nvSpPr>
        <p:spPr>
          <a:xfrm>
            <a:off x="1415482" y="3505891"/>
            <a:ext cx="2552327" cy="3551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Box 30">
            <a:extLst>
              <a:ext uri="{FF2B5EF4-FFF2-40B4-BE49-F238E27FC236}">
                <a16:creationId xmlns:a16="http://schemas.microsoft.com/office/drawing/2014/main" id="{D73ACD70-486B-2DCF-32BA-A74F6B28C2BA}"/>
              </a:ext>
            </a:extLst>
          </p:cNvPr>
          <p:cNvSpPr txBox="1"/>
          <p:nvPr/>
        </p:nvSpPr>
        <p:spPr>
          <a:xfrm>
            <a:off x="1957488" y="3521656"/>
            <a:ext cx="1352357" cy="338554"/>
          </a:xfrm>
          <a:prstGeom prst="rect">
            <a:avLst/>
          </a:prstGeom>
          <a:noFill/>
        </p:spPr>
        <p:txBody>
          <a:bodyPr wrap="square" rtlCol="0">
            <a:spAutoFit/>
          </a:bodyPr>
          <a:lstStyle/>
          <a:p>
            <a:pPr algn="ctr" defTabSz="228600"/>
            <a:r>
              <a:rPr lang="en-US" altLang="zh-CN"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rPr>
              <a:t>Part Nine</a:t>
            </a:r>
            <a:endParaRPr lang="zh-CN" altLang="en-US"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endParaRPr>
          </a:p>
        </p:txBody>
      </p:sp>
      <p:cxnSp>
        <p:nvCxnSpPr>
          <p:cNvPr id="31" name="直接连接符 30">
            <a:extLst>
              <a:ext uri="{FF2B5EF4-FFF2-40B4-BE49-F238E27FC236}">
                <a16:creationId xmlns:a16="http://schemas.microsoft.com/office/drawing/2014/main" id="{F761F1E5-B80A-856C-759B-75385DC1AE95}"/>
              </a:ext>
            </a:extLst>
          </p:cNvPr>
          <p:cNvCxnSpPr/>
          <p:nvPr/>
        </p:nvCxnSpPr>
        <p:spPr>
          <a:xfrm>
            <a:off x="4104487" y="2940710"/>
            <a:ext cx="0" cy="1510342"/>
          </a:xfrm>
          <a:prstGeom prst="line">
            <a:avLst/>
          </a:prstGeom>
          <a:ln w="12700">
            <a:solidFill>
              <a:srgbClr val="2D354B">
                <a:alpha val="20000"/>
              </a:srgbClr>
            </a:solidFill>
          </a:ln>
        </p:spPr>
        <p:style>
          <a:lnRef idx="1">
            <a:schemeClr val="accent1"/>
          </a:lnRef>
          <a:fillRef idx="0">
            <a:schemeClr val="accent1"/>
          </a:fillRef>
          <a:effectRef idx="0">
            <a:schemeClr val="accent1"/>
          </a:effectRef>
          <a:fontRef idx="minor">
            <a:schemeClr val="tx1"/>
          </a:fontRef>
        </p:style>
      </p:cxnSp>
      <p:sp>
        <p:nvSpPr>
          <p:cNvPr id="32" name="圆角矩形 31">
            <a:extLst>
              <a:ext uri="{FF2B5EF4-FFF2-40B4-BE49-F238E27FC236}">
                <a16:creationId xmlns:a16="http://schemas.microsoft.com/office/drawing/2014/main" id="{B8503A8E-4631-13A3-170A-D084A3071441}"/>
              </a:ext>
            </a:extLst>
          </p:cNvPr>
          <p:cNvSpPr/>
          <p:nvPr/>
        </p:nvSpPr>
        <p:spPr>
          <a:xfrm rot="2700000">
            <a:off x="609964" y="726490"/>
            <a:ext cx="369745" cy="369745"/>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94C5DE"/>
                  </a:gs>
                  <a:gs pos="100000">
                    <a:srgbClr val="356A9C"/>
                  </a:gs>
                </a:gsLst>
                <a:lin ang="2700000" scaled="0"/>
              </a:gradFill>
            </a:endParaRPr>
          </a:p>
        </p:txBody>
      </p:sp>
      <p:sp>
        <p:nvSpPr>
          <p:cNvPr id="33" name="圆角矩形 32">
            <a:extLst>
              <a:ext uri="{FF2B5EF4-FFF2-40B4-BE49-F238E27FC236}">
                <a16:creationId xmlns:a16="http://schemas.microsoft.com/office/drawing/2014/main" id="{C3E1BE94-437F-E39D-4C89-4A3EE05D988A}"/>
              </a:ext>
            </a:extLst>
          </p:cNvPr>
          <p:cNvSpPr/>
          <p:nvPr/>
        </p:nvSpPr>
        <p:spPr>
          <a:xfrm rot="2700000">
            <a:off x="555613" y="1858238"/>
            <a:ext cx="134147" cy="134147"/>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18A417DB-A925-4FC0-9CD4-4A83265A853B}"/>
              </a:ext>
            </a:extLst>
          </p:cNvPr>
          <p:cNvCxnSpPr>
            <a:stCxn id="17" idx="2"/>
            <a:endCxn id="17" idx="0"/>
          </p:cNvCxnSpPr>
          <p:nvPr/>
        </p:nvCxnSpPr>
        <p:spPr>
          <a:xfrm flipH="1">
            <a:off x="-46848" y="0"/>
            <a:ext cx="3046503" cy="2862274"/>
          </a:xfrm>
          <a:prstGeom prst="line">
            <a:avLst/>
          </a:prstGeom>
          <a:ln w="57150">
            <a:gradFill>
              <a:gsLst>
                <a:gs pos="0">
                  <a:srgbClr val="66A2C6">
                    <a:alpha val="0"/>
                  </a:srgbClr>
                </a:gs>
                <a:gs pos="100000">
                  <a:srgbClr val="66A2C6"/>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圆角矩形 33">
            <a:extLst>
              <a:ext uri="{FF2B5EF4-FFF2-40B4-BE49-F238E27FC236}">
                <a16:creationId xmlns:a16="http://schemas.microsoft.com/office/drawing/2014/main" id="{F77BFB69-42DC-A49B-A60B-782045B0B95E}"/>
              </a:ext>
            </a:extLst>
          </p:cNvPr>
          <p:cNvSpPr/>
          <p:nvPr/>
        </p:nvSpPr>
        <p:spPr>
          <a:xfrm rot="2700000">
            <a:off x="1627747" y="647742"/>
            <a:ext cx="600616" cy="600616"/>
          </a:xfrm>
          <a:prstGeom prst="roundRect">
            <a:avLst>
              <a:gd name="adj" fmla="val 6915"/>
            </a:avLst>
          </a:prstGeom>
          <a:noFill/>
          <a:ln w="50800">
            <a:gradFill>
              <a:gsLst>
                <a:gs pos="0">
                  <a:srgbClr val="66A2C6"/>
                </a:gs>
                <a:gs pos="100000">
                  <a:srgbClr val="0E4576"/>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194" name="Picture 2" descr="Data modelling - Free user icons">
            <a:extLst>
              <a:ext uri="{FF2B5EF4-FFF2-40B4-BE49-F238E27FC236}">
                <a16:creationId xmlns:a16="http://schemas.microsoft.com/office/drawing/2014/main" id="{69FCCED3-4C93-2804-10C4-122E36BAF0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6040" y="214620"/>
            <a:ext cx="2592288" cy="2592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078837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p:cTn id="13" dur="500" fill="hold"/>
                                        <p:tgtEl>
                                          <p:spTgt spid="32"/>
                                        </p:tgtEl>
                                        <p:attrNameLst>
                                          <p:attrName>ppt_w</p:attrName>
                                        </p:attrNameLst>
                                      </p:cBhvr>
                                      <p:tavLst>
                                        <p:tav tm="0">
                                          <p:val>
                                            <p:fltVal val="0"/>
                                          </p:val>
                                        </p:tav>
                                        <p:tav tm="100000">
                                          <p:val>
                                            <p:strVal val="#ppt_w"/>
                                          </p:val>
                                        </p:tav>
                                      </p:tavLst>
                                    </p:anim>
                                    <p:anim calcmode="lin" valueType="num">
                                      <p:cBhvr>
                                        <p:cTn id="14" dur="500" fill="hold"/>
                                        <p:tgtEl>
                                          <p:spTgt spid="32"/>
                                        </p:tgtEl>
                                        <p:attrNameLst>
                                          <p:attrName>ppt_h</p:attrName>
                                        </p:attrNameLst>
                                      </p:cBhvr>
                                      <p:tavLst>
                                        <p:tav tm="0">
                                          <p:val>
                                            <p:fltVal val="0"/>
                                          </p:val>
                                        </p:tav>
                                        <p:tav tm="100000">
                                          <p:val>
                                            <p:strVal val="#ppt_h"/>
                                          </p:val>
                                        </p:tav>
                                      </p:tavLst>
                                    </p:anim>
                                    <p:animEffect transition="in" filter="fade">
                                      <p:cBhvr>
                                        <p:cTn id="15" dur="500"/>
                                        <p:tgtEl>
                                          <p:spTgt spid="32"/>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 calcmode="lin" valueType="num">
                                      <p:cBhvr>
                                        <p:cTn id="18" dur="500" fill="hold"/>
                                        <p:tgtEl>
                                          <p:spTgt spid="33"/>
                                        </p:tgtEl>
                                        <p:attrNameLst>
                                          <p:attrName>ppt_w</p:attrName>
                                        </p:attrNameLst>
                                      </p:cBhvr>
                                      <p:tavLst>
                                        <p:tav tm="0">
                                          <p:val>
                                            <p:fltVal val="0"/>
                                          </p:val>
                                        </p:tav>
                                        <p:tav tm="100000">
                                          <p:val>
                                            <p:strVal val="#ppt_w"/>
                                          </p:val>
                                        </p:tav>
                                      </p:tavLst>
                                    </p:anim>
                                    <p:anim calcmode="lin" valueType="num">
                                      <p:cBhvr>
                                        <p:cTn id="19" dur="500" fill="hold"/>
                                        <p:tgtEl>
                                          <p:spTgt spid="33"/>
                                        </p:tgtEl>
                                        <p:attrNameLst>
                                          <p:attrName>ppt_h</p:attrName>
                                        </p:attrNameLst>
                                      </p:cBhvr>
                                      <p:tavLst>
                                        <p:tav tm="0">
                                          <p:val>
                                            <p:fltVal val="0"/>
                                          </p:val>
                                        </p:tav>
                                        <p:tav tm="100000">
                                          <p:val>
                                            <p:strVal val="#ppt_h"/>
                                          </p:val>
                                        </p:tav>
                                      </p:tavLst>
                                    </p:anim>
                                    <p:animEffect transition="in" filter="fade">
                                      <p:cBhvr>
                                        <p:cTn id="20" dur="500"/>
                                        <p:tgtEl>
                                          <p:spTgt spid="33"/>
                                        </p:tgtEl>
                                      </p:cBhvr>
                                    </p:animEffect>
                                  </p:childTnLst>
                                </p:cTn>
                              </p:par>
                              <p:par>
                                <p:cTn id="21" presetID="16" presetClass="entr" presetSubtype="21" fill="hold" grpId="0" nodeType="withEffect">
                                  <p:stCondLst>
                                    <p:cond delay="250"/>
                                  </p:stCondLst>
                                  <p:childTnLst>
                                    <p:set>
                                      <p:cBhvr>
                                        <p:cTn id="22" dur="1" fill="hold">
                                          <p:stCondLst>
                                            <p:cond delay="0"/>
                                          </p:stCondLst>
                                        </p:cTn>
                                        <p:tgtEl>
                                          <p:spTgt spid="30"/>
                                        </p:tgtEl>
                                        <p:attrNameLst>
                                          <p:attrName>style.visibility</p:attrName>
                                        </p:attrNameLst>
                                      </p:cBhvr>
                                      <p:to>
                                        <p:strVal val="visible"/>
                                      </p:to>
                                    </p:set>
                                    <p:animEffect transition="in" filter="barn(inVertical)">
                                      <p:cBhvr>
                                        <p:cTn id="23" dur="500"/>
                                        <p:tgtEl>
                                          <p:spTgt spid="30"/>
                                        </p:tgtEl>
                                      </p:cBhvr>
                                    </p:animEffect>
                                  </p:childTnLst>
                                </p:cTn>
                              </p:par>
                              <p:par>
                                <p:cTn id="24" presetID="16" presetClass="entr" presetSubtype="42" fill="hold" nodeType="withEffect">
                                  <p:stCondLst>
                                    <p:cond delay="250"/>
                                  </p:stCondLst>
                                  <p:childTnLst>
                                    <p:set>
                                      <p:cBhvr>
                                        <p:cTn id="25" dur="1" fill="hold">
                                          <p:stCondLst>
                                            <p:cond delay="0"/>
                                          </p:stCondLst>
                                        </p:cTn>
                                        <p:tgtEl>
                                          <p:spTgt spid="31"/>
                                        </p:tgtEl>
                                        <p:attrNameLst>
                                          <p:attrName>style.visibility</p:attrName>
                                        </p:attrNameLst>
                                      </p:cBhvr>
                                      <p:to>
                                        <p:strVal val="visible"/>
                                      </p:to>
                                    </p:set>
                                    <p:animEffect transition="in" filter="barn(outHorizontal)">
                                      <p:cBhvr>
                                        <p:cTn id="26" dur="500"/>
                                        <p:tgtEl>
                                          <p:spTgt spid="31"/>
                                        </p:tgtEl>
                                      </p:cBhvr>
                                    </p:animEffect>
                                  </p:childTnLst>
                                </p:cTn>
                              </p:par>
                              <p:par>
                                <p:cTn id="27" presetID="41" presetClass="entr" presetSubtype="0" fill="hold" grpId="0" nodeType="withEffect">
                                  <p:stCondLst>
                                    <p:cond delay="500"/>
                                  </p:stCondLst>
                                  <p:iterate type="lt">
                                    <p:tmPct val="10000"/>
                                  </p:iterate>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12"/>
                                        </p:tgtEl>
                                        <p:attrNameLst>
                                          <p:attrName>ppt_y</p:attrName>
                                        </p:attrNameLst>
                                      </p:cBhvr>
                                      <p:tavLst>
                                        <p:tav tm="0">
                                          <p:val>
                                            <p:strVal val="#ppt_y"/>
                                          </p:val>
                                        </p:tav>
                                        <p:tav tm="100000">
                                          <p:val>
                                            <p:strVal val="#ppt_y"/>
                                          </p:val>
                                        </p:tav>
                                      </p:tavLst>
                                    </p:anim>
                                    <p:anim calcmode="lin" valueType="num">
                                      <p:cBhvr>
                                        <p:cTn id="31"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12"/>
                                        </p:tgtEl>
                                      </p:cBhvr>
                                    </p:animEffect>
                                  </p:childTnLst>
                                </p:cTn>
                              </p:par>
                              <p:par>
                                <p:cTn id="34" presetID="42" presetClass="entr" presetSubtype="0" fill="hold" grpId="0" nodeType="withEffect">
                                  <p:stCondLst>
                                    <p:cond delay="7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par>
                                <p:cTn id="39" presetID="16" presetClass="entr" presetSubtype="21" fill="hold" grpId="0" nodeType="withEffect">
                                  <p:stCondLst>
                                    <p:cond delay="250"/>
                                  </p:stCondLst>
                                  <p:childTnLst>
                                    <p:set>
                                      <p:cBhvr>
                                        <p:cTn id="40" dur="1" fill="hold">
                                          <p:stCondLst>
                                            <p:cond delay="0"/>
                                          </p:stCondLst>
                                        </p:cTn>
                                        <p:tgtEl>
                                          <p:spTgt spid="11"/>
                                        </p:tgtEl>
                                        <p:attrNameLst>
                                          <p:attrName>style.visibility</p:attrName>
                                        </p:attrNameLst>
                                      </p:cBhvr>
                                      <p:to>
                                        <p:strVal val="visible"/>
                                      </p:to>
                                    </p:set>
                                    <p:animEffect transition="in" filter="barn(inVertical)">
                                      <p:cBhvr>
                                        <p:cTn id="41" dur="500"/>
                                        <p:tgtEl>
                                          <p:spTgt spid="11"/>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par>
                                <p:cTn id="47" presetID="22" presetClass="entr" presetSubtype="4" fill="hold" nodeType="with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5" grpId="0" animBg="1"/>
      <p:bldP spid="17" grpId="0" animBg="1"/>
      <p:bldP spid="30" grpId="0"/>
      <p:bldP spid="32" grpId="0" animBg="1"/>
      <p:bldP spid="33" grpId="0" animBg="1"/>
      <p:bldP spid="3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DDD3A-9E19-D224-D22D-59CFA74117CE}"/>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402CD1D9-F128-3F31-38D2-8DAAD85ECAD8}"/>
              </a:ext>
            </a:extLst>
          </p:cNvPr>
          <p:cNvSpPr/>
          <p:nvPr/>
        </p:nvSpPr>
        <p:spPr>
          <a:xfrm>
            <a:off x="872910" y="1556792"/>
            <a:ext cx="10134482" cy="613694"/>
          </a:xfrm>
          <a:prstGeom prst="rect">
            <a:avLst/>
          </a:prstGeom>
        </p:spPr>
        <p:txBody>
          <a:bodyPr wrap="square">
            <a:spAutoFit/>
          </a:bodyPr>
          <a:lstStyle/>
          <a:p>
            <a:pPr>
              <a:lnSpc>
                <a:spcPct val="150000"/>
              </a:lnSpc>
            </a:pPr>
            <a:r>
              <a:rPr lang="en-US" altLang="zh-CN" sz="1200" kern="1400" spc="100" dirty="0">
                <a:solidFill>
                  <a:schemeClr val="tx1">
                    <a:lumMod val="65000"/>
                    <a:lumOff val="35000"/>
                  </a:schemeClr>
                </a:solidFill>
                <a:latin typeface="阿里巴巴普惠体 Medium" pitchFamily="18" charset="-122"/>
                <a:ea typeface="阿里巴巴普惠体 Medium" pitchFamily="18" charset="-122"/>
                <a:sym typeface="思源黑体 CN Normal" panose="020B0400000000000000" pitchFamily="34" charset="-122"/>
              </a:rPr>
              <a:t>Relationships were built between tables using one-to-many links. For instance, each station could be related to many rides. Relationship directions and cardinality were carefully configured for accurate joins.</a:t>
            </a:r>
          </a:p>
        </p:txBody>
      </p:sp>
      <p:sp>
        <p:nvSpPr>
          <p:cNvPr id="20" name="文本框 19">
            <a:extLst>
              <a:ext uri="{FF2B5EF4-FFF2-40B4-BE49-F238E27FC236}">
                <a16:creationId xmlns:a16="http://schemas.microsoft.com/office/drawing/2014/main" id="{DA0DE27F-9193-CDD0-A070-46FCA5977E97}"/>
              </a:ext>
            </a:extLst>
          </p:cNvPr>
          <p:cNvSpPr txBox="1"/>
          <p:nvPr/>
        </p:nvSpPr>
        <p:spPr>
          <a:xfrm>
            <a:off x="1190336" y="272525"/>
            <a:ext cx="5425567" cy="461665"/>
          </a:xfrm>
          <a:prstGeom prst="rect">
            <a:avLst/>
          </a:prstGeom>
          <a:noFill/>
        </p:spPr>
        <p:txBody>
          <a:bodyPr wrap="square" rtlCol="0">
            <a:spAutoFit/>
          </a:bodyPr>
          <a:lstStyle>
            <a:defPPr>
              <a:defRPr lang="zh-CN"/>
            </a:defPPr>
            <a:lvl1pPr algn="ctr">
              <a:defRPr sz="1200" spc="300">
                <a:gradFill flip="none" rotWithShape="1">
                  <a:gsLst>
                    <a:gs pos="0">
                      <a:schemeClr val="accent5">
                        <a:lumMod val="60000"/>
                        <a:lumOff val="40000"/>
                      </a:schemeClr>
                    </a:gs>
                    <a:gs pos="100000">
                      <a:schemeClr val="accent3"/>
                    </a:gs>
                  </a:gsLst>
                  <a:lin ang="16200000" scaled="1"/>
                  <a:tileRect/>
                </a:gradFill>
                <a:cs typeface="+mn-ea"/>
              </a:defRPr>
            </a:lvl1pPr>
          </a:lstStyle>
          <a:p>
            <a:pPr algn="l"/>
            <a:r>
              <a:rPr lang="en-US" altLang="zh-CN" sz="2400" b="1" spc="0" dirty="0">
                <a:solidFill>
                  <a:schemeClr val="tx1">
                    <a:lumMod val="75000"/>
                    <a:lumOff val="2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10 Relationships Explained</a:t>
            </a:r>
          </a:p>
        </p:txBody>
      </p:sp>
      <p:pic>
        <p:nvPicPr>
          <p:cNvPr id="3" name="Picture 2">
            <a:extLst>
              <a:ext uri="{FF2B5EF4-FFF2-40B4-BE49-F238E27FC236}">
                <a16:creationId xmlns:a16="http://schemas.microsoft.com/office/drawing/2014/main" id="{DC534FA5-1762-B5C9-AB98-D5CF24EEC130}"/>
              </a:ext>
            </a:extLst>
          </p:cNvPr>
          <p:cNvPicPr>
            <a:picLocks noChangeAspect="1"/>
          </p:cNvPicPr>
          <p:nvPr/>
        </p:nvPicPr>
        <p:blipFill>
          <a:blip r:embed="rId2"/>
          <a:stretch>
            <a:fillRect/>
          </a:stretch>
        </p:blipFill>
        <p:spPr>
          <a:xfrm>
            <a:off x="863369" y="2530472"/>
            <a:ext cx="9807515" cy="3663840"/>
          </a:xfrm>
          <a:prstGeom prst="rect">
            <a:avLst/>
          </a:prstGeom>
        </p:spPr>
      </p:pic>
    </p:spTree>
    <p:extLst>
      <p:ext uri="{BB962C8B-B14F-4D97-AF65-F5344CB8AC3E}">
        <p14:creationId xmlns:p14="http://schemas.microsoft.com/office/powerpoint/2010/main" val="322777042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0" y="3067051"/>
            <a:ext cx="12192000" cy="3790951"/>
          </a:xfrm>
          <a:prstGeom prst="rect">
            <a:avLst/>
          </a:prstGeom>
          <a:solidFill>
            <a:srgbClr val="0E45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zh-CN" altLang="en-US" sz="1353" dirty="0">
              <a:solidFill>
                <a:srgbClr val="FFFFFF"/>
              </a:solidFill>
              <a:latin typeface="阿里巴巴普惠体 Medium" pitchFamily="18" charset="-122"/>
              <a:ea typeface="阿里巴巴普惠体 Medium" pitchFamily="18" charset="-122"/>
            </a:endParaRPr>
          </a:p>
        </p:txBody>
      </p:sp>
      <p:sp>
        <p:nvSpPr>
          <p:cNvPr id="46" name="矩形 45"/>
          <p:cNvSpPr/>
          <p:nvPr/>
        </p:nvSpPr>
        <p:spPr>
          <a:xfrm>
            <a:off x="932607" y="5673092"/>
            <a:ext cx="10326785" cy="700576"/>
          </a:xfrm>
          <a:prstGeom prst="rect">
            <a:avLst/>
          </a:prstGeom>
        </p:spPr>
        <p:txBody>
          <a:bodyPr wrap="square">
            <a:spAutoFit/>
            <a:scene3d>
              <a:camera prst="orthographicFront"/>
              <a:lightRig rig="threePt" dir="t"/>
            </a:scene3d>
            <a:sp3d contourW="12700"/>
          </a:bodyPr>
          <a:lstStyle/>
          <a:p>
            <a:pPr defTabSz="914377">
              <a:lnSpc>
                <a:spcPct val="150000"/>
              </a:lnSpc>
            </a:pPr>
            <a:r>
              <a:rPr lang="en-US" altLang="zh-CN" sz="1400" dirty="0">
                <a:solidFill>
                  <a:schemeClr val="bg1"/>
                </a:solidFill>
                <a:latin typeface="阿里巴巴普惠体 Medium" pitchFamily="18" charset="-122"/>
                <a:ea typeface="阿里巴巴普惠体 Medium" pitchFamily="18" charset="-122"/>
              </a:rPr>
              <a:t>Visual clarity, color consistency, and interactivity guided the dashboard design. Slicers, tooltips, and card visuals made it easy to navigate data and derive insights from different business perspectives.</a:t>
            </a:r>
          </a:p>
        </p:txBody>
      </p:sp>
      <p:grpSp>
        <p:nvGrpSpPr>
          <p:cNvPr id="25" name="组合 24"/>
          <p:cNvGrpSpPr/>
          <p:nvPr/>
        </p:nvGrpSpPr>
        <p:grpSpPr>
          <a:xfrm>
            <a:off x="1190336" y="272525"/>
            <a:ext cx="5193696" cy="618693"/>
            <a:chOff x="1438134" y="699421"/>
            <a:chExt cx="5193695" cy="618693"/>
          </a:xfrm>
        </p:grpSpPr>
        <p:sp>
          <p:nvSpPr>
            <p:cNvPr id="26" name="文本框 25"/>
            <p:cNvSpPr txBox="1"/>
            <p:nvPr/>
          </p:nvSpPr>
          <p:spPr>
            <a:xfrm>
              <a:off x="1438134" y="699421"/>
              <a:ext cx="5193695" cy="461665"/>
            </a:xfrm>
            <a:prstGeom prst="rect">
              <a:avLst/>
            </a:prstGeom>
            <a:noFill/>
          </p:spPr>
          <p:txBody>
            <a:bodyPr wrap="square" rtlCol="0">
              <a:spAutoFit/>
            </a:bodyPr>
            <a:lstStyle>
              <a:defPPr>
                <a:defRPr lang="zh-CN"/>
              </a:defPPr>
              <a:lvl1pPr algn="ctr">
                <a:defRPr sz="1200" spc="300">
                  <a:gradFill flip="none" rotWithShape="1">
                    <a:gsLst>
                      <a:gs pos="0">
                        <a:schemeClr val="accent5">
                          <a:lumMod val="60000"/>
                          <a:lumOff val="40000"/>
                        </a:schemeClr>
                      </a:gs>
                      <a:gs pos="100000">
                        <a:schemeClr val="accent3"/>
                      </a:gs>
                    </a:gsLst>
                    <a:lin ang="16200000" scaled="1"/>
                    <a:tileRect/>
                  </a:gradFill>
                  <a:cs typeface="+mn-ea"/>
                </a:defRPr>
              </a:lvl1pPr>
            </a:lstStyle>
            <a:p>
              <a:pPr algn="l"/>
              <a:r>
                <a:rPr lang="en-US" altLang="zh-CN" sz="2400" b="1" spc="0" dirty="0">
                  <a:solidFill>
                    <a:schemeClr val="tx1">
                      <a:lumMod val="75000"/>
                      <a:lumOff val="2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11 Dashboard Design Principles</a:t>
              </a:r>
              <a:endParaRPr lang="zh-CN" altLang="en-US" sz="2400" b="1" spc="0" dirty="0">
                <a:solidFill>
                  <a:schemeClr val="tx1">
                    <a:lumMod val="75000"/>
                    <a:lumOff val="2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sp>
          <p:nvSpPr>
            <p:cNvPr id="27" name="文本框 26"/>
            <p:cNvSpPr txBox="1"/>
            <p:nvPr/>
          </p:nvSpPr>
          <p:spPr>
            <a:xfrm>
              <a:off x="1440874" y="1087282"/>
              <a:ext cx="4087091" cy="230832"/>
            </a:xfrm>
            <a:prstGeom prst="rect">
              <a:avLst/>
            </a:prstGeom>
          </p:spPr>
          <p:txBody>
            <a:bodyPr wrap="square">
              <a:spAutoFit/>
            </a:bodyPr>
            <a:lstStyle>
              <a:defPPr>
                <a:defRPr lang="zh-CN"/>
              </a:defPPr>
              <a:lvl1pPr algn="ctr">
                <a:defRPr sz="2800">
                  <a:solidFill>
                    <a:srgbClr val="000000">
                      <a:lumMod val="65000"/>
                      <a:lumOff val="35000"/>
                    </a:srgbClr>
                  </a:solidFill>
                  <a:latin typeface="Century Gothic" panose="020B0502020202020204" pitchFamily="34" charset="0"/>
                  <a:cs typeface="Lato Thin" panose="020F0502020204030203" pitchFamily="34" charset="0"/>
                </a:defRPr>
              </a:lvl1pPr>
            </a:lstStyle>
            <a:p>
              <a:pPr algn="l">
                <a:lnSpc>
                  <a:spcPct val="90000"/>
                </a:lnSpc>
                <a:spcBef>
                  <a:spcPts val="1000"/>
                </a:spcBef>
              </a:pPr>
              <a:endParaRPr lang="en-US" altLang="zh-CN" sz="1000" dirty="0">
                <a:solidFill>
                  <a:prstClr val="white">
                    <a:lumMod val="50000"/>
                  </a:prstClr>
                </a:solidFill>
                <a:latin typeface="阿里巴巴普惠体 Medium" pitchFamily="18" charset="-122"/>
                <a:ea typeface="阿里巴巴普惠体 Medium" pitchFamily="18" charset="-122"/>
                <a:cs typeface="Arial" panose="020B0604020202020204" pitchFamily="34" charset="0"/>
              </a:endParaRPr>
            </a:p>
          </p:txBody>
        </p:sp>
      </p:grpSp>
      <p:pic>
        <p:nvPicPr>
          <p:cNvPr id="4" name="Picture 3">
            <a:extLst>
              <a:ext uri="{FF2B5EF4-FFF2-40B4-BE49-F238E27FC236}">
                <a16:creationId xmlns:a16="http://schemas.microsoft.com/office/drawing/2014/main" id="{F9220F85-F06D-91FE-C02F-D49FA02EFC4F}"/>
              </a:ext>
            </a:extLst>
          </p:cNvPr>
          <p:cNvPicPr>
            <a:picLocks noChangeAspect="1"/>
          </p:cNvPicPr>
          <p:nvPr/>
        </p:nvPicPr>
        <p:blipFill>
          <a:blip r:embed="rId3"/>
          <a:stretch>
            <a:fillRect/>
          </a:stretch>
        </p:blipFill>
        <p:spPr>
          <a:xfrm>
            <a:off x="1222384" y="1088763"/>
            <a:ext cx="9657392" cy="4164587"/>
          </a:xfrm>
          <a:prstGeom prst="rect">
            <a:avLst/>
          </a:prstGeom>
        </p:spPr>
      </p:pic>
    </p:spTree>
    <p:extLst>
      <p:ext uri="{BB962C8B-B14F-4D97-AF65-F5344CB8AC3E}">
        <p14:creationId xmlns:p14="http://schemas.microsoft.com/office/powerpoint/2010/main" val="136912995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7381225" y="1184427"/>
            <a:ext cx="3616832" cy="3616832"/>
          </a:xfrm>
          <a:prstGeom prst="ellipse">
            <a:avLst/>
          </a:prstGeom>
          <a:solidFill>
            <a:srgbClr val="0E4576"/>
          </a:solidFill>
          <a:ln w="3175">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2530" tIns="61265" rIns="122530" bIns="61265" rtlCol="0" anchor="ctr"/>
          <a:lstStyle/>
          <a:p>
            <a:pPr algn="ctr"/>
            <a:endParaRPr lang="zh-CN" altLang="en-US" sz="2400" dirty="0">
              <a:solidFill>
                <a:schemeClr val="accent2"/>
              </a:solidFill>
              <a:latin typeface="阿里巴巴普惠体 Medium" pitchFamily="18" charset="-122"/>
              <a:ea typeface="阿里巴巴普惠体 Medium" pitchFamily="18" charset="-122"/>
            </a:endParaRPr>
          </a:p>
        </p:txBody>
      </p:sp>
      <p:sp>
        <p:nvSpPr>
          <p:cNvPr id="11" name="文本框 10"/>
          <p:cNvSpPr txBox="1"/>
          <p:nvPr/>
        </p:nvSpPr>
        <p:spPr>
          <a:xfrm>
            <a:off x="6909155" y="4907927"/>
            <a:ext cx="4515437" cy="1444691"/>
          </a:xfrm>
          <a:prstGeom prst="rect">
            <a:avLst/>
          </a:prstGeom>
          <a:noFill/>
        </p:spPr>
        <p:txBody>
          <a:bodyPr wrap="square" rtlCol="0">
            <a:spAutoFit/>
          </a:bodyPr>
          <a:lstStyle>
            <a:defPPr>
              <a:defRPr lang="zh-CN"/>
            </a:defPPr>
            <a:lvl1pPr>
              <a:lnSpc>
                <a:spcPct val="150000"/>
              </a:lnSpc>
              <a:defRPr sz="1200" kern="1400" spc="100">
                <a:solidFill>
                  <a:schemeClr val="bg2">
                    <a:lumMod val="25000"/>
                  </a:schemeClr>
                </a:solidFill>
                <a:latin typeface="思源黑体 CN Normal" panose="020B0400000000000000" pitchFamily="34" charset="-122"/>
                <a:ea typeface="思源黑体 CN Normal" panose="020B0400000000000000" pitchFamily="34" charset="-122"/>
              </a:defRPr>
            </a:lvl1pPr>
          </a:lstStyle>
          <a:p>
            <a:r>
              <a:rPr lang="en-US" dirty="0">
                <a:solidFill>
                  <a:srgbClr val="282828"/>
                </a:solidFill>
              </a:rPr>
              <a:t>Weather and signal failure were the leading causes of disruptions, followed by technical issues, staffing problems, and traffic. Understanding these factors supports better planning and operational efficiency</a:t>
            </a:r>
          </a:p>
        </p:txBody>
      </p:sp>
      <p:grpSp>
        <p:nvGrpSpPr>
          <p:cNvPr id="26" name="组合 25"/>
          <p:cNvGrpSpPr/>
          <p:nvPr/>
        </p:nvGrpSpPr>
        <p:grpSpPr>
          <a:xfrm>
            <a:off x="1190336" y="272525"/>
            <a:ext cx="10234256" cy="618693"/>
            <a:chOff x="1438134" y="699421"/>
            <a:chExt cx="10234253" cy="618693"/>
          </a:xfrm>
        </p:grpSpPr>
        <p:sp>
          <p:nvSpPr>
            <p:cNvPr id="27" name="文本框 26"/>
            <p:cNvSpPr txBox="1"/>
            <p:nvPr/>
          </p:nvSpPr>
          <p:spPr>
            <a:xfrm>
              <a:off x="1438134" y="699421"/>
              <a:ext cx="10234253" cy="461665"/>
            </a:xfrm>
            <a:prstGeom prst="rect">
              <a:avLst/>
            </a:prstGeom>
            <a:noFill/>
          </p:spPr>
          <p:txBody>
            <a:bodyPr wrap="square" rtlCol="0">
              <a:spAutoFit/>
            </a:bodyPr>
            <a:lstStyle>
              <a:defPPr>
                <a:defRPr lang="zh-CN"/>
              </a:defPPr>
              <a:lvl1pPr algn="ctr">
                <a:defRPr sz="1200" spc="300">
                  <a:gradFill flip="none" rotWithShape="1">
                    <a:gsLst>
                      <a:gs pos="0">
                        <a:schemeClr val="accent5">
                          <a:lumMod val="60000"/>
                          <a:lumOff val="40000"/>
                        </a:schemeClr>
                      </a:gs>
                      <a:gs pos="100000">
                        <a:schemeClr val="accent3"/>
                      </a:gs>
                    </a:gsLst>
                    <a:lin ang="16200000" scaled="1"/>
                    <a:tileRect/>
                  </a:gradFill>
                  <a:cs typeface="+mn-ea"/>
                </a:defRPr>
              </a:lvl1pPr>
            </a:lstStyle>
            <a:p>
              <a:pPr algn="l"/>
              <a:r>
                <a:rPr lang="en-US" altLang="zh-CN" sz="2400" b="1" spc="0" dirty="0">
                  <a:solidFill>
                    <a:schemeClr val="tx1">
                      <a:lumMod val="75000"/>
                      <a:lumOff val="2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12 Journey Status &amp; Reasons for Delay and cancel Dashboard</a:t>
              </a:r>
              <a:endParaRPr lang="zh-CN" altLang="en-US" sz="2400" b="1" spc="0" dirty="0">
                <a:solidFill>
                  <a:schemeClr val="tx1">
                    <a:lumMod val="75000"/>
                    <a:lumOff val="2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sp>
          <p:nvSpPr>
            <p:cNvPr id="28" name="文本框 27"/>
            <p:cNvSpPr txBox="1"/>
            <p:nvPr/>
          </p:nvSpPr>
          <p:spPr>
            <a:xfrm>
              <a:off x="1440874" y="1087282"/>
              <a:ext cx="4087091" cy="230832"/>
            </a:xfrm>
            <a:prstGeom prst="rect">
              <a:avLst/>
            </a:prstGeom>
          </p:spPr>
          <p:txBody>
            <a:bodyPr wrap="square">
              <a:spAutoFit/>
            </a:bodyPr>
            <a:lstStyle>
              <a:defPPr>
                <a:defRPr lang="zh-CN"/>
              </a:defPPr>
              <a:lvl1pPr algn="ctr">
                <a:defRPr sz="2800">
                  <a:solidFill>
                    <a:srgbClr val="000000">
                      <a:lumMod val="65000"/>
                      <a:lumOff val="35000"/>
                    </a:srgbClr>
                  </a:solidFill>
                  <a:latin typeface="Century Gothic" panose="020B0502020202020204" pitchFamily="34" charset="0"/>
                  <a:cs typeface="Lato Thin" panose="020F0502020204030203" pitchFamily="34" charset="0"/>
                </a:defRPr>
              </a:lvl1pPr>
            </a:lstStyle>
            <a:p>
              <a:pPr algn="l">
                <a:lnSpc>
                  <a:spcPct val="90000"/>
                </a:lnSpc>
                <a:spcBef>
                  <a:spcPts val="1000"/>
                </a:spcBef>
              </a:pPr>
              <a:endParaRPr lang="en-US" altLang="zh-CN" sz="1000" dirty="0">
                <a:solidFill>
                  <a:prstClr val="white">
                    <a:lumMod val="50000"/>
                  </a:prstClr>
                </a:solidFill>
                <a:latin typeface="阿里巴巴普惠体 Medium" pitchFamily="18" charset="-122"/>
                <a:ea typeface="阿里巴巴普惠体 Medium" pitchFamily="18" charset="-122"/>
                <a:cs typeface="Arial" panose="020B0604020202020204" pitchFamily="34" charset="0"/>
              </a:endParaRPr>
            </a:p>
          </p:txBody>
        </p:sp>
      </p:grpSp>
      <p:sp>
        <p:nvSpPr>
          <p:cNvPr id="2" name="椭圆 8">
            <a:extLst>
              <a:ext uri="{FF2B5EF4-FFF2-40B4-BE49-F238E27FC236}">
                <a16:creationId xmlns:a16="http://schemas.microsoft.com/office/drawing/2014/main" id="{48483FC9-FB01-062F-C436-BC263CEF6F17}"/>
              </a:ext>
            </a:extLst>
          </p:cNvPr>
          <p:cNvSpPr/>
          <p:nvPr/>
        </p:nvSpPr>
        <p:spPr>
          <a:xfrm>
            <a:off x="1847528" y="1089943"/>
            <a:ext cx="3616832" cy="3616832"/>
          </a:xfrm>
          <a:prstGeom prst="ellipse">
            <a:avLst/>
          </a:prstGeom>
          <a:solidFill>
            <a:srgbClr val="0E4576"/>
          </a:solidFill>
          <a:ln w="3175">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2530" tIns="61265" rIns="122530" bIns="61265" rtlCol="0" anchor="ctr"/>
          <a:lstStyle/>
          <a:p>
            <a:pPr algn="ctr"/>
            <a:endParaRPr lang="zh-CN" altLang="en-US" sz="2400" dirty="0">
              <a:solidFill>
                <a:schemeClr val="accent2"/>
              </a:solidFill>
              <a:latin typeface="阿里巴巴普惠体 Medium" pitchFamily="18" charset="-122"/>
              <a:ea typeface="阿里巴巴普惠体 Medium" pitchFamily="18" charset="-122"/>
            </a:endParaRPr>
          </a:p>
        </p:txBody>
      </p:sp>
      <p:pic>
        <p:nvPicPr>
          <p:cNvPr id="3" name="Picture 2">
            <a:extLst>
              <a:ext uri="{FF2B5EF4-FFF2-40B4-BE49-F238E27FC236}">
                <a16:creationId xmlns:a16="http://schemas.microsoft.com/office/drawing/2014/main" id="{C3186C0C-47D1-F9FB-DBE0-EE8A6CE5F108}"/>
              </a:ext>
            </a:extLst>
          </p:cNvPr>
          <p:cNvPicPr>
            <a:picLocks noChangeAspect="1"/>
          </p:cNvPicPr>
          <p:nvPr/>
        </p:nvPicPr>
        <p:blipFill>
          <a:blip r:embed="rId3"/>
          <a:stretch>
            <a:fillRect/>
          </a:stretch>
        </p:blipFill>
        <p:spPr>
          <a:xfrm>
            <a:off x="359067" y="1641491"/>
            <a:ext cx="5736933" cy="2768222"/>
          </a:xfrm>
          <a:prstGeom prst="rect">
            <a:avLst/>
          </a:prstGeom>
        </p:spPr>
      </p:pic>
      <p:pic>
        <p:nvPicPr>
          <p:cNvPr id="4" name="Picture 3">
            <a:extLst>
              <a:ext uri="{FF2B5EF4-FFF2-40B4-BE49-F238E27FC236}">
                <a16:creationId xmlns:a16="http://schemas.microsoft.com/office/drawing/2014/main" id="{7E4661EC-0CE8-89F0-B2F6-CC7854ADF2F6}"/>
              </a:ext>
            </a:extLst>
          </p:cNvPr>
          <p:cNvPicPr>
            <a:picLocks noChangeAspect="1"/>
          </p:cNvPicPr>
          <p:nvPr/>
        </p:nvPicPr>
        <p:blipFill>
          <a:blip r:embed="rId4"/>
          <a:stretch>
            <a:fillRect/>
          </a:stretch>
        </p:blipFill>
        <p:spPr>
          <a:xfrm>
            <a:off x="6321174" y="1641491"/>
            <a:ext cx="5736932" cy="2861124"/>
          </a:xfrm>
          <a:prstGeom prst="rect">
            <a:avLst/>
          </a:prstGeom>
        </p:spPr>
      </p:pic>
      <p:sp>
        <p:nvSpPr>
          <p:cNvPr id="5" name="文本框 10">
            <a:extLst>
              <a:ext uri="{FF2B5EF4-FFF2-40B4-BE49-F238E27FC236}">
                <a16:creationId xmlns:a16="http://schemas.microsoft.com/office/drawing/2014/main" id="{A6EB303A-7CB5-6B3C-1129-1FB7ED71CB76}"/>
              </a:ext>
            </a:extLst>
          </p:cNvPr>
          <p:cNvSpPr txBox="1"/>
          <p:nvPr/>
        </p:nvSpPr>
        <p:spPr>
          <a:xfrm>
            <a:off x="1253422" y="4907927"/>
            <a:ext cx="4515437" cy="1444691"/>
          </a:xfrm>
          <a:prstGeom prst="rect">
            <a:avLst/>
          </a:prstGeom>
          <a:noFill/>
        </p:spPr>
        <p:txBody>
          <a:bodyPr wrap="square" rtlCol="0">
            <a:spAutoFit/>
          </a:bodyPr>
          <a:lstStyle>
            <a:defPPr>
              <a:defRPr lang="zh-CN"/>
            </a:defPPr>
            <a:lvl1pPr>
              <a:lnSpc>
                <a:spcPct val="150000"/>
              </a:lnSpc>
              <a:defRPr sz="1200" kern="1400" spc="100">
                <a:solidFill>
                  <a:schemeClr val="bg2">
                    <a:lumMod val="25000"/>
                  </a:schemeClr>
                </a:solidFill>
                <a:latin typeface="思源黑体 CN Normal" panose="020B0400000000000000" pitchFamily="34" charset="-122"/>
                <a:ea typeface="思源黑体 CN Normal" panose="020B0400000000000000" pitchFamily="34" charset="-122"/>
              </a:defRPr>
            </a:lvl1pPr>
          </a:lstStyle>
          <a:p>
            <a:r>
              <a:rPr lang="en-US" altLang="zh-CN" dirty="0">
                <a:latin typeface="阿里巴巴普惠体 Medium" pitchFamily="18" charset="-122"/>
                <a:ea typeface="阿里巴巴普惠体 Medium" pitchFamily="18" charset="-122"/>
                <a:sym typeface="思源黑体 CN Normal" panose="020B0400000000000000" pitchFamily="34" charset="-122"/>
              </a:rPr>
              <a:t>This dashboard showcases The journey punctuality, with 86.82% of trips arriving on time, 7.24% delayed, and 5.94% cancelled. This insight helps assess service reliability and identify areas for operational improvement.</a:t>
            </a:r>
          </a:p>
        </p:txBody>
      </p:sp>
      <p:sp>
        <p:nvSpPr>
          <p:cNvPr id="6" name="椭圆 21">
            <a:extLst>
              <a:ext uri="{FF2B5EF4-FFF2-40B4-BE49-F238E27FC236}">
                <a16:creationId xmlns:a16="http://schemas.microsoft.com/office/drawing/2014/main" id="{542234AC-C40A-782F-2796-286E9855826F}"/>
              </a:ext>
            </a:extLst>
          </p:cNvPr>
          <p:cNvSpPr/>
          <p:nvPr/>
        </p:nvSpPr>
        <p:spPr>
          <a:xfrm>
            <a:off x="8917765" y="1089943"/>
            <a:ext cx="498215" cy="498214"/>
          </a:xfrm>
          <a:prstGeom prst="ellipse">
            <a:avLst/>
          </a:prstGeom>
          <a:solidFill>
            <a:srgbClr val="66A2C6"/>
          </a:solidFill>
          <a:ln w="3175">
            <a:noFill/>
          </a:ln>
          <a:effectLst>
            <a:outerShdw blurRad="238252" dist="119126" dir="2700001" algn="tl" rotWithShape="0">
              <a:srgbClr val="0070B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22530" tIns="61265" rIns="122530" bIns="61265" rtlCol="0" anchor="ctr"/>
          <a:lstStyle/>
          <a:p>
            <a:pPr algn="ctr"/>
            <a:endParaRPr lang="zh-CN" altLang="en-US" sz="2400" dirty="0">
              <a:solidFill>
                <a:schemeClr val="accent2"/>
              </a:solidFill>
              <a:latin typeface="阿里巴巴普惠体 Medium" pitchFamily="18" charset="-122"/>
              <a:ea typeface="阿里巴巴普惠体 Medium" pitchFamily="18" charset="-122"/>
            </a:endParaRPr>
          </a:p>
        </p:txBody>
      </p:sp>
      <p:sp>
        <p:nvSpPr>
          <p:cNvPr id="7" name="椭圆 21">
            <a:extLst>
              <a:ext uri="{FF2B5EF4-FFF2-40B4-BE49-F238E27FC236}">
                <a16:creationId xmlns:a16="http://schemas.microsoft.com/office/drawing/2014/main" id="{764B8FF9-6F03-3B50-B8DC-E227F2DB7627}"/>
              </a:ext>
            </a:extLst>
          </p:cNvPr>
          <p:cNvSpPr/>
          <p:nvPr/>
        </p:nvSpPr>
        <p:spPr>
          <a:xfrm>
            <a:off x="3329765" y="1089943"/>
            <a:ext cx="498215" cy="498214"/>
          </a:xfrm>
          <a:prstGeom prst="ellipse">
            <a:avLst/>
          </a:prstGeom>
          <a:solidFill>
            <a:srgbClr val="66A2C6"/>
          </a:solidFill>
          <a:ln w="3175">
            <a:noFill/>
          </a:ln>
          <a:effectLst>
            <a:outerShdw blurRad="238252" dist="119126" dir="2700001" algn="tl" rotWithShape="0">
              <a:srgbClr val="0070B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22530" tIns="61265" rIns="122530" bIns="61265" rtlCol="0" anchor="ctr"/>
          <a:lstStyle/>
          <a:p>
            <a:pPr algn="ctr"/>
            <a:endParaRPr lang="zh-CN" altLang="en-US" sz="2400" dirty="0">
              <a:solidFill>
                <a:schemeClr val="accent2"/>
              </a:solidFill>
              <a:latin typeface="阿里巴巴普惠体 Medium" pitchFamily="18" charset="-122"/>
              <a:ea typeface="阿里巴巴普惠体 Medium" pitchFamily="18" charset="-122"/>
            </a:endParaRPr>
          </a:p>
        </p:txBody>
      </p:sp>
    </p:spTree>
    <p:extLst>
      <p:ext uri="{BB962C8B-B14F-4D97-AF65-F5344CB8AC3E}">
        <p14:creationId xmlns:p14="http://schemas.microsoft.com/office/powerpoint/2010/main" val="104604753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2" presetClass="entr" presetSubtype="4"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2" grpId="0" animBg="1"/>
      <p:bldP spid="5" grpId="0"/>
      <p:bldP spid="6"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D0A3A-AB56-C6C1-62A2-C0900111736E}"/>
            </a:ext>
          </a:extLst>
        </p:cNvPr>
        <p:cNvGrpSpPr/>
        <p:nvPr/>
      </p:nvGrpSpPr>
      <p:grpSpPr>
        <a:xfrm>
          <a:off x="0" y="0"/>
          <a:ext cx="0" cy="0"/>
          <a:chOff x="0" y="0"/>
          <a:chExt cx="0" cy="0"/>
        </a:xfrm>
      </p:grpSpPr>
      <p:sp>
        <p:nvSpPr>
          <p:cNvPr id="11" name="TextBox 30">
            <a:extLst>
              <a:ext uri="{FF2B5EF4-FFF2-40B4-BE49-F238E27FC236}">
                <a16:creationId xmlns:a16="http://schemas.microsoft.com/office/drawing/2014/main" id="{2297786A-A985-CC46-74D8-C1042AA7417C}"/>
              </a:ext>
            </a:extLst>
          </p:cNvPr>
          <p:cNvSpPr txBox="1"/>
          <p:nvPr/>
        </p:nvSpPr>
        <p:spPr>
          <a:xfrm>
            <a:off x="1503355" y="2558574"/>
            <a:ext cx="2436372" cy="2323713"/>
          </a:xfrm>
          <a:prstGeom prst="rect">
            <a:avLst/>
          </a:prstGeom>
          <a:noFill/>
        </p:spPr>
        <p:txBody>
          <a:bodyPr wrap="square" rtlCol="0">
            <a:spAutoFit/>
          </a:bodyPr>
          <a:lstStyle/>
          <a:p>
            <a:pPr algn="r" defTabSz="228600"/>
            <a:r>
              <a:rPr lang="en-US" altLang="zh-CN"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rPr>
              <a:t>13</a:t>
            </a:r>
            <a:endParaRPr lang="zh-CN" altLang="en-US"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endParaRPr>
          </a:p>
        </p:txBody>
      </p:sp>
      <p:sp>
        <p:nvSpPr>
          <p:cNvPr id="12" name="文本框 11">
            <a:extLst>
              <a:ext uri="{FF2B5EF4-FFF2-40B4-BE49-F238E27FC236}">
                <a16:creationId xmlns:a16="http://schemas.microsoft.com/office/drawing/2014/main" id="{ADC4EE67-C25C-BCD4-7555-C1F5FA92244E}"/>
              </a:ext>
            </a:extLst>
          </p:cNvPr>
          <p:cNvSpPr txBox="1"/>
          <p:nvPr/>
        </p:nvSpPr>
        <p:spPr>
          <a:xfrm>
            <a:off x="4523009" y="2732133"/>
            <a:ext cx="6469533" cy="814582"/>
          </a:xfrm>
          <a:prstGeom prst="rect">
            <a:avLst/>
          </a:prstGeom>
          <a:noFill/>
          <a:scene3d>
            <a:camera prst="orthographicFront"/>
            <a:lightRig rig="threePt" dir="t"/>
          </a:scene3d>
        </p:spPr>
        <p:txBody>
          <a:bodyPr wrap="square" rtlCol="0">
            <a:spAutoFit/>
          </a:bodyPr>
          <a:lstStyle/>
          <a:p>
            <a:pPr>
              <a:lnSpc>
                <a:spcPct val="130000"/>
              </a:lnSpc>
            </a:pPr>
            <a:r>
              <a:rPr lang="en-US" altLang="zh-CN" sz="4000" b="1" dirty="0">
                <a:solidFill>
                  <a:srgbClr val="1B1B1B"/>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Filtering and Drilldowns</a:t>
            </a:r>
          </a:p>
        </p:txBody>
      </p:sp>
      <p:sp>
        <p:nvSpPr>
          <p:cNvPr id="13" name="Rectangle 3">
            <a:extLst>
              <a:ext uri="{FF2B5EF4-FFF2-40B4-BE49-F238E27FC236}">
                <a16:creationId xmlns:a16="http://schemas.microsoft.com/office/drawing/2014/main" id="{10020AEB-290A-8C8F-4F92-39B019AAEF6B}"/>
              </a:ext>
            </a:extLst>
          </p:cNvPr>
          <p:cNvSpPr>
            <a:spLocks/>
          </p:cNvSpPr>
          <p:nvPr/>
        </p:nvSpPr>
        <p:spPr bwMode="auto">
          <a:xfrm>
            <a:off x="4622835" y="3640747"/>
            <a:ext cx="5346619" cy="11045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20000"/>
              </a:lnSpc>
              <a:spcBef>
                <a:spcPct val="0"/>
              </a:spcBef>
              <a:buSzTx/>
              <a:buNone/>
            </a:pPr>
            <a:r>
              <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rPr>
              <a:t>Interactive filters and drill-through pages allowed users to explore specific stations or time periods. These features made the dashboard dynamic, customizable, and suitable for deep-dive analysis sessions.</a:t>
            </a:r>
          </a:p>
        </p:txBody>
      </p:sp>
      <p:sp>
        <p:nvSpPr>
          <p:cNvPr id="14" name="平行四边形 13">
            <a:extLst>
              <a:ext uri="{FF2B5EF4-FFF2-40B4-BE49-F238E27FC236}">
                <a16:creationId xmlns:a16="http://schemas.microsoft.com/office/drawing/2014/main" id="{F1BCAFA3-0823-9E12-07A4-890C63AA892A}"/>
              </a:ext>
            </a:extLst>
          </p:cNvPr>
          <p:cNvSpPr/>
          <p:nvPr/>
        </p:nvSpPr>
        <p:spPr>
          <a:xfrm flipH="1" flipV="1">
            <a:off x="11498754" y="5765570"/>
            <a:ext cx="1077967" cy="1119813"/>
          </a:xfrm>
          <a:prstGeom prst="parallelogram">
            <a:avLst>
              <a:gd name="adj" fmla="val 70972"/>
            </a:avLst>
          </a:prstGeom>
          <a:gradFill>
            <a:gsLst>
              <a:gs pos="0">
                <a:srgbClr val="E4E4E4">
                  <a:alpha val="34000"/>
                </a:srgbClr>
              </a:gs>
              <a:gs pos="85000">
                <a:srgbClr val="E4E4E4">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a:extLst>
              <a:ext uri="{FF2B5EF4-FFF2-40B4-BE49-F238E27FC236}">
                <a16:creationId xmlns:a16="http://schemas.microsoft.com/office/drawing/2014/main" id="{4D426D97-9966-5B06-6A47-E3D68BA85B81}"/>
              </a:ext>
            </a:extLst>
          </p:cNvPr>
          <p:cNvSpPr/>
          <p:nvPr/>
        </p:nvSpPr>
        <p:spPr>
          <a:xfrm>
            <a:off x="8328249" y="3223805"/>
            <a:ext cx="3880471" cy="3645810"/>
          </a:xfrm>
          <a:prstGeom prst="triangle">
            <a:avLst>
              <a:gd name="adj" fmla="val 100000"/>
            </a:avLst>
          </a:prstGeom>
          <a:gradFill>
            <a:gsLst>
              <a:gs pos="3614">
                <a:srgbClr val="66A2C6"/>
              </a:gs>
              <a:gs pos="65000">
                <a:srgbClr val="0E4576"/>
              </a:gs>
              <a:gs pos="100000">
                <a:srgbClr val="102A52"/>
              </a:gs>
            </a:gsLst>
            <a:lin ang="5400000" scaled="1"/>
          </a:gradFill>
          <a:ln>
            <a:noFill/>
          </a:ln>
          <a:effectLst>
            <a:outerShdw blurRad="101600" dist="38100" dir="13500000" algn="b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a:extLst>
              <a:ext uri="{FF2B5EF4-FFF2-40B4-BE49-F238E27FC236}">
                <a16:creationId xmlns:a16="http://schemas.microsoft.com/office/drawing/2014/main" id="{C7579243-64B9-11B3-F11F-D31127D55625}"/>
              </a:ext>
            </a:extLst>
          </p:cNvPr>
          <p:cNvSpPr/>
          <p:nvPr/>
        </p:nvSpPr>
        <p:spPr>
          <a:xfrm flipH="1" flipV="1">
            <a:off x="-46848" y="0"/>
            <a:ext cx="3046503" cy="2862274"/>
          </a:xfrm>
          <a:prstGeom prst="triangle">
            <a:avLst>
              <a:gd name="adj" fmla="val 100000"/>
            </a:avLst>
          </a:prstGeom>
          <a:solidFill>
            <a:srgbClr val="0E4576"/>
          </a:solidFill>
          <a:ln>
            <a:no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801D9AB1-D4E1-FFC6-65EC-20D53516A736}"/>
              </a:ext>
            </a:extLst>
          </p:cNvPr>
          <p:cNvSpPr/>
          <p:nvPr/>
        </p:nvSpPr>
        <p:spPr>
          <a:xfrm>
            <a:off x="1415482" y="3505891"/>
            <a:ext cx="2552327" cy="3551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Box 30">
            <a:extLst>
              <a:ext uri="{FF2B5EF4-FFF2-40B4-BE49-F238E27FC236}">
                <a16:creationId xmlns:a16="http://schemas.microsoft.com/office/drawing/2014/main" id="{3979AD5F-69C4-A60D-554D-E9D4968AFB51}"/>
              </a:ext>
            </a:extLst>
          </p:cNvPr>
          <p:cNvSpPr txBox="1"/>
          <p:nvPr/>
        </p:nvSpPr>
        <p:spPr>
          <a:xfrm>
            <a:off x="1957488" y="3521656"/>
            <a:ext cx="1352357" cy="338554"/>
          </a:xfrm>
          <a:prstGeom prst="rect">
            <a:avLst/>
          </a:prstGeom>
          <a:noFill/>
        </p:spPr>
        <p:txBody>
          <a:bodyPr wrap="square" rtlCol="0">
            <a:spAutoFit/>
          </a:bodyPr>
          <a:lstStyle/>
          <a:p>
            <a:pPr algn="ctr" defTabSz="228600"/>
            <a:r>
              <a:rPr lang="en-US" altLang="zh-CN"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rPr>
              <a:t>Thirteen</a:t>
            </a:r>
            <a:endParaRPr lang="zh-CN" altLang="en-US"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endParaRPr>
          </a:p>
        </p:txBody>
      </p:sp>
      <p:cxnSp>
        <p:nvCxnSpPr>
          <p:cNvPr id="31" name="直接连接符 30">
            <a:extLst>
              <a:ext uri="{FF2B5EF4-FFF2-40B4-BE49-F238E27FC236}">
                <a16:creationId xmlns:a16="http://schemas.microsoft.com/office/drawing/2014/main" id="{2171B21C-D2F3-6941-4073-66F014100D49}"/>
              </a:ext>
            </a:extLst>
          </p:cNvPr>
          <p:cNvCxnSpPr/>
          <p:nvPr/>
        </p:nvCxnSpPr>
        <p:spPr>
          <a:xfrm>
            <a:off x="4104487" y="2940710"/>
            <a:ext cx="0" cy="1510342"/>
          </a:xfrm>
          <a:prstGeom prst="line">
            <a:avLst/>
          </a:prstGeom>
          <a:ln w="12700">
            <a:solidFill>
              <a:srgbClr val="2D354B">
                <a:alpha val="20000"/>
              </a:srgbClr>
            </a:solidFill>
          </a:ln>
        </p:spPr>
        <p:style>
          <a:lnRef idx="1">
            <a:schemeClr val="accent1"/>
          </a:lnRef>
          <a:fillRef idx="0">
            <a:schemeClr val="accent1"/>
          </a:fillRef>
          <a:effectRef idx="0">
            <a:schemeClr val="accent1"/>
          </a:effectRef>
          <a:fontRef idx="minor">
            <a:schemeClr val="tx1"/>
          </a:fontRef>
        </p:style>
      </p:cxnSp>
      <p:sp>
        <p:nvSpPr>
          <p:cNvPr id="32" name="圆角矩形 31">
            <a:extLst>
              <a:ext uri="{FF2B5EF4-FFF2-40B4-BE49-F238E27FC236}">
                <a16:creationId xmlns:a16="http://schemas.microsoft.com/office/drawing/2014/main" id="{30FC5999-6904-D0E1-53BA-F88E70A0BAAD}"/>
              </a:ext>
            </a:extLst>
          </p:cNvPr>
          <p:cNvSpPr/>
          <p:nvPr/>
        </p:nvSpPr>
        <p:spPr>
          <a:xfrm rot="2700000">
            <a:off x="609964" y="726490"/>
            <a:ext cx="369745" cy="369745"/>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94C5DE"/>
                  </a:gs>
                  <a:gs pos="100000">
                    <a:srgbClr val="356A9C"/>
                  </a:gs>
                </a:gsLst>
                <a:lin ang="2700000" scaled="0"/>
              </a:gradFill>
            </a:endParaRPr>
          </a:p>
        </p:txBody>
      </p:sp>
      <p:sp>
        <p:nvSpPr>
          <p:cNvPr id="33" name="圆角矩形 32">
            <a:extLst>
              <a:ext uri="{FF2B5EF4-FFF2-40B4-BE49-F238E27FC236}">
                <a16:creationId xmlns:a16="http://schemas.microsoft.com/office/drawing/2014/main" id="{631E6DFF-D608-D05C-45D3-96116BB874A4}"/>
              </a:ext>
            </a:extLst>
          </p:cNvPr>
          <p:cNvSpPr/>
          <p:nvPr/>
        </p:nvSpPr>
        <p:spPr>
          <a:xfrm rot="2700000">
            <a:off x="555613" y="1858238"/>
            <a:ext cx="134147" cy="134147"/>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B54E9C83-972D-5D0C-505A-CD58C3900B10}"/>
              </a:ext>
            </a:extLst>
          </p:cNvPr>
          <p:cNvCxnSpPr>
            <a:stCxn id="17" idx="2"/>
            <a:endCxn id="17" idx="0"/>
          </p:cNvCxnSpPr>
          <p:nvPr/>
        </p:nvCxnSpPr>
        <p:spPr>
          <a:xfrm flipH="1">
            <a:off x="-46848" y="0"/>
            <a:ext cx="3046503" cy="2862274"/>
          </a:xfrm>
          <a:prstGeom prst="line">
            <a:avLst/>
          </a:prstGeom>
          <a:ln w="57150">
            <a:gradFill>
              <a:gsLst>
                <a:gs pos="0">
                  <a:srgbClr val="66A2C6">
                    <a:alpha val="0"/>
                  </a:srgbClr>
                </a:gs>
                <a:gs pos="100000">
                  <a:srgbClr val="66A2C6"/>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圆角矩形 33">
            <a:extLst>
              <a:ext uri="{FF2B5EF4-FFF2-40B4-BE49-F238E27FC236}">
                <a16:creationId xmlns:a16="http://schemas.microsoft.com/office/drawing/2014/main" id="{BDD455A6-3C1E-65B6-2625-7A3DEBF4918D}"/>
              </a:ext>
            </a:extLst>
          </p:cNvPr>
          <p:cNvSpPr/>
          <p:nvPr/>
        </p:nvSpPr>
        <p:spPr>
          <a:xfrm rot="2700000">
            <a:off x="1627747" y="647742"/>
            <a:ext cx="600616" cy="600616"/>
          </a:xfrm>
          <a:prstGeom prst="roundRect">
            <a:avLst>
              <a:gd name="adj" fmla="val 6915"/>
            </a:avLst>
          </a:prstGeom>
          <a:noFill/>
          <a:ln w="50800">
            <a:gradFill>
              <a:gsLst>
                <a:gs pos="0">
                  <a:srgbClr val="66A2C6"/>
                </a:gs>
                <a:gs pos="100000">
                  <a:srgbClr val="0E4576"/>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218" name="Picture 2" descr="Filtering - Free computer icons">
            <a:extLst>
              <a:ext uri="{FF2B5EF4-FFF2-40B4-BE49-F238E27FC236}">
                <a16:creationId xmlns:a16="http://schemas.microsoft.com/office/drawing/2014/main" id="{381EAA72-C0EE-8B1E-E02F-0DF61310E8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4032" y="76382"/>
            <a:ext cx="2808312" cy="2808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883732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p:cTn id="13" dur="500" fill="hold"/>
                                        <p:tgtEl>
                                          <p:spTgt spid="32"/>
                                        </p:tgtEl>
                                        <p:attrNameLst>
                                          <p:attrName>ppt_w</p:attrName>
                                        </p:attrNameLst>
                                      </p:cBhvr>
                                      <p:tavLst>
                                        <p:tav tm="0">
                                          <p:val>
                                            <p:fltVal val="0"/>
                                          </p:val>
                                        </p:tav>
                                        <p:tav tm="100000">
                                          <p:val>
                                            <p:strVal val="#ppt_w"/>
                                          </p:val>
                                        </p:tav>
                                      </p:tavLst>
                                    </p:anim>
                                    <p:anim calcmode="lin" valueType="num">
                                      <p:cBhvr>
                                        <p:cTn id="14" dur="500" fill="hold"/>
                                        <p:tgtEl>
                                          <p:spTgt spid="32"/>
                                        </p:tgtEl>
                                        <p:attrNameLst>
                                          <p:attrName>ppt_h</p:attrName>
                                        </p:attrNameLst>
                                      </p:cBhvr>
                                      <p:tavLst>
                                        <p:tav tm="0">
                                          <p:val>
                                            <p:fltVal val="0"/>
                                          </p:val>
                                        </p:tav>
                                        <p:tav tm="100000">
                                          <p:val>
                                            <p:strVal val="#ppt_h"/>
                                          </p:val>
                                        </p:tav>
                                      </p:tavLst>
                                    </p:anim>
                                    <p:animEffect transition="in" filter="fade">
                                      <p:cBhvr>
                                        <p:cTn id="15" dur="500"/>
                                        <p:tgtEl>
                                          <p:spTgt spid="32"/>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 calcmode="lin" valueType="num">
                                      <p:cBhvr>
                                        <p:cTn id="18" dur="500" fill="hold"/>
                                        <p:tgtEl>
                                          <p:spTgt spid="33"/>
                                        </p:tgtEl>
                                        <p:attrNameLst>
                                          <p:attrName>ppt_w</p:attrName>
                                        </p:attrNameLst>
                                      </p:cBhvr>
                                      <p:tavLst>
                                        <p:tav tm="0">
                                          <p:val>
                                            <p:fltVal val="0"/>
                                          </p:val>
                                        </p:tav>
                                        <p:tav tm="100000">
                                          <p:val>
                                            <p:strVal val="#ppt_w"/>
                                          </p:val>
                                        </p:tav>
                                      </p:tavLst>
                                    </p:anim>
                                    <p:anim calcmode="lin" valueType="num">
                                      <p:cBhvr>
                                        <p:cTn id="19" dur="500" fill="hold"/>
                                        <p:tgtEl>
                                          <p:spTgt spid="33"/>
                                        </p:tgtEl>
                                        <p:attrNameLst>
                                          <p:attrName>ppt_h</p:attrName>
                                        </p:attrNameLst>
                                      </p:cBhvr>
                                      <p:tavLst>
                                        <p:tav tm="0">
                                          <p:val>
                                            <p:fltVal val="0"/>
                                          </p:val>
                                        </p:tav>
                                        <p:tav tm="100000">
                                          <p:val>
                                            <p:strVal val="#ppt_h"/>
                                          </p:val>
                                        </p:tav>
                                      </p:tavLst>
                                    </p:anim>
                                    <p:animEffect transition="in" filter="fade">
                                      <p:cBhvr>
                                        <p:cTn id="20" dur="500"/>
                                        <p:tgtEl>
                                          <p:spTgt spid="33"/>
                                        </p:tgtEl>
                                      </p:cBhvr>
                                    </p:animEffect>
                                  </p:childTnLst>
                                </p:cTn>
                              </p:par>
                              <p:par>
                                <p:cTn id="21" presetID="16" presetClass="entr" presetSubtype="21" fill="hold" grpId="0" nodeType="withEffect">
                                  <p:stCondLst>
                                    <p:cond delay="250"/>
                                  </p:stCondLst>
                                  <p:childTnLst>
                                    <p:set>
                                      <p:cBhvr>
                                        <p:cTn id="22" dur="1" fill="hold">
                                          <p:stCondLst>
                                            <p:cond delay="0"/>
                                          </p:stCondLst>
                                        </p:cTn>
                                        <p:tgtEl>
                                          <p:spTgt spid="30"/>
                                        </p:tgtEl>
                                        <p:attrNameLst>
                                          <p:attrName>style.visibility</p:attrName>
                                        </p:attrNameLst>
                                      </p:cBhvr>
                                      <p:to>
                                        <p:strVal val="visible"/>
                                      </p:to>
                                    </p:set>
                                    <p:animEffect transition="in" filter="barn(inVertical)">
                                      <p:cBhvr>
                                        <p:cTn id="23" dur="500"/>
                                        <p:tgtEl>
                                          <p:spTgt spid="30"/>
                                        </p:tgtEl>
                                      </p:cBhvr>
                                    </p:animEffect>
                                  </p:childTnLst>
                                </p:cTn>
                              </p:par>
                              <p:par>
                                <p:cTn id="24" presetID="16" presetClass="entr" presetSubtype="42" fill="hold" nodeType="withEffect">
                                  <p:stCondLst>
                                    <p:cond delay="250"/>
                                  </p:stCondLst>
                                  <p:childTnLst>
                                    <p:set>
                                      <p:cBhvr>
                                        <p:cTn id="25" dur="1" fill="hold">
                                          <p:stCondLst>
                                            <p:cond delay="0"/>
                                          </p:stCondLst>
                                        </p:cTn>
                                        <p:tgtEl>
                                          <p:spTgt spid="31"/>
                                        </p:tgtEl>
                                        <p:attrNameLst>
                                          <p:attrName>style.visibility</p:attrName>
                                        </p:attrNameLst>
                                      </p:cBhvr>
                                      <p:to>
                                        <p:strVal val="visible"/>
                                      </p:to>
                                    </p:set>
                                    <p:animEffect transition="in" filter="barn(outHorizontal)">
                                      <p:cBhvr>
                                        <p:cTn id="26" dur="500"/>
                                        <p:tgtEl>
                                          <p:spTgt spid="31"/>
                                        </p:tgtEl>
                                      </p:cBhvr>
                                    </p:animEffect>
                                  </p:childTnLst>
                                </p:cTn>
                              </p:par>
                              <p:par>
                                <p:cTn id="27" presetID="41" presetClass="entr" presetSubtype="0" fill="hold" grpId="0" nodeType="withEffect">
                                  <p:stCondLst>
                                    <p:cond delay="500"/>
                                  </p:stCondLst>
                                  <p:iterate type="lt">
                                    <p:tmPct val="10000"/>
                                  </p:iterate>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12"/>
                                        </p:tgtEl>
                                        <p:attrNameLst>
                                          <p:attrName>ppt_y</p:attrName>
                                        </p:attrNameLst>
                                      </p:cBhvr>
                                      <p:tavLst>
                                        <p:tav tm="0">
                                          <p:val>
                                            <p:strVal val="#ppt_y"/>
                                          </p:val>
                                        </p:tav>
                                        <p:tav tm="100000">
                                          <p:val>
                                            <p:strVal val="#ppt_y"/>
                                          </p:val>
                                        </p:tav>
                                      </p:tavLst>
                                    </p:anim>
                                    <p:anim calcmode="lin" valueType="num">
                                      <p:cBhvr>
                                        <p:cTn id="31"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12"/>
                                        </p:tgtEl>
                                      </p:cBhvr>
                                    </p:animEffect>
                                  </p:childTnLst>
                                </p:cTn>
                              </p:par>
                              <p:par>
                                <p:cTn id="34" presetID="42" presetClass="entr" presetSubtype="0" fill="hold" grpId="0" nodeType="withEffect">
                                  <p:stCondLst>
                                    <p:cond delay="7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par>
                                <p:cTn id="39" presetID="16" presetClass="entr" presetSubtype="21" fill="hold" grpId="0" nodeType="withEffect">
                                  <p:stCondLst>
                                    <p:cond delay="250"/>
                                  </p:stCondLst>
                                  <p:childTnLst>
                                    <p:set>
                                      <p:cBhvr>
                                        <p:cTn id="40" dur="1" fill="hold">
                                          <p:stCondLst>
                                            <p:cond delay="0"/>
                                          </p:stCondLst>
                                        </p:cTn>
                                        <p:tgtEl>
                                          <p:spTgt spid="11"/>
                                        </p:tgtEl>
                                        <p:attrNameLst>
                                          <p:attrName>style.visibility</p:attrName>
                                        </p:attrNameLst>
                                      </p:cBhvr>
                                      <p:to>
                                        <p:strVal val="visible"/>
                                      </p:to>
                                    </p:set>
                                    <p:animEffect transition="in" filter="barn(inVertical)">
                                      <p:cBhvr>
                                        <p:cTn id="41" dur="500"/>
                                        <p:tgtEl>
                                          <p:spTgt spid="11"/>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par>
                                <p:cTn id="47" presetID="22" presetClass="entr" presetSubtype="4" fill="hold" nodeType="with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5" grpId="0" animBg="1"/>
      <p:bldP spid="17" grpId="0" animBg="1"/>
      <p:bldP spid="30" grpId="0"/>
      <p:bldP spid="32" grpId="0" animBg="1"/>
      <p:bldP spid="33" grpId="0" animBg="1"/>
      <p:bldP spid="3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9F7F9-A0E1-3308-34F6-D2DD83CD44EB}"/>
            </a:ext>
          </a:extLst>
        </p:cNvPr>
        <p:cNvGrpSpPr/>
        <p:nvPr/>
      </p:nvGrpSpPr>
      <p:grpSpPr>
        <a:xfrm>
          <a:off x="0" y="0"/>
          <a:ext cx="0" cy="0"/>
          <a:chOff x="0" y="0"/>
          <a:chExt cx="0" cy="0"/>
        </a:xfrm>
      </p:grpSpPr>
      <p:sp>
        <p:nvSpPr>
          <p:cNvPr id="11" name="TextBox 30">
            <a:extLst>
              <a:ext uri="{FF2B5EF4-FFF2-40B4-BE49-F238E27FC236}">
                <a16:creationId xmlns:a16="http://schemas.microsoft.com/office/drawing/2014/main" id="{E7288E4B-6F57-91DB-E7F0-0E3D1B25872A}"/>
              </a:ext>
            </a:extLst>
          </p:cNvPr>
          <p:cNvSpPr txBox="1"/>
          <p:nvPr/>
        </p:nvSpPr>
        <p:spPr>
          <a:xfrm>
            <a:off x="1503355" y="2558574"/>
            <a:ext cx="2436372" cy="2323713"/>
          </a:xfrm>
          <a:prstGeom prst="rect">
            <a:avLst/>
          </a:prstGeom>
          <a:noFill/>
        </p:spPr>
        <p:txBody>
          <a:bodyPr wrap="square" rtlCol="0">
            <a:spAutoFit/>
          </a:bodyPr>
          <a:lstStyle/>
          <a:p>
            <a:pPr algn="r" defTabSz="228600"/>
            <a:r>
              <a:rPr lang="en-US" altLang="zh-CN"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rPr>
              <a:t>14</a:t>
            </a:r>
            <a:endParaRPr lang="zh-CN" altLang="en-US"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endParaRPr>
          </a:p>
        </p:txBody>
      </p:sp>
      <p:sp>
        <p:nvSpPr>
          <p:cNvPr id="12" name="文本框 11">
            <a:extLst>
              <a:ext uri="{FF2B5EF4-FFF2-40B4-BE49-F238E27FC236}">
                <a16:creationId xmlns:a16="http://schemas.microsoft.com/office/drawing/2014/main" id="{46B18998-FB91-386B-F3D9-568587A6B270}"/>
              </a:ext>
            </a:extLst>
          </p:cNvPr>
          <p:cNvSpPr txBox="1"/>
          <p:nvPr/>
        </p:nvSpPr>
        <p:spPr>
          <a:xfrm>
            <a:off x="4523009" y="2732133"/>
            <a:ext cx="6469533" cy="742319"/>
          </a:xfrm>
          <a:prstGeom prst="rect">
            <a:avLst/>
          </a:prstGeom>
          <a:noFill/>
          <a:scene3d>
            <a:camera prst="orthographicFront"/>
            <a:lightRig rig="threePt" dir="t"/>
          </a:scene3d>
        </p:spPr>
        <p:txBody>
          <a:bodyPr wrap="square" rtlCol="0">
            <a:spAutoFit/>
          </a:bodyPr>
          <a:lstStyle/>
          <a:p>
            <a:pPr>
              <a:lnSpc>
                <a:spcPct val="130000"/>
              </a:lnSpc>
            </a:pPr>
            <a:r>
              <a:rPr lang="en-US" altLang="zh-CN" sz="3600" b="1" dirty="0">
                <a:solidFill>
                  <a:srgbClr val="1B1B1B"/>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Preparing Files for GitHub</a:t>
            </a:r>
          </a:p>
        </p:txBody>
      </p:sp>
      <p:sp>
        <p:nvSpPr>
          <p:cNvPr id="13" name="Rectangle 3">
            <a:extLst>
              <a:ext uri="{FF2B5EF4-FFF2-40B4-BE49-F238E27FC236}">
                <a16:creationId xmlns:a16="http://schemas.microsoft.com/office/drawing/2014/main" id="{565187D1-0AE9-DEE9-68C9-FDC91D789873}"/>
              </a:ext>
            </a:extLst>
          </p:cNvPr>
          <p:cNvSpPr>
            <a:spLocks/>
          </p:cNvSpPr>
          <p:nvPr/>
        </p:nvSpPr>
        <p:spPr bwMode="auto">
          <a:xfrm>
            <a:off x="4622835" y="3640747"/>
            <a:ext cx="5346619" cy="11045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20000"/>
              </a:lnSpc>
              <a:spcBef>
                <a:spcPct val="0"/>
              </a:spcBef>
              <a:buSzTx/>
              <a:buNone/>
            </a:pPr>
            <a:r>
              <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rPr>
              <a:t>The PBIX file and supporting data sources were exported and organized. Documentation including project objectives, steps, and results were prepared to make the GitHub repository comprehensive and readable.</a:t>
            </a:r>
          </a:p>
        </p:txBody>
      </p:sp>
      <p:sp>
        <p:nvSpPr>
          <p:cNvPr id="14" name="平行四边形 13">
            <a:extLst>
              <a:ext uri="{FF2B5EF4-FFF2-40B4-BE49-F238E27FC236}">
                <a16:creationId xmlns:a16="http://schemas.microsoft.com/office/drawing/2014/main" id="{542C5F1D-8A39-B48C-6911-45D013933D39}"/>
              </a:ext>
            </a:extLst>
          </p:cNvPr>
          <p:cNvSpPr/>
          <p:nvPr/>
        </p:nvSpPr>
        <p:spPr>
          <a:xfrm flipH="1" flipV="1">
            <a:off x="11498754" y="5765570"/>
            <a:ext cx="1077967" cy="1119813"/>
          </a:xfrm>
          <a:prstGeom prst="parallelogram">
            <a:avLst>
              <a:gd name="adj" fmla="val 70972"/>
            </a:avLst>
          </a:prstGeom>
          <a:gradFill>
            <a:gsLst>
              <a:gs pos="0">
                <a:srgbClr val="E4E4E4">
                  <a:alpha val="34000"/>
                </a:srgbClr>
              </a:gs>
              <a:gs pos="85000">
                <a:srgbClr val="E4E4E4">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a:extLst>
              <a:ext uri="{FF2B5EF4-FFF2-40B4-BE49-F238E27FC236}">
                <a16:creationId xmlns:a16="http://schemas.microsoft.com/office/drawing/2014/main" id="{660649B6-BD19-8AFD-349A-CA53AD2D94E4}"/>
              </a:ext>
            </a:extLst>
          </p:cNvPr>
          <p:cNvSpPr/>
          <p:nvPr/>
        </p:nvSpPr>
        <p:spPr>
          <a:xfrm>
            <a:off x="8328249" y="3223805"/>
            <a:ext cx="3880471" cy="3645810"/>
          </a:xfrm>
          <a:prstGeom prst="triangle">
            <a:avLst>
              <a:gd name="adj" fmla="val 100000"/>
            </a:avLst>
          </a:prstGeom>
          <a:gradFill>
            <a:gsLst>
              <a:gs pos="3614">
                <a:srgbClr val="66A2C6"/>
              </a:gs>
              <a:gs pos="65000">
                <a:srgbClr val="0E4576"/>
              </a:gs>
              <a:gs pos="100000">
                <a:srgbClr val="102A52"/>
              </a:gs>
            </a:gsLst>
            <a:lin ang="5400000" scaled="1"/>
          </a:gradFill>
          <a:ln>
            <a:noFill/>
          </a:ln>
          <a:effectLst>
            <a:outerShdw blurRad="101600" dist="38100" dir="13500000" algn="b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a:extLst>
              <a:ext uri="{FF2B5EF4-FFF2-40B4-BE49-F238E27FC236}">
                <a16:creationId xmlns:a16="http://schemas.microsoft.com/office/drawing/2014/main" id="{954EB487-1231-6F9B-BA07-DF251E60CA75}"/>
              </a:ext>
            </a:extLst>
          </p:cNvPr>
          <p:cNvSpPr/>
          <p:nvPr/>
        </p:nvSpPr>
        <p:spPr>
          <a:xfrm flipH="1" flipV="1">
            <a:off x="-46848" y="0"/>
            <a:ext cx="3046503" cy="2862274"/>
          </a:xfrm>
          <a:prstGeom prst="triangle">
            <a:avLst>
              <a:gd name="adj" fmla="val 100000"/>
            </a:avLst>
          </a:prstGeom>
          <a:solidFill>
            <a:srgbClr val="0E4576"/>
          </a:solidFill>
          <a:ln>
            <a:no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B7447D90-9CB7-F3A9-AEFE-667232632CE6}"/>
              </a:ext>
            </a:extLst>
          </p:cNvPr>
          <p:cNvSpPr/>
          <p:nvPr/>
        </p:nvSpPr>
        <p:spPr>
          <a:xfrm>
            <a:off x="1415482" y="3505891"/>
            <a:ext cx="2552327" cy="3551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Box 30">
            <a:extLst>
              <a:ext uri="{FF2B5EF4-FFF2-40B4-BE49-F238E27FC236}">
                <a16:creationId xmlns:a16="http://schemas.microsoft.com/office/drawing/2014/main" id="{D652CEB8-5D44-F8C1-416A-AC5545711D32}"/>
              </a:ext>
            </a:extLst>
          </p:cNvPr>
          <p:cNvSpPr txBox="1"/>
          <p:nvPr/>
        </p:nvSpPr>
        <p:spPr>
          <a:xfrm>
            <a:off x="1957488" y="3521656"/>
            <a:ext cx="1352357" cy="338554"/>
          </a:xfrm>
          <a:prstGeom prst="rect">
            <a:avLst/>
          </a:prstGeom>
          <a:noFill/>
        </p:spPr>
        <p:txBody>
          <a:bodyPr wrap="square" rtlCol="0">
            <a:spAutoFit/>
          </a:bodyPr>
          <a:lstStyle/>
          <a:p>
            <a:pPr algn="ctr" defTabSz="228600"/>
            <a:r>
              <a:rPr lang="en-US" altLang="zh-CN"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rPr>
              <a:t>Fourteen</a:t>
            </a:r>
            <a:endParaRPr lang="zh-CN" altLang="en-US"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endParaRPr>
          </a:p>
        </p:txBody>
      </p:sp>
      <p:cxnSp>
        <p:nvCxnSpPr>
          <p:cNvPr id="31" name="直接连接符 30">
            <a:extLst>
              <a:ext uri="{FF2B5EF4-FFF2-40B4-BE49-F238E27FC236}">
                <a16:creationId xmlns:a16="http://schemas.microsoft.com/office/drawing/2014/main" id="{9BED75C7-9BBA-ADB6-1890-DC8F658CFFE2}"/>
              </a:ext>
            </a:extLst>
          </p:cNvPr>
          <p:cNvCxnSpPr/>
          <p:nvPr/>
        </p:nvCxnSpPr>
        <p:spPr>
          <a:xfrm>
            <a:off x="4104487" y="2940710"/>
            <a:ext cx="0" cy="1510342"/>
          </a:xfrm>
          <a:prstGeom prst="line">
            <a:avLst/>
          </a:prstGeom>
          <a:ln w="12700">
            <a:solidFill>
              <a:srgbClr val="2D354B">
                <a:alpha val="20000"/>
              </a:srgbClr>
            </a:solidFill>
          </a:ln>
        </p:spPr>
        <p:style>
          <a:lnRef idx="1">
            <a:schemeClr val="accent1"/>
          </a:lnRef>
          <a:fillRef idx="0">
            <a:schemeClr val="accent1"/>
          </a:fillRef>
          <a:effectRef idx="0">
            <a:schemeClr val="accent1"/>
          </a:effectRef>
          <a:fontRef idx="minor">
            <a:schemeClr val="tx1"/>
          </a:fontRef>
        </p:style>
      </p:cxnSp>
      <p:sp>
        <p:nvSpPr>
          <p:cNvPr id="32" name="圆角矩形 31">
            <a:extLst>
              <a:ext uri="{FF2B5EF4-FFF2-40B4-BE49-F238E27FC236}">
                <a16:creationId xmlns:a16="http://schemas.microsoft.com/office/drawing/2014/main" id="{70B13406-BC03-56D2-0FA4-822BD2848583}"/>
              </a:ext>
            </a:extLst>
          </p:cNvPr>
          <p:cNvSpPr/>
          <p:nvPr/>
        </p:nvSpPr>
        <p:spPr>
          <a:xfrm rot="2700000">
            <a:off x="609964" y="726490"/>
            <a:ext cx="369745" cy="369745"/>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94C5DE"/>
                  </a:gs>
                  <a:gs pos="100000">
                    <a:srgbClr val="356A9C"/>
                  </a:gs>
                </a:gsLst>
                <a:lin ang="2700000" scaled="0"/>
              </a:gradFill>
            </a:endParaRPr>
          </a:p>
        </p:txBody>
      </p:sp>
      <p:sp>
        <p:nvSpPr>
          <p:cNvPr id="33" name="圆角矩形 32">
            <a:extLst>
              <a:ext uri="{FF2B5EF4-FFF2-40B4-BE49-F238E27FC236}">
                <a16:creationId xmlns:a16="http://schemas.microsoft.com/office/drawing/2014/main" id="{2EF1120C-654E-4962-7A70-CC43E49D4667}"/>
              </a:ext>
            </a:extLst>
          </p:cNvPr>
          <p:cNvSpPr/>
          <p:nvPr/>
        </p:nvSpPr>
        <p:spPr>
          <a:xfrm rot="2700000">
            <a:off x="555613" y="1858238"/>
            <a:ext cx="134147" cy="134147"/>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6B0E29D9-B218-4FBE-F872-71C380E30A28}"/>
              </a:ext>
            </a:extLst>
          </p:cNvPr>
          <p:cNvCxnSpPr>
            <a:stCxn id="17" idx="2"/>
            <a:endCxn id="17" idx="0"/>
          </p:cNvCxnSpPr>
          <p:nvPr/>
        </p:nvCxnSpPr>
        <p:spPr>
          <a:xfrm flipH="1">
            <a:off x="-46848" y="0"/>
            <a:ext cx="3046503" cy="2862274"/>
          </a:xfrm>
          <a:prstGeom prst="line">
            <a:avLst/>
          </a:prstGeom>
          <a:ln w="57150">
            <a:gradFill>
              <a:gsLst>
                <a:gs pos="0">
                  <a:srgbClr val="66A2C6">
                    <a:alpha val="0"/>
                  </a:srgbClr>
                </a:gs>
                <a:gs pos="100000">
                  <a:srgbClr val="66A2C6"/>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圆角矩形 33">
            <a:extLst>
              <a:ext uri="{FF2B5EF4-FFF2-40B4-BE49-F238E27FC236}">
                <a16:creationId xmlns:a16="http://schemas.microsoft.com/office/drawing/2014/main" id="{A7F8C4EF-0EE8-29E1-E6F2-E72DBE228EAD}"/>
              </a:ext>
            </a:extLst>
          </p:cNvPr>
          <p:cNvSpPr/>
          <p:nvPr/>
        </p:nvSpPr>
        <p:spPr>
          <a:xfrm rot="2700000">
            <a:off x="1627747" y="647742"/>
            <a:ext cx="600616" cy="600616"/>
          </a:xfrm>
          <a:prstGeom prst="roundRect">
            <a:avLst>
              <a:gd name="adj" fmla="val 6915"/>
            </a:avLst>
          </a:prstGeom>
          <a:noFill/>
          <a:ln w="50800">
            <a:gradFill>
              <a:gsLst>
                <a:gs pos="0">
                  <a:srgbClr val="66A2C6"/>
                </a:gs>
                <a:gs pos="100000">
                  <a:srgbClr val="0E4576"/>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42" name="Picture 2" descr="GitHub logo PNG transparent image download, size: 1125x417px">
            <a:extLst>
              <a:ext uri="{FF2B5EF4-FFF2-40B4-BE49-F238E27FC236}">
                <a16:creationId xmlns:a16="http://schemas.microsoft.com/office/drawing/2014/main" id="{5ACD2292-36B4-30ED-637B-D2518E85AB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5880" y="950716"/>
            <a:ext cx="5141788" cy="1905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932734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p:cTn id="13" dur="500" fill="hold"/>
                                        <p:tgtEl>
                                          <p:spTgt spid="32"/>
                                        </p:tgtEl>
                                        <p:attrNameLst>
                                          <p:attrName>ppt_w</p:attrName>
                                        </p:attrNameLst>
                                      </p:cBhvr>
                                      <p:tavLst>
                                        <p:tav tm="0">
                                          <p:val>
                                            <p:fltVal val="0"/>
                                          </p:val>
                                        </p:tav>
                                        <p:tav tm="100000">
                                          <p:val>
                                            <p:strVal val="#ppt_w"/>
                                          </p:val>
                                        </p:tav>
                                      </p:tavLst>
                                    </p:anim>
                                    <p:anim calcmode="lin" valueType="num">
                                      <p:cBhvr>
                                        <p:cTn id="14" dur="500" fill="hold"/>
                                        <p:tgtEl>
                                          <p:spTgt spid="32"/>
                                        </p:tgtEl>
                                        <p:attrNameLst>
                                          <p:attrName>ppt_h</p:attrName>
                                        </p:attrNameLst>
                                      </p:cBhvr>
                                      <p:tavLst>
                                        <p:tav tm="0">
                                          <p:val>
                                            <p:fltVal val="0"/>
                                          </p:val>
                                        </p:tav>
                                        <p:tav tm="100000">
                                          <p:val>
                                            <p:strVal val="#ppt_h"/>
                                          </p:val>
                                        </p:tav>
                                      </p:tavLst>
                                    </p:anim>
                                    <p:animEffect transition="in" filter="fade">
                                      <p:cBhvr>
                                        <p:cTn id="15" dur="500"/>
                                        <p:tgtEl>
                                          <p:spTgt spid="32"/>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 calcmode="lin" valueType="num">
                                      <p:cBhvr>
                                        <p:cTn id="18" dur="500" fill="hold"/>
                                        <p:tgtEl>
                                          <p:spTgt spid="33"/>
                                        </p:tgtEl>
                                        <p:attrNameLst>
                                          <p:attrName>ppt_w</p:attrName>
                                        </p:attrNameLst>
                                      </p:cBhvr>
                                      <p:tavLst>
                                        <p:tav tm="0">
                                          <p:val>
                                            <p:fltVal val="0"/>
                                          </p:val>
                                        </p:tav>
                                        <p:tav tm="100000">
                                          <p:val>
                                            <p:strVal val="#ppt_w"/>
                                          </p:val>
                                        </p:tav>
                                      </p:tavLst>
                                    </p:anim>
                                    <p:anim calcmode="lin" valueType="num">
                                      <p:cBhvr>
                                        <p:cTn id="19" dur="500" fill="hold"/>
                                        <p:tgtEl>
                                          <p:spTgt spid="33"/>
                                        </p:tgtEl>
                                        <p:attrNameLst>
                                          <p:attrName>ppt_h</p:attrName>
                                        </p:attrNameLst>
                                      </p:cBhvr>
                                      <p:tavLst>
                                        <p:tav tm="0">
                                          <p:val>
                                            <p:fltVal val="0"/>
                                          </p:val>
                                        </p:tav>
                                        <p:tav tm="100000">
                                          <p:val>
                                            <p:strVal val="#ppt_h"/>
                                          </p:val>
                                        </p:tav>
                                      </p:tavLst>
                                    </p:anim>
                                    <p:animEffect transition="in" filter="fade">
                                      <p:cBhvr>
                                        <p:cTn id="20" dur="500"/>
                                        <p:tgtEl>
                                          <p:spTgt spid="33"/>
                                        </p:tgtEl>
                                      </p:cBhvr>
                                    </p:animEffect>
                                  </p:childTnLst>
                                </p:cTn>
                              </p:par>
                              <p:par>
                                <p:cTn id="21" presetID="16" presetClass="entr" presetSubtype="21" fill="hold" grpId="0" nodeType="withEffect">
                                  <p:stCondLst>
                                    <p:cond delay="250"/>
                                  </p:stCondLst>
                                  <p:childTnLst>
                                    <p:set>
                                      <p:cBhvr>
                                        <p:cTn id="22" dur="1" fill="hold">
                                          <p:stCondLst>
                                            <p:cond delay="0"/>
                                          </p:stCondLst>
                                        </p:cTn>
                                        <p:tgtEl>
                                          <p:spTgt spid="30"/>
                                        </p:tgtEl>
                                        <p:attrNameLst>
                                          <p:attrName>style.visibility</p:attrName>
                                        </p:attrNameLst>
                                      </p:cBhvr>
                                      <p:to>
                                        <p:strVal val="visible"/>
                                      </p:to>
                                    </p:set>
                                    <p:animEffect transition="in" filter="barn(inVertical)">
                                      <p:cBhvr>
                                        <p:cTn id="23" dur="500"/>
                                        <p:tgtEl>
                                          <p:spTgt spid="30"/>
                                        </p:tgtEl>
                                      </p:cBhvr>
                                    </p:animEffect>
                                  </p:childTnLst>
                                </p:cTn>
                              </p:par>
                              <p:par>
                                <p:cTn id="24" presetID="16" presetClass="entr" presetSubtype="42" fill="hold" nodeType="withEffect">
                                  <p:stCondLst>
                                    <p:cond delay="250"/>
                                  </p:stCondLst>
                                  <p:childTnLst>
                                    <p:set>
                                      <p:cBhvr>
                                        <p:cTn id="25" dur="1" fill="hold">
                                          <p:stCondLst>
                                            <p:cond delay="0"/>
                                          </p:stCondLst>
                                        </p:cTn>
                                        <p:tgtEl>
                                          <p:spTgt spid="31"/>
                                        </p:tgtEl>
                                        <p:attrNameLst>
                                          <p:attrName>style.visibility</p:attrName>
                                        </p:attrNameLst>
                                      </p:cBhvr>
                                      <p:to>
                                        <p:strVal val="visible"/>
                                      </p:to>
                                    </p:set>
                                    <p:animEffect transition="in" filter="barn(outHorizontal)">
                                      <p:cBhvr>
                                        <p:cTn id="26" dur="500"/>
                                        <p:tgtEl>
                                          <p:spTgt spid="31"/>
                                        </p:tgtEl>
                                      </p:cBhvr>
                                    </p:animEffect>
                                  </p:childTnLst>
                                </p:cTn>
                              </p:par>
                              <p:par>
                                <p:cTn id="27" presetID="41" presetClass="entr" presetSubtype="0" fill="hold" grpId="0" nodeType="withEffect">
                                  <p:stCondLst>
                                    <p:cond delay="500"/>
                                  </p:stCondLst>
                                  <p:iterate type="lt">
                                    <p:tmPct val="10000"/>
                                  </p:iterate>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12"/>
                                        </p:tgtEl>
                                        <p:attrNameLst>
                                          <p:attrName>ppt_y</p:attrName>
                                        </p:attrNameLst>
                                      </p:cBhvr>
                                      <p:tavLst>
                                        <p:tav tm="0">
                                          <p:val>
                                            <p:strVal val="#ppt_y"/>
                                          </p:val>
                                        </p:tav>
                                        <p:tav tm="100000">
                                          <p:val>
                                            <p:strVal val="#ppt_y"/>
                                          </p:val>
                                        </p:tav>
                                      </p:tavLst>
                                    </p:anim>
                                    <p:anim calcmode="lin" valueType="num">
                                      <p:cBhvr>
                                        <p:cTn id="31"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12"/>
                                        </p:tgtEl>
                                      </p:cBhvr>
                                    </p:animEffect>
                                  </p:childTnLst>
                                </p:cTn>
                              </p:par>
                              <p:par>
                                <p:cTn id="34" presetID="42" presetClass="entr" presetSubtype="0" fill="hold" grpId="0" nodeType="withEffect">
                                  <p:stCondLst>
                                    <p:cond delay="7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par>
                                <p:cTn id="39" presetID="16" presetClass="entr" presetSubtype="21" fill="hold" grpId="0" nodeType="withEffect">
                                  <p:stCondLst>
                                    <p:cond delay="250"/>
                                  </p:stCondLst>
                                  <p:childTnLst>
                                    <p:set>
                                      <p:cBhvr>
                                        <p:cTn id="40" dur="1" fill="hold">
                                          <p:stCondLst>
                                            <p:cond delay="0"/>
                                          </p:stCondLst>
                                        </p:cTn>
                                        <p:tgtEl>
                                          <p:spTgt spid="11"/>
                                        </p:tgtEl>
                                        <p:attrNameLst>
                                          <p:attrName>style.visibility</p:attrName>
                                        </p:attrNameLst>
                                      </p:cBhvr>
                                      <p:to>
                                        <p:strVal val="visible"/>
                                      </p:to>
                                    </p:set>
                                    <p:animEffect transition="in" filter="barn(inVertical)">
                                      <p:cBhvr>
                                        <p:cTn id="41" dur="500"/>
                                        <p:tgtEl>
                                          <p:spTgt spid="11"/>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par>
                                <p:cTn id="47" presetID="22" presetClass="entr" presetSubtype="4" fill="hold" nodeType="with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5" grpId="0" animBg="1"/>
      <p:bldP spid="17" grpId="0" animBg="1"/>
      <p:bldP spid="30" grpId="0"/>
      <p:bldP spid="32" grpId="0" animBg="1"/>
      <p:bldP spid="33" grpId="0" animBg="1"/>
      <p:bldP spid="3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477B-C1B7-003D-B9B7-A55C23B16836}"/>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5086DC7A-F4D8-D99F-AAE0-728BA86EA201}"/>
              </a:ext>
            </a:extLst>
          </p:cNvPr>
          <p:cNvSpPr/>
          <p:nvPr/>
        </p:nvSpPr>
        <p:spPr>
          <a:xfrm>
            <a:off x="872910" y="1556792"/>
            <a:ext cx="10134482" cy="613694"/>
          </a:xfrm>
          <a:prstGeom prst="rect">
            <a:avLst/>
          </a:prstGeom>
        </p:spPr>
        <p:txBody>
          <a:bodyPr wrap="square">
            <a:spAutoFit/>
          </a:bodyPr>
          <a:lstStyle/>
          <a:p>
            <a:pPr>
              <a:lnSpc>
                <a:spcPct val="150000"/>
              </a:lnSpc>
            </a:pPr>
            <a:r>
              <a:rPr lang="en-US" altLang="zh-CN" sz="1200" kern="1400" spc="100" dirty="0">
                <a:solidFill>
                  <a:schemeClr val="tx1">
                    <a:lumMod val="65000"/>
                    <a:lumOff val="35000"/>
                  </a:schemeClr>
                </a:solidFill>
                <a:latin typeface="阿里巴巴普惠体 Medium" pitchFamily="18" charset="-122"/>
                <a:ea typeface="阿里巴巴普惠体 Medium" pitchFamily="18" charset="-122"/>
                <a:sym typeface="思源黑体 CN Normal" panose="020B0400000000000000" pitchFamily="34" charset="-122"/>
              </a:rPr>
              <a:t>A repository was created on GitHub, where all files were uploaded. The README file documented each phase of the project, ensuring transparency and aiding future contributors or reviewers.</a:t>
            </a:r>
          </a:p>
        </p:txBody>
      </p:sp>
      <p:sp>
        <p:nvSpPr>
          <p:cNvPr id="20" name="文本框 19">
            <a:extLst>
              <a:ext uri="{FF2B5EF4-FFF2-40B4-BE49-F238E27FC236}">
                <a16:creationId xmlns:a16="http://schemas.microsoft.com/office/drawing/2014/main" id="{127F587C-BFE5-3A66-129E-2DD67DF4587F}"/>
              </a:ext>
            </a:extLst>
          </p:cNvPr>
          <p:cNvSpPr txBox="1"/>
          <p:nvPr/>
        </p:nvSpPr>
        <p:spPr>
          <a:xfrm>
            <a:off x="1190336" y="272525"/>
            <a:ext cx="5425567" cy="461665"/>
          </a:xfrm>
          <a:prstGeom prst="rect">
            <a:avLst/>
          </a:prstGeom>
          <a:noFill/>
        </p:spPr>
        <p:txBody>
          <a:bodyPr wrap="square" rtlCol="0">
            <a:spAutoFit/>
          </a:bodyPr>
          <a:lstStyle>
            <a:defPPr>
              <a:defRPr lang="zh-CN"/>
            </a:defPPr>
            <a:lvl1pPr algn="ctr">
              <a:defRPr sz="1200" spc="300">
                <a:gradFill flip="none" rotWithShape="1">
                  <a:gsLst>
                    <a:gs pos="0">
                      <a:schemeClr val="accent5">
                        <a:lumMod val="60000"/>
                        <a:lumOff val="40000"/>
                      </a:schemeClr>
                    </a:gs>
                    <a:gs pos="100000">
                      <a:schemeClr val="accent3"/>
                    </a:gs>
                  </a:gsLst>
                  <a:lin ang="16200000" scaled="1"/>
                  <a:tileRect/>
                </a:gradFill>
                <a:cs typeface="+mn-ea"/>
              </a:defRPr>
            </a:lvl1pPr>
          </a:lstStyle>
          <a:p>
            <a:pPr algn="l"/>
            <a:r>
              <a:rPr lang="en-US" altLang="zh-CN" sz="2400" b="1" spc="0" dirty="0">
                <a:solidFill>
                  <a:schemeClr val="tx1">
                    <a:lumMod val="75000"/>
                    <a:lumOff val="2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15 Uploading to GitHub</a:t>
            </a:r>
          </a:p>
        </p:txBody>
      </p:sp>
      <p:pic>
        <p:nvPicPr>
          <p:cNvPr id="2" name="Picture 1">
            <a:extLst>
              <a:ext uri="{FF2B5EF4-FFF2-40B4-BE49-F238E27FC236}">
                <a16:creationId xmlns:a16="http://schemas.microsoft.com/office/drawing/2014/main" id="{5A48FBFE-2E25-22EB-BCA5-1A1DDB665712}"/>
              </a:ext>
            </a:extLst>
          </p:cNvPr>
          <p:cNvPicPr>
            <a:picLocks noChangeAspect="1"/>
          </p:cNvPicPr>
          <p:nvPr/>
        </p:nvPicPr>
        <p:blipFill>
          <a:blip r:embed="rId2"/>
          <a:stretch>
            <a:fillRect/>
          </a:stretch>
        </p:blipFill>
        <p:spPr>
          <a:xfrm>
            <a:off x="581189" y="2457468"/>
            <a:ext cx="11029622" cy="3131772"/>
          </a:xfrm>
          <a:prstGeom prst="rect">
            <a:avLst/>
          </a:prstGeom>
        </p:spPr>
      </p:pic>
    </p:spTree>
    <p:extLst>
      <p:ext uri="{BB962C8B-B14F-4D97-AF65-F5344CB8AC3E}">
        <p14:creationId xmlns:p14="http://schemas.microsoft.com/office/powerpoint/2010/main" val="341027387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1D61F-A089-18D3-EBA6-1E6DC7E5DBB4}"/>
            </a:ext>
          </a:extLst>
        </p:cNvPr>
        <p:cNvGrpSpPr/>
        <p:nvPr/>
      </p:nvGrpSpPr>
      <p:grpSpPr>
        <a:xfrm>
          <a:off x="0" y="0"/>
          <a:ext cx="0" cy="0"/>
          <a:chOff x="0" y="0"/>
          <a:chExt cx="0" cy="0"/>
        </a:xfrm>
      </p:grpSpPr>
      <p:sp>
        <p:nvSpPr>
          <p:cNvPr id="11" name="TextBox 30">
            <a:extLst>
              <a:ext uri="{FF2B5EF4-FFF2-40B4-BE49-F238E27FC236}">
                <a16:creationId xmlns:a16="http://schemas.microsoft.com/office/drawing/2014/main" id="{9629FF11-D808-F783-D49B-145C54E592E2}"/>
              </a:ext>
            </a:extLst>
          </p:cNvPr>
          <p:cNvSpPr txBox="1"/>
          <p:nvPr/>
        </p:nvSpPr>
        <p:spPr>
          <a:xfrm>
            <a:off x="1503355" y="2558574"/>
            <a:ext cx="2436372" cy="2323713"/>
          </a:xfrm>
          <a:prstGeom prst="rect">
            <a:avLst/>
          </a:prstGeom>
          <a:noFill/>
        </p:spPr>
        <p:txBody>
          <a:bodyPr wrap="square" rtlCol="0">
            <a:spAutoFit/>
          </a:bodyPr>
          <a:lstStyle/>
          <a:p>
            <a:pPr algn="r" defTabSz="228600"/>
            <a:r>
              <a:rPr lang="en-US" altLang="zh-CN"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rPr>
              <a:t>16</a:t>
            </a:r>
            <a:endParaRPr lang="zh-CN" altLang="en-US" sz="14500" dirty="0">
              <a:solidFill>
                <a:srgbClr val="66A2C6">
                  <a:alpha val="20000"/>
                </a:srgbClr>
              </a:solidFill>
              <a:latin typeface="思源宋体 CN Heavy" panose="02020900000000000000" pitchFamily="18" charset="-122"/>
              <a:ea typeface="思源宋体 CN Heavy" panose="02020900000000000000" pitchFamily="18" charset="-122"/>
              <a:cs typeface="Aa楷体" panose="02000500000000000000" pitchFamily="2" charset="-122"/>
            </a:endParaRPr>
          </a:p>
        </p:txBody>
      </p:sp>
      <p:sp>
        <p:nvSpPr>
          <p:cNvPr id="12" name="文本框 11">
            <a:extLst>
              <a:ext uri="{FF2B5EF4-FFF2-40B4-BE49-F238E27FC236}">
                <a16:creationId xmlns:a16="http://schemas.microsoft.com/office/drawing/2014/main" id="{DE19DC78-67A1-CB0F-C693-5C193F9C7E34}"/>
              </a:ext>
            </a:extLst>
          </p:cNvPr>
          <p:cNvSpPr txBox="1"/>
          <p:nvPr/>
        </p:nvSpPr>
        <p:spPr>
          <a:xfrm>
            <a:off x="4523009" y="2732133"/>
            <a:ext cx="6469533" cy="742319"/>
          </a:xfrm>
          <a:prstGeom prst="rect">
            <a:avLst/>
          </a:prstGeom>
          <a:noFill/>
          <a:scene3d>
            <a:camera prst="orthographicFront"/>
            <a:lightRig rig="threePt" dir="t"/>
          </a:scene3d>
        </p:spPr>
        <p:txBody>
          <a:bodyPr wrap="square" rtlCol="0">
            <a:spAutoFit/>
          </a:bodyPr>
          <a:lstStyle/>
          <a:p>
            <a:pPr>
              <a:lnSpc>
                <a:spcPct val="130000"/>
              </a:lnSpc>
            </a:pPr>
            <a:r>
              <a:rPr lang="en-US" altLang="zh-CN" sz="3600" b="1" dirty="0">
                <a:solidFill>
                  <a:srgbClr val="1B1B1B"/>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Conclusion &amp; Future Work</a:t>
            </a:r>
          </a:p>
        </p:txBody>
      </p:sp>
      <p:sp>
        <p:nvSpPr>
          <p:cNvPr id="13" name="Rectangle 3">
            <a:extLst>
              <a:ext uri="{FF2B5EF4-FFF2-40B4-BE49-F238E27FC236}">
                <a16:creationId xmlns:a16="http://schemas.microsoft.com/office/drawing/2014/main" id="{DD80E6F2-C825-A869-E1B3-DA547EDC700E}"/>
              </a:ext>
            </a:extLst>
          </p:cNvPr>
          <p:cNvSpPr>
            <a:spLocks/>
          </p:cNvSpPr>
          <p:nvPr/>
        </p:nvSpPr>
        <p:spPr bwMode="auto">
          <a:xfrm>
            <a:off x="4622835" y="3640747"/>
            <a:ext cx="5346619" cy="11045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20000"/>
              </a:lnSpc>
              <a:spcBef>
                <a:spcPct val="0"/>
              </a:spcBef>
              <a:buSzTx/>
              <a:buNone/>
            </a:pPr>
            <a:r>
              <a:rPr lang="en-US" altLang="zh-CN" sz="1400" dirty="0">
                <a:solidFill>
                  <a:schemeClr val="tx1">
                    <a:lumMod val="50000"/>
                    <a:lumOff val="50000"/>
                    <a:alpha val="80000"/>
                  </a:schemeClr>
                </a:solidFill>
                <a:latin typeface="阿里巴巴普惠体 Medium" pitchFamily="18" charset="-122"/>
                <a:ea typeface="阿里巴巴普惠体 Medium" pitchFamily="18" charset="-122"/>
                <a:sym typeface="Helvetica" panose="020B0604020202020204" pitchFamily="34" charset="0"/>
              </a:rPr>
              <a:t>The project successfully demonstrated end-to-end data handling. Future improvements could include automation, real-time data, or predictive analytics to further enhance the insights and impact of the dashboards.</a:t>
            </a:r>
          </a:p>
        </p:txBody>
      </p:sp>
      <p:sp>
        <p:nvSpPr>
          <p:cNvPr id="14" name="平行四边形 13">
            <a:extLst>
              <a:ext uri="{FF2B5EF4-FFF2-40B4-BE49-F238E27FC236}">
                <a16:creationId xmlns:a16="http://schemas.microsoft.com/office/drawing/2014/main" id="{D8A0FCA2-B144-08F4-37B5-5A03DEC1DEF7}"/>
              </a:ext>
            </a:extLst>
          </p:cNvPr>
          <p:cNvSpPr/>
          <p:nvPr/>
        </p:nvSpPr>
        <p:spPr>
          <a:xfrm flipH="1" flipV="1">
            <a:off x="11498754" y="5765570"/>
            <a:ext cx="1077967" cy="1119813"/>
          </a:xfrm>
          <a:prstGeom prst="parallelogram">
            <a:avLst>
              <a:gd name="adj" fmla="val 70972"/>
            </a:avLst>
          </a:prstGeom>
          <a:gradFill>
            <a:gsLst>
              <a:gs pos="0">
                <a:srgbClr val="E4E4E4">
                  <a:alpha val="34000"/>
                </a:srgbClr>
              </a:gs>
              <a:gs pos="85000">
                <a:srgbClr val="E4E4E4">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a:extLst>
              <a:ext uri="{FF2B5EF4-FFF2-40B4-BE49-F238E27FC236}">
                <a16:creationId xmlns:a16="http://schemas.microsoft.com/office/drawing/2014/main" id="{2444C713-9E78-C7F3-5087-46B0AE0DF021}"/>
              </a:ext>
            </a:extLst>
          </p:cNvPr>
          <p:cNvSpPr/>
          <p:nvPr/>
        </p:nvSpPr>
        <p:spPr>
          <a:xfrm>
            <a:off x="8328249" y="3223805"/>
            <a:ext cx="3880471" cy="3645810"/>
          </a:xfrm>
          <a:prstGeom prst="triangle">
            <a:avLst>
              <a:gd name="adj" fmla="val 100000"/>
            </a:avLst>
          </a:prstGeom>
          <a:gradFill>
            <a:gsLst>
              <a:gs pos="3614">
                <a:srgbClr val="66A2C6"/>
              </a:gs>
              <a:gs pos="65000">
                <a:srgbClr val="0E4576"/>
              </a:gs>
              <a:gs pos="100000">
                <a:srgbClr val="102A52"/>
              </a:gs>
            </a:gsLst>
            <a:lin ang="5400000" scaled="1"/>
          </a:gradFill>
          <a:ln>
            <a:noFill/>
          </a:ln>
          <a:effectLst>
            <a:outerShdw blurRad="101600" dist="38100" dir="13500000" algn="b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a:extLst>
              <a:ext uri="{FF2B5EF4-FFF2-40B4-BE49-F238E27FC236}">
                <a16:creationId xmlns:a16="http://schemas.microsoft.com/office/drawing/2014/main" id="{4CC3876B-394D-5609-1FD2-61DDB2A4316C}"/>
              </a:ext>
            </a:extLst>
          </p:cNvPr>
          <p:cNvSpPr/>
          <p:nvPr/>
        </p:nvSpPr>
        <p:spPr>
          <a:xfrm flipH="1" flipV="1">
            <a:off x="-46848" y="0"/>
            <a:ext cx="3046503" cy="2862274"/>
          </a:xfrm>
          <a:prstGeom prst="triangle">
            <a:avLst>
              <a:gd name="adj" fmla="val 100000"/>
            </a:avLst>
          </a:prstGeom>
          <a:solidFill>
            <a:srgbClr val="0E4576"/>
          </a:solidFill>
          <a:ln>
            <a:no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5BDD86AC-9694-B7D8-F505-3112DC37C9AB}"/>
              </a:ext>
            </a:extLst>
          </p:cNvPr>
          <p:cNvSpPr/>
          <p:nvPr/>
        </p:nvSpPr>
        <p:spPr>
          <a:xfrm>
            <a:off x="1415482" y="3505891"/>
            <a:ext cx="2552327" cy="3551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Box 30">
            <a:extLst>
              <a:ext uri="{FF2B5EF4-FFF2-40B4-BE49-F238E27FC236}">
                <a16:creationId xmlns:a16="http://schemas.microsoft.com/office/drawing/2014/main" id="{A3D23438-6A00-5A46-9247-E77FD2F5BB3A}"/>
              </a:ext>
            </a:extLst>
          </p:cNvPr>
          <p:cNvSpPr txBox="1"/>
          <p:nvPr/>
        </p:nvSpPr>
        <p:spPr>
          <a:xfrm>
            <a:off x="1957488" y="3521656"/>
            <a:ext cx="1352357" cy="338554"/>
          </a:xfrm>
          <a:prstGeom prst="rect">
            <a:avLst/>
          </a:prstGeom>
          <a:noFill/>
        </p:spPr>
        <p:txBody>
          <a:bodyPr wrap="square" rtlCol="0">
            <a:spAutoFit/>
          </a:bodyPr>
          <a:lstStyle/>
          <a:p>
            <a:pPr algn="ctr" defTabSz="228600"/>
            <a:r>
              <a:rPr lang="en-US" altLang="zh-CN"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rPr>
              <a:t>Sixteen</a:t>
            </a:r>
            <a:endParaRPr lang="zh-CN" altLang="en-US" sz="1600" dirty="0">
              <a:solidFill>
                <a:srgbClr val="1B1B1B"/>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a楷体" panose="02000500000000000000" pitchFamily="2" charset="-122"/>
            </a:endParaRPr>
          </a:p>
        </p:txBody>
      </p:sp>
      <p:cxnSp>
        <p:nvCxnSpPr>
          <p:cNvPr id="31" name="直接连接符 30">
            <a:extLst>
              <a:ext uri="{FF2B5EF4-FFF2-40B4-BE49-F238E27FC236}">
                <a16:creationId xmlns:a16="http://schemas.microsoft.com/office/drawing/2014/main" id="{44035372-84A9-10D5-D14B-8A6B7C23852B}"/>
              </a:ext>
            </a:extLst>
          </p:cNvPr>
          <p:cNvCxnSpPr/>
          <p:nvPr/>
        </p:nvCxnSpPr>
        <p:spPr>
          <a:xfrm>
            <a:off x="4104487" y="2940710"/>
            <a:ext cx="0" cy="1510342"/>
          </a:xfrm>
          <a:prstGeom prst="line">
            <a:avLst/>
          </a:prstGeom>
          <a:ln w="12700">
            <a:solidFill>
              <a:srgbClr val="2D354B">
                <a:alpha val="20000"/>
              </a:srgbClr>
            </a:solidFill>
          </a:ln>
        </p:spPr>
        <p:style>
          <a:lnRef idx="1">
            <a:schemeClr val="accent1"/>
          </a:lnRef>
          <a:fillRef idx="0">
            <a:schemeClr val="accent1"/>
          </a:fillRef>
          <a:effectRef idx="0">
            <a:schemeClr val="accent1"/>
          </a:effectRef>
          <a:fontRef idx="minor">
            <a:schemeClr val="tx1"/>
          </a:fontRef>
        </p:style>
      </p:cxnSp>
      <p:sp>
        <p:nvSpPr>
          <p:cNvPr id="32" name="圆角矩形 31">
            <a:extLst>
              <a:ext uri="{FF2B5EF4-FFF2-40B4-BE49-F238E27FC236}">
                <a16:creationId xmlns:a16="http://schemas.microsoft.com/office/drawing/2014/main" id="{D59BE550-4A71-D070-A933-AB864D053C09}"/>
              </a:ext>
            </a:extLst>
          </p:cNvPr>
          <p:cNvSpPr/>
          <p:nvPr/>
        </p:nvSpPr>
        <p:spPr>
          <a:xfrm rot="2700000">
            <a:off x="609964" y="726490"/>
            <a:ext cx="369745" cy="369745"/>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94C5DE"/>
                  </a:gs>
                  <a:gs pos="100000">
                    <a:srgbClr val="356A9C"/>
                  </a:gs>
                </a:gsLst>
                <a:lin ang="2700000" scaled="0"/>
              </a:gradFill>
            </a:endParaRPr>
          </a:p>
        </p:txBody>
      </p:sp>
      <p:sp>
        <p:nvSpPr>
          <p:cNvPr id="33" name="圆角矩形 32">
            <a:extLst>
              <a:ext uri="{FF2B5EF4-FFF2-40B4-BE49-F238E27FC236}">
                <a16:creationId xmlns:a16="http://schemas.microsoft.com/office/drawing/2014/main" id="{9D414CD4-6955-241E-DF85-DE2B6E3193D4}"/>
              </a:ext>
            </a:extLst>
          </p:cNvPr>
          <p:cNvSpPr/>
          <p:nvPr/>
        </p:nvSpPr>
        <p:spPr>
          <a:xfrm rot="2700000">
            <a:off x="555613" y="1858238"/>
            <a:ext cx="134147" cy="134147"/>
          </a:xfrm>
          <a:prstGeom prst="roundRect">
            <a:avLst>
              <a:gd name="adj" fmla="val 12610"/>
            </a:avLst>
          </a:prstGeom>
          <a:solidFill>
            <a:srgbClr val="66A2C6"/>
          </a:solidFill>
          <a:ln>
            <a:noFill/>
          </a:ln>
          <a:effectLst>
            <a:outerShdw blurRad="381000" dist="127000" dir="10800000" algn="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47E789B8-14DE-151A-8560-CFDA1D008151}"/>
              </a:ext>
            </a:extLst>
          </p:cNvPr>
          <p:cNvCxnSpPr>
            <a:stCxn id="17" idx="2"/>
            <a:endCxn id="17" idx="0"/>
          </p:cNvCxnSpPr>
          <p:nvPr/>
        </p:nvCxnSpPr>
        <p:spPr>
          <a:xfrm flipH="1">
            <a:off x="-46848" y="0"/>
            <a:ext cx="3046503" cy="2862274"/>
          </a:xfrm>
          <a:prstGeom prst="line">
            <a:avLst/>
          </a:prstGeom>
          <a:ln w="57150">
            <a:gradFill>
              <a:gsLst>
                <a:gs pos="0">
                  <a:srgbClr val="66A2C6">
                    <a:alpha val="0"/>
                  </a:srgbClr>
                </a:gs>
                <a:gs pos="100000">
                  <a:srgbClr val="66A2C6"/>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圆角矩形 33">
            <a:extLst>
              <a:ext uri="{FF2B5EF4-FFF2-40B4-BE49-F238E27FC236}">
                <a16:creationId xmlns:a16="http://schemas.microsoft.com/office/drawing/2014/main" id="{3C5C49F8-3B1C-8855-A0A6-1685DF2D270A}"/>
              </a:ext>
            </a:extLst>
          </p:cNvPr>
          <p:cNvSpPr/>
          <p:nvPr/>
        </p:nvSpPr>
        <p:spPr>
          <a:xfrm rot="2700000">
            <a:off x="1627747" y="647742"/>
            <a:ext cx="600616" cy="600616"/>
          </a:xfrm>
          <a:prstGeom prst="roundRect">
            <a:avLst>
              <a:gd name="adj" fmla="val 6915"/>
            </a:avLst>
          </a:prstGeom>
          <a:noFill/>
          <a:ln w="50800">
            <a:gradFill>
              <a:gsLst>
                <a:gs pos="0">
                  <a:srgbClr val="66A2C6"/>
                </a:gs>
                <a:gs pos="100000">
                  <a:srgbClr val="0E4576"/>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266" name="Picture 2" descr="Conclusion icons for free download | Freepik">
            <a:extLst>
              <a:ext uri="{FF2B5EF4-FFF2-40B4-BE49-F238E27FC236}">
                <a16:creationId xmlns:a16="http://schemas.microsoft.com/office/drawing/2014/main" id="{6EA9F1CF-BE55-8746-D6AF-0E2927AD06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8575" y="210586"/>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497580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p:cTn id="13" dur="500" fill="hold"/>
                                        <p:tgtEl>
                                          <p:spTgt spid="32"/>
                                        </p:tgtEl>
                                        <p:attrNameLst>
                                          <p:attrName>ppt_w</p:attrName>
                                        </p:attrNameLst>
                                      </p:cBhvr>
                                      <p:tavLst>
                                        <p:tav tm="0">
                                          <p:val>
                                            <p:fltVal val="0"/>
                                          </p:val>
                                        </p:tav>
                                        <p:tav tm="100000">
                                          <p:val>
                                            <p:strVal val="#ppt_w"/>
                                          </p:val>
                                        </p:tav>
                                      </p:tavLst>
                                    </p:anim>
                                    <p:anim calcmode="lin" valueType="num">
                                      <p:cBhvr>
                                        <p:cTn id="14" dur="500" fill="hold"/>
                                        <p:tgtEl>
                                          <p:spTgt spid="32"/>
                                        </p:tgtEl>
                                        <p:attrNameLst>
                                          <p:attrName>ppt_h</p:attrName>
                                        </p:attrNameLst>
                                      </p:cBhvr>
                                      <p:tavLst>
                                        <p:tav tm="0">
                                          <p:val>
                                            <p:fltVal val="0"/>
                                          </p:val>
                                        </p:tav>
                                        <p:tav tm="100000">
                                          <p:val>
                                            <p:strVal val="#ppt_h"/>
                                          </p:val>
                                        </p:tav>
                                      </p:tavLst>
                                    </p:anim>
                                    <p:animEffect transition="in" filter="fade">
                                      <p:cBhvr>
                                        <p:cTn id="15" dur="500"/>
                                        <p:tgtEl>
                                          <p:spTgt spid="32"/>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 calcmode="lin" valueType="num">
                                      <p:cBhvr>
                                        <p:cTn id="18" dur="500" fill="hold"/>
                                        <p:tgtEl>
                                          <p:spTgt spid="33"/>
                                        </p:tgtEl>
                                        <p:attrNameLst>
                                          <p:attrName>ppt_w</p:attrName>
                                        </p:attrNameLst>
                                      </p:cBhvr>
                                      <p:tavLst>
                                        <p:tav tm="0">
                                          <p:val>
                                            <p:fltVal val="0"/>
                                          </p:val>
                                        </p:tav>
                                        <p:tav tm="100000">
                                          <p:val>
                                            <p:strVal val="#ppt_w"/>
                                          </p:val>
                                        </p:tav>
                                      </p:tavLst>
                                    </p:anim>
                                    <p:anim calcmode="lin" valueType="num">
                                      <p:cBhvr>
                                        <p:cTn id="19" dur="500" fill="hold"/>
                                        <p:tgtEl>
                                          <p:spTgt spid="33"/>
                                        </p:tgtEl>
                                        <p:attrNameLst>
                                          <p:attrName>ppt_h</p:attrName>
                                        </p:attrNameLst>
                                      </p:cBhvr>
                                      <p:tavLst>
                                        <p:tav tm="0">
                                          <p:val>
                                            <p:fltVal val="0"/>
                                          </p:val>
                                        </p:tav>
                                        <p:tav tm="100000">
                                          <p:val>
                                            <p:strVal val="#ppt_h"/>
                                          </p:val>
                                        </p:tav>
                                      </p:tavLst>
                                    </p:anim>
                                    <p:animEffect transition="in" filter="fade">
                                      <p:cBhvr>
                                        <p:cTn id="20" dur="500"/>
                                        <p:tgtEl>
                                          <p:spTgt spid="33"/>
                                        </p:tgtEl>
                                      </p:cBhvr>
                                    </p:animEffect>
                                  </p:childTnLst>
                                </p:cTn>
                              </p:par>
                              <p:par>
                                <p:cTn id="21" presetID="16" presetClass="entr" presetSubtype="21" fill="hold" grpId="0" nodeType="withEffect">
                                  <p:stCondLst>
                                    <p:cond delay="250"/>
                                  </p:stCondLst>
                                  <p:childTnLst>
                                    <p:set>
                                      <p:cBhvr>
                                        <p:cTn id="22" dur="1" fill="hold">
                                          <p:stCondLst>
                                            <p:cond delay="0"/>
                                          </p:stCondLst>
                                        </p:cTn>
                                        <p:tgtEl>
                                          <p:spTgt spid="30"/>
                                        </p:tgtEl>
                                        <p:attrNameLst>
                                          <p:attrName>style.visibility</p:attrName>
                                        </p:attrNameLst>
                                      </p:cBhvr>
                                      <p:to>
                                        <p:strVal val="visible"/>
                                      </p:to>
                                    </p:set>
                                    <p:animEffect transition="in" filter="barn(inVertical)">
                                      <p:cBhvr>
                                        <p:cTn id="23" dur="500"/>
                                        <p:tgtEl>
                                          <p:spTgt spid="30"/>
                                        </p:tgtEl>
                                      </p:cBhvr>
                                    </p:animEffect>
                                  </p:childTnLst>
                                </p:cTn>
                              </p:par>
                              <p:par>
                                <p:cTn id="24" presetID="16" presetClass="entr" presetSubtype="42" fill="hold" nodeType="withEffect">
                                  <p:stCondLst>
                                    <p:cond delay="250"/>
                                  </p:stCondLst>
                                  <p:childTnLst>
                                    <p:set>
                                      <p:cBhvr>
                                        <p:cTn id="25" dur="1" fill="hold">
                                          <p:stCondLst>
                                            <p:cond delay="0"/>
                                          </p:stCondLst>
                                        </p:cTn>
                                        <p:tgtEl>
                                          <p:spTgt spid="31"/>
                                        </p:tgtEl>
                                        <p:attrNameLst>
                                          <p:attrName>style.visibility</p:attrName>
                                        </p:attrNameLst>
                                      </p:cBhvr>
                                      <p:to>
                                        <p:strVal val="visible"/>
                                      </p:to>
                                    </p:set>
                                    <p:animEffect transition="in" filter="barn(outHorizontal)">
                                      <p:cBhvr>
                                        <p:cTn id="26" dur="500"/>
                                        <p:tgtEl>
                                          <p:spTgt spid="31"/>
                                        </p:tgtEl>
                                      </p:cBhvr>
                                    </p:animEffect>
                                  </p:childTnLst>
                                </p:cTn>
                              </p:par>
                              <p:par>
                                <p:cTn id="27" presetID="41" presetClass="entr" presetSubtype="0" fill="hold" grpId="0" nodeType="withEffect">
                                  <p:stCondLst>
                                    <p:cond delay="500"/>
                                  </p:stCondLst>
                                  <p:iterate type="lt">
                                    <p:tmPct val="10000"/>
                                  </p:iterate>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12"/>
                                        </p:tgtEl>
                                        <p:attrNameLst>
                                          <p:attrName>ppt_y</p:attrName>
                                        </p:attrNameLst>
                                      </p:cBhvr>
                                      <p:tavLst>
                                        <p:tav tm="0">
                                          <p:val>
                                            <p:strVal val="#ppt_y"/>
                                          </p:val>
                                        </p:tav>
                                        <p:tav tm="100000">
                                          <p:val>
                                            <p:strVal val="#ppt_y"/>
                                          </p:val>
                                        </p:tav>
                                      </p:tavLst>
                                    </p:anim>
                                    <p:anim calcmode="lin" valueType="num">
                                      <p:cBhvr>
                                        <p:cTn id="31"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12"/>
                                        </p:tgtEl>
                                      </p:cBhvr>
                                    </p:animEffect>
                                  </p:childTnLst>
                                </p:cTn>
                              </p:par>
                              <p:par>
                                <p:cTn id="34" presetID="42" presetClass="entr" presetSubtype="0" fill="hold" grpId="0" nodeType="withEffect">
                                  <p:stCondLst>
                                    <p:cond delay="7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par>
                                <p:cTn id="39" presetID="16" presetClass="entr" presetSubtype="21" fill="hold" grpId="0" nodeType="withEffect">
                                  <p:stCondLst>
                                    <p:cond delay="250"/>
                                  </p:stCondLst>
                                  <p:childTnLst>
                                    <p:set>
                                      <p:cBhvr>
                                        <p:cTn id="40" dur="1" fill="hold">
                                          <p:stCondLst>
                                            <p:cond delay="0"/>
                                          </p:stCondLst>
                                        </p:cTn>
                                        <p:tgtEl>
                                          <p:spTgt spid="11"/>
                                        </p:tgtEl>
                                        <p:attrNameLst>
                                          <p:attrName>style.visibility</p:attrName>
                                        </p:attrNameLst>
                                      </p:cBhvr>
                                      <p:to>
                                        <p:strVal val="visible"/>
                                      </p:to>
                                    </p:set>
                                    <p:animEffect transition="in" filter="barn(inVertical)">
                                      <p:cBhvr>
                                        <p:cTn id="41" dur="500"/>
                                        <p:tgtEl>
                                          <p:spTgt spid="11"/>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par>
                                <p:cTn id="47" presetID="22" presetClass="entr" presetSubtype="4" fill="hold" nodeType="with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5" grpId="0" animBg="1"/>
      <p:bldP spid="17" grpId="0" animBg="1"/>
      <p:bldP spid="30" grpId="0"/>
      <p:bldP spid="32" grpId="0" animBg="1"/>
      <p:bldP spid="33" grpId="0" animBg="1"/>
      <p:bldP spid="3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5">
            <a:extLst>
              <a:ext uri="{FF2B5EF4-FFF2-40B4-BE49-F238E27FC236}">
                <a16:creationId xmlns:a16="http://schemas.microsoft.com/office/drawing/2014/main" id="{1C54DEE8-85DA-B8CB-2BE7-609EFDB38B70}"/>
              </a:ext>
            </a:extLst>
          </p:cNvPr>
          <p:cNvSpPr/>
          <p:nvPr/>
        </p:nvSpPr>
        <p:spPr>
          <a:xfrm>
            <a:off x="393247" y="2768441"/>
            <a:ext cx="2694966" cy="3315211"/>
          </a:xfrm>
          <a:prstGeom prst="roundRect">
            <a:avLst>
              <a:gd name="adj" fmla="val 3577"/>
            </a:avLst>
          </a:prstGeom>
          <a:solidFill>
            <a:schemeClr val="bg1"/>
          </a:soli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0" tIns="72000" rIns="540000" bIns="72000" numCol="1" spcCol="0" rtlCol="0" fromWordArt="0" anchor="ctr" anchorCtr="0" forceAA="0" compatLnSpc="1">
            <a:prstTxWarp prst="textNoShape">
              <a:avLst/>
            </a:prstTxWarp>
            <a:noAutofit/>
          </a:bodyPr>
          <a:lstStyle/>
          <a:p>
            <a:pPr indent="457200">
              <a:lnSpc>
                <a:spcPct val="120000"/>
              </a:lnSpc>
            </a:pPr>
            <a:endParaRPr lang="zh-CN" altLang="en-US" sz="2400" dirty="0">
              <a:solidFill>
                <a:schemeClr val="tx1"/>
              </a:solidFill>
              <a:latin typeface="阿里巴巴普惠体 Medium" pitchFamily="18" charset="-122"/>
              <a:ea typeface="阿里巴巴普惠体 Medium" pitchFamily="18" charset="-122"/>
              <a:cs typeface="+mn-ea"/>
              <a:sym typeface="思源黑体 CN Normal" panose="020B0400000000000000" pitchFamily="34" charset="-122"/>
            </a:endParaRPr>
          </a:p>
        </p:txBody>
      </p:sp>
      <p:sp>
        <p:nvSpPr>
          <p:cNvPr id="13" name="文本框 12">
            <a:extLst>
              <a:ext uri="{FF2B5EF4-FFF2-40B4-BE49-F238E27FC236}">
                <a16:creationId xmlns:a16="http://schemas.microsoft.com/office/drawing/2014/main" id="{BA0BB895-A41E-C876-56F7-7C689F071B26}"/>
              </a:ext>
            </a:extLst>
          </p:cNvPr>
          <p:cNvSpPr txBox="1"/>
          <p:nvPr/>
        </p:nvSpPr>
        <p:spPr>
          <a:xfrm>
            <a:off x="710030" y="2316089"/>
            <a:ext cx="2061395" cy="1112911"/>
          </a:xfrm>
          <a:prstGeom prst="roundRect">
            <a:avLst>
              <a:gd name="adj" fmla="val 50000"/>
            </a:avLst>
          </a:prstGeom>
          <a:solidFill>
            <a:srgbClr val="0E4576"/>
          </a:soli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4000">
                <a:solidFill>
                  <a:schemeClr val="bg1"/>
                </a:solidFill>
                <a:latin typeface="思源黑体 CN Normal" panose="020B0400000000000000" pitchFamily="34" charset="-122"/>
                <a:ea typeface="思源黑体 CN Medium" panose="020B0600000000000000" pitchFamily="34" charset="-122"/>
              </a:defRPr>
            </a:lvl1pPr>
          </a:lstStyle>
          <a:p>
            <a:r>
              <a:rPr lang="en-US" altLang="zh-CN" sz="1600" dirty="0">
                <a:latin typeface="阿里巴巴普惠体 Medium" pitchFamily="18" charset="-122"/>
                <a:ea typeface="阿里巴巴普惠体 Medium" pitchFamily="18" charset="-122"/>
                <a:sym typeface="思源黑体 CN Normal" panose="020B0400000000000000" pitchFamily="34" charset="-122"/>
              </a:rPr>
              <a:t>Mohamed Fathy</a:t>
            </a:r>
            <a:endParaRPr lang="zh-CN" altLang="en-US" sz="1600" dirty="0">
              <a:latin typeface="阿里巴巴普惠体 Medium" pitchFamily="18" charset="-122"/>
              <a:ea typeface="阿里巴巴普惠体 Medium" pitchFamily="18" charset="-122"/>
              <a:sym typeface="思源黑体 CN Normal" panose="020B0400000000000000" pitchFamily="34" charset="-122"/>
            </a:endParaRPr>
          </a:p>
        </p:txBody>
      </p:sp>
      <p:sp>
        <p:nvSpPr>
          <p:cNvPr id="14" name="文本框 13">
            <a:extLst>
              <a:ext uri="{FF2B5EF4-FFF2-40B4-BE49-F238E27FC236}">
                <a16:creationId xmlns:a16="http://schemas.microsoft.com/office/drawing/2014/main" id="{3CCA3939-154A-C3C0-370B-67B2C013A2C3}"/>
              </a:ext>
            </a:extLst>
          </p:cNvPr>
          <p:cNvSpPr txBox="1"/>
          <p:nvPr/>
        </p:nvSpPr>
        <p:spPr>
          <a:xfrm>
            <a:off x="797196" y="4116193"/>
            <a:ext cx="1887067" cy="1167692"/>
          </a:xfrm>
          <a:prstGeom prst="rect">
            <a:avLst/>
          </a:prstGeom>
          <a:noFill/>
        </p:spPr>
        <p:txBody>
          <a:bodyPr wrap="square" rtlCol="0">
            <a:spAutoFit/>
          </a:bodyPr>
          <a:lstStyle>
            <a:defPPr>
              <a:defRPr lang="zh-CN"/>
            </a:defPPr>
            <a:lvl1pPr algn="ctr">
              <a:lnSpc>
                <a:spcPct val="150000"/>
              </a:lnSpc>
              <a:defRPr sz="1200" kern="1400" spc="100">
                <a:solidFill>
                  <a:schemeClr val="bg2">
                    <a:lumMod val="25000"/>
                  </a:schemeClr>
                </a:solidFill>
                <a:latin typeface="思源黑体 CN Normal" panose="020B0400000000000000" pitchFamily="34" charset="-122"/>
                <a:ea typeface="思源黑体 CN Normal" panose="020B0400000000000000" pitchFamily="34" charset="-122"/>
              </a:defRPr>
            </a:lvl1pPr>
          </a:lstStyle>
          <a:p>
            <a:r>
              <a:rPr lang="en-US" altLang="zh-CN" dirty="0">
                <a:latin typeface="阿里巴巴普惠体 Medium" pitchFamily="18" charset="-122"/>
                <a:ea typeface="阿里巴巴普惠体 Medium" pitchFamily="18" charset="-122"/>
                <a:sym typeface="思源黑体 CN Normal" panose="020B0400000000000000" pitchFamily="34" charset="-122"/>
              </a:rPr>
              <a:t>Creating the Visualization and analysis the Dashboard</a:t>
            </a:r>
          </a:p>
        </p:txBody>
      </p:sp>
      <p:grpSp>
        <p:nvGrpSpPr>
          <p:cNvPr id="25" name="组合 24"/>
          <p:cNvGrpSpPr/>
          <p:nvPr/>
        </p:nvGrpSpPr>
        <p:grpSpPr>
          <a:xfrm>
            <a:off x="1190336" y="272525"/>
            <a:ext cx="4089832" cy="618693"/>
            <a:chOff x="1438134" y="699421"/>
            <a:chExt cx="4089831" cy="618693"/>
          </a:xfrm>
        </p:grpSpPr>
        <p:sp>
          <p:nvSpPr>
            <p:cNvPr id="27" name="文本框 26"/>
            <p:cNvSpPr txBox="1"/>
            <p:nvPr/>
          </p:nvSpPr>
          <p:spPr>
            <a:xfrm>
              <a:off x="1438134" y="699421"/>
              <a:ext cx="3033455" cy="461665"/>
            </a:xfrm>
            <a:prstGeom prst="rect">
              <a:avLst/>
            </a:prstGeom>
            <a:noFill/>
          </p:spPr>
          <p:txBody>
            <a:bodyPr wrap="square" rtlCol="0">
              <a:spAutoFit/>
            </a:bodyPr>
            <a:lstStyle>
              <a:defPPr>
                <a:defRPr lang="zh-CN"/>
              </a:defPPr>
              <a:lvl1pPr algn="ctr">
                <a:defRPr sz="1200" spc="300">
                  <a:gradFill flip="none" rotWithShape="1">
                    <a:gsLst>
                      <a:gs pos="0">
                        <a:schemeClr val="accent5">
                          <a:lumMod val="60000"/>
                          <a:lumOff val="40000"/>
                        </a:schemeClr>
                      </a:gs>
                      <a:gs pos="100000">
                        <a:schemeClr val="accent3"/>
                      </a:gs>
                    </a:gsLst>
                    <a:lin ang="16200000" scaled="1"/>
                    <a:tileRect/>
                  </a:gradFill>
                  <a:cs typeface="+mn-ea"/>
                </a:defRPr>
              </a:lvl1pPr>
            </a:lstStyle>
            <a:p>
              <a:pPr algn="l"/>
              <a:r>
                <a:rPr lang="en-US" altLang="zh-CN" sz="2400" b="1" spc="0" dirty="0">
                  <a:solidFill>
                    <a:schemeClr val="tx1">
                      <a:lumMod val="75000"/>
                      <a:lumOff val="2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rPr>
                <a:t>Team Members</a:t>
              </a:r>
              <a:endParaRPr lang="zh-CN" altLang="en-US" sz="2400" b="1" spc="0" dirty="0">
                <a:solidFill>
                  <a:schemeClr val="tx1">
                    <a:lumMod val="75000"/>
                    <a:lumOff val="25000"/>
                  </a:schemeClr>
                </a:solidFill>
                <a:effectLst>
                  <a:outerShdw blurRad="25400" dist="25400" dir="2700000" algn="tl">
                    <a:srgbClr val="000000">
                      <a:alpha val="25000"/>
                    </a:srgbClr>
                  </a:outerShdw>
                </a:effectLst>
                <a:latin typeface="阿里巴巴普惠体 Medium" pitchFamily="18" charset="-122"/>
                <a:ea typeface="阿里巴巴普惠体 Medium" pitchFamily="18" charset="-122"/>
              </a:endParaRPr>
            </a:p>
          </p:txBody>
        </p:sp>
        <p:sp>
          <p:nvSpPr>
            <p:cNvPr id="41" name="文本框 40"/>
            <p:cNvSpPr txBox="1"/>
            <p:nvPr/>
          </p:nvSpPr>
          <p:spPr>
            <a:xfrm>
              <a:off x="1440874" y="1087282"/>
              <a:ext cx="4087091" cy="230832"/>
            </a:xfrm>
            <a:prstGeom prst="rect">
              <a:avLst/>
            </a:prstGeom>
          </p:spPr>
          <p:txBody>
            <a:bodyPr wrap="square">
              <a:spAutoFit/>
            </a:bodyPr>
            <a:lstStyle>
              <a:defPPr>
                <a:defRPr lang="zh-CN"/>
              </a:defPPr>
              <a:lvl1pPr algn="ctr">
                <a:defRPr sz="2800">
                  <a:solidFill>
                    <a:srgbClr val="000000">
                      <a:lumMod val="65000"/>
                      <a:lumOff val="35000"/>
                    </a:srgbClr>
                  </a:solidFill>
                  <a:latin typeface="Century Gothic" panose="020B0502020202020204" pitchFamily="34" charset="0"/>
                  <a:cs typeface="Lato Thin" panose="020F0502020204030203" pitchFamily="34" charset="0"/>
                </a:defRPr>
              </a:lvl1pPr>
            </a:lstStyle>
            <a:p>
              <a:pPr algn="l">
                <a:lnSpc>
                  <a:spcPct val="90000"/>
                </a:lnSpc>
                <a:spcBef>
                  <a:spcPts val="1000"/>
                </a:spcBef>
              </a:pPr>
              <a:endParaRPr lang="en-US" altLang="zh-CN" sz="1000" dirty="0">
                <a:solidFill>
                  <a:prstClr val="white">
                    <a:lumMod val="50000"/>
                  </a:prstClr>
                </a:solidFill>
                <a:latin typeface="阿里巴巴普惠体 Medium" pitchFamily="18" charset="-122"/>
                <a:ea typeface="阿里巴巴普惠体 Medium" pitchFamily="18" charset="-122"/>
                <a:cs typeface="Arial" panose="020B0604020202020204" pitchFamily="34" charset="0"/>
              </a:endParaRPr>
            </a:p>
          </p:txBody>
        </p:sp>
      </p:grpSp>
      <p:sp>
        <p:nvSpPr>
          <p:cNvPr id="6" name="矩形: 圆角 5">
            <a:extLst>
              <a:ext uri="{FF2B5EF4-FFF2-40B4-BE49-F238E27FC236}">
                <a16:creationId xmlns:a16="http://schemas.microsoft.com/office/drawing/2014/main" id="{D22FFD7C-D568-E619-8C90-E2AC375E8B5B}"/>
              </a:ext>
            </a:extLst>
          </p:cNvPr>
          <p:cNvSpPr/>
          <p:nvPr/>
        </p:nvSpPr>
        <p:spPr>
          <a:xfrm>
            <a:off x="3316633" y="2768455"/>
            <a:ext cx="2694966" cy="3315211"/>
          </a:xfrm>
          <a:prstGeom prst="roundRect">
            <a:avLst>
              <a:gd name="adj" fmla="val 3577"/>
            </a:avLst>
          </a:prstGeom>
          <a:solidFill>
            <a:schemeClr val="bg1"/>
          </a:soli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0" tIns="72000" rIns="540000" bIns="72000" numCol="1" spcCol="0" rtlCol="0" fromWordArt="0" anchor="ctr" anchorCtr="0" forceAA="0" compatLnSpc="1">
            <a:prstTxWarp prst="textNoShape">
              <a:avLst/>
            </a:prstTxWarp>
            <a:noAutofit/>
          </a:bodyPr>
          <a:lstStyle/>
          <a:p>
            <a:pPr indent="457200">
              <a:lnSpc>
                <a:spcPct val="120000"/>
              </a:lnSpc>
            </a:pPr>
            <a:endParaRPr lang="zh-CN" altLang="en-US" sz="2400" dirty="0">
              <a:solidFill>
                <a:schemeClr val="tx1"/>
              </a:solidFill>
              <a:latin typeface="阿里巴巴普惠体 Medium" pitchFamily="18" charset="-122"/>
              <a:ea typeface="阿里巴巴普惠体 Medium" pitchFamily="18" charset="-122"/>
              <a:cs typeface="+mn-ea"/>
              <a:sym typeface="思源黑体 CN Normal" panose="020B0400000000000000" pitchFamily="34" charset="-122"/>
            </a:endParaRPr>
          </a:p>
        </p:txBody>
      </p:sp>
      <p:sp>
        <p:nvSpPr>
          <p:cNvPr id="8" name="文本框 12">
            <a:extLst>
              <a:ext uri="{FF2B5EF4-FFF2-40B4-BE49-F238E27FC236}">
                <a16:creationId xmlns:a16="http://schemas.microsoft.com/office/drawing/2014/main" id="{5DFB341C-E7EB-0DCB-2F5A-C0650BF68985}"/>
              </a:ext>
            </a:extLst>
          </p:cNvPr>
          <p:cNvSpPr txBox="1"/>
          <p:nvPr/>
        </p:nvSpPr>
        <p:spPr>
          <a:xfrm>
            <a:off x="3633416" y="2330176"/>
            <a:ext cx="2061395" cy="1112911"/>
          </a:xfrm>
          <a:prstGeom prst="roundRect">
            <a:avLst>
              <a:gd name="adj" fmla="val 50000"/>
            </a:avLst>
          </a:prstGeom>
          <a:solidFill>
            <a:srgbClr val="0E4576"/>
          </a:soli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4000">
                <a:solidFill>
                  <a:schemeClr val="bg1"/>
                </a:solidFill>
                <a:latin typeface="思源黑体 CN Normal" panose="020B0400000000000000" pitchFamily="34" charset="-122"/>
                <a:ea typeface="思源黑体 CN Medium" panose="020B0600000000000000" pitchFamily="34" charset="-122"/>
              </a:defRPr>
            </a:lvl1pPr>
          </a:lstStyle>
          <a:p>
            <a:r>
              <a:rPr lang="en-US" altLang="zh-CN" sz="1600" dirty="0">
                <a:latin typeface="阿里巴巴普惠体 Medium" pitchFamily="18" charset="-122"/>
                <a:ea typeface="阿里巴巴普惠体 Medium" pitchFamily="18" charset="-122"/>
                <a:sym typeface="思源黑体 CN Normal" panose="020B0400000000000000" pitchFamily="34" charset="-122"/>
              </a:rPr>
              <a:t>Abdullah Mantawy</a:t>
            </a:r>
            <a:endParaRPr lang="zh-CN" altLang="en-US" sz="1600" dirty="0">
              <a:latin typeface="阿里巴巴普惠体 Medium" pitchFamily="18" charset="-122"/>
              <a:ea typeface="阿里巴巴普惠体 Medium" pitchFamily="18" charset="-122"/>
              <a:sym typeface="思源黑体 CN Normal" panose="020B0400000000000000" pitchFamily="34" charset="-122"/>
            </a:endParaRPr>
          </a:p>
        </p:txBody>
      </p:sp>
      <p:sp>
        <p:nvSpPr>
          <p:cNvPr id="9" name="文本框 13">
            <a:extLst>
              <a:ext uri="{FF2B5EF4-FFF2-40B4-BE49-F238E27FC236}">
                <a16:creationId xmlns:a16="http://schemas.microsoft.com/office/drawing/2014/main" id="{1C2BE2C7-4746-5C5F-4B92-74485ABB7C50}"/>
              </a:ext>
            </a:extLst>
          </p:cNvPr>
          <p:cNvSpPr txBox="1"/>
          <p:nvPr/>
        </p:nvSpPr>
        <p:spPr>
          <a:xfrm>
            <a:off x="3720582" y="4116192"/>
            <a:ext cx="1887067" cy="1167692"/>
          </a:xfrm>
          <a:prstGeom prst="rect">
            <a:avLst/>
          </a:prstGeom>
          <a:noFill/>
        </p:spPr>
        <p:txBody>
          <a:bodyPr wrap="square" rtlCol="0">
            <a:spAutoFit/>
          </a:bodyPr>
          <a:lstStyle>
            <a:defPPr>
              <a:defRPr lang="zh-CN"/>
            </a:defPPr>
            <a:lvl1pPr algn="ctr">
              <a:lnSpc>
                <a:spcPct val="150000"/>
              </a:lnSpc>
              <a:defRPr sz="1200" kern="1400" spc="100">
                <a:solidFill>
                  <a:schemeClr val="bg2">
                    <a:lumMod val="25000"/>
                  </a:schemeClr>
                </a:solidFill>
                <a:latin typeface="思源黑体 CN Normal" panose="020B0400000000000000" pitchFamily="34" charset="-122"/>
                <a:ea typeface="思源黑体 CN Normal" panose="020B0400000000000000" pitchFamily="34" charset="-122"/>
              </a:defRPr>
            </a:lvl1pPr>
          </a:lstStyle>
          <a:p>
            <a:r>
              <a:rPr lang="en-US" altLang="zh-CN" dirty="0">
                <a:latin typeface="阿里巴巴普惠体 Medium" pitchFamily="18" charset="-122"/>
                <a:ea typeface="阿里巴巴普惠体 Medium" pitchFamily="18" charset="-122"/>
                <a:sym typeface="思源黑体 CN Normal" panose="020B0400000000000000" pitchFamily="34" charset="-122"/>
              </a:rPr>
              <a:t>Creating the Visualization and analysis the Dashboard</a:t>
            </a:r>
          </a:p>
        </p:txBody>
      </p:sp>
      <p:sp>
        <p:nvSpPr>
          <p:cNvPr id="11" name="矩形: 圆角 5">
            <a:extLst>
              <a:ext uri="{FF2B5EF4-FFF2-40B4-BE49-F238E27FC236}">
                <a16:creationId xmlns:a16="http://schemas.microsoft.com/office/drawing/2014/main" id="{50A4E89E-6FC8-CFCA-9940-B2E1F456B99F}"/>
              </a:ext>
            </a:extLst>
          </p:cNvPr>
          <p:cNvSpPr/>
          <p:nvPr/>
        </p:nvSpPr>
        <p:spPr>
          <a:xfrm>
            <a:off x="6240016" y="2768455"/>
            <a:ext cx="2694966" cy="3315211"/>
          </a:xfrm>
          <a:prstGeom prst="roundRect">
            <a:avLst>
              <a:gd name="adj" fmla="val 3577"/>
            </a:avLst>
          </a:prstGeom>
          <a:solidFill>
            <a:schemeClr val="bg1"/>
          </a:soli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0" tIns="72000" rIns="540000" bIns="72000" numCol="1" spcCol="0" rtlCol="0" fromWordArt="0" anchor="ctr" anchorCtr="0" forceAA="0" compatLnSpc="1">
            <a:prstTxWarp prst="textNoShape">
              <a:avLst/>
            </a:prstTxWarp>
            <a:noAutofit/>
          </a:bodyPr>
          <a:lstStyle/>
          <a:p>
            <a:pPr indent="457200">
              <a:lnSpc>
                <a:spcPct val="120000"/>
              </a:lnSpc>
            </a:pPr>
            <a:endParaRPr lang="zh-CN" altLang="en-US" sz="2400" dirty="0">
              <a:solidFill>
                <a:schemeClr val="tx1"/>
              </a:solidFill>
              <a:latin typeface="阿里巴巴普惠体 Medium" pitchFamily="18" charset="-122"/>
              <a:ea typeface="阿里巴巴普惠体 Medium" pitchFamily="18" charset="-122"/>
              <a:cs typeface="+mn-ea"/>
              <a:sym typeface="思源黑体 CN Normal" panose="020B0400000000000000" pitchFamily="34" charset="-122"/>
            </a:endParaRPr>
          </a:p>
        </p:txBody>
      </p:sp>
      <p:sp>
        <p:nvSpPr>
          <p:cNvPr id="16" name="文本框 12">
            <a:extLst>
              <a:ext uri="{FF2B5EF4-FFF2-40B4-BE49-F238E27FC236}">
                <a16:creationId xmlns:a16="http://schemas.microsoft.com/office/drawing/2014/main" id="{AA1EE7F2-E3A4-F93B-7A8A-D554A1E0CED0}"/>
              </a:ext>
            </a:extLst>
          </p:cNvPr>
          <p:cNvSpPr txBox="1"/>
          <p:nvPr/>
        </p:nvSpPr>
        <p:spPr>
          <a:xfrm>
            <a:off x="6556799" y="2378129"/>
            <a:ext cx="2061395" cy="1064958"/>
          </a:xfrm>
          <a:prstGeom prst="roundRect">
            <a:avLst>
              <a:gd name="adj" fmla="val 50000"/>
            </a:avLst>
          </a:prstGeom>
          <a:solidFill>
            <a:srgbClr val="0E4576"/>
          </a:soli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4000">
                <a:solidFill>
                  <a:schemeClr val="bg1"/>
                </a:solidFill>
                <a:latin typeface="思源黑体 CN Normal" panose="020B0400000000000000" pitchFamily="34" charset="-122"/>
                <a:ea typeface="思源黑体 CN Medium" panose="020B0600000000000000" pitchFamily="34" charset="-122"/>
              </a:defRPr>
            </a:lvl1pPr>
          </a:lstStyle>
          <a:p>
            <a:r>
              <a:rPr lang="en-US" altLang="zh-CN" sz="1600" dirty="0">
                <a:latin typeface="阿里巴巴普惠体 Medium" pitchFamily="18" charset="-122"/>
                <a:ea typeface="阿里巴巴普惠体 Medium" pitchFamily="18" charset="-122"/>
                <a:sym typeface="思源黑体 CN Normal" panose="020B0400000000000000" pitchFamily="34" charset="-122"/>
              </a:rPr>
              <a:t>Karim Zakaria</a:t>
            </a:r>
            <a:endParaRPr lang="zh-CN" altLang="en-US" sz="1600" dirty="0">
              <a:latin typeface="阿里巴巴普惠体 Medium" pitchFamily="18" charset="-122"/>
              <a:ea typeface="阿里巴巴普惠体 Medium" pitchFamily="18" charset="-122"/>
              <a:sym typeface="思源黑体 CN Normal" panose="020B0400000000000000" pitchFamily="34" charset="-122"/>
            </a:endParaRPr>
          </a:p>
        </p:txBody>
      </p:sp>
      <p:sp>
        <p:nvSpPr>
          <p:cNvPr id="17" name="文本框 13">
            <a:extLst>
              <a:ext uri="{FF2B5EF4-FFF2-40B4-BE49-F238E27FC236}">
                <a16:creationId xmlns:a16="http://schemas.microsoft.com/office/drawing/2014/main" id="{AAD27384-7B6E-800C-3D17-BB5AAA9954D8}"/>
              </a:ext>
            </a:extLst>
          </p:cNvPr>
          <p:cNvSpPr txBox="1"/>
          <p:nvPr/>
        </p:nvSpPr>
        <p:spPr>
          <a:xfrm>
            <a:off x="6218589" y="3565201"/>
            <a:ext cx="2694966" cy="1721690"/>
          </a:xfrm>
          <a:prstGeom prst="rect">
            <a:avLst/>
          </a:prstGeom>
          <a:noFill/>
        </p:spPr>
        <p:txBody>
          <a:bodyPr wrap="square" rtlCol="0">
            <a:spAutoFit/>
          </a:bodyPr>
          <a:lstStyle>
            <a:defPPr>
              <a:defRPr lang="zh-CN"/>
            </a:defPPr>
            <a:lvl1pPr algn="ctr">
              <a:lnSpc>
                <a:spcPct val="150000"/>
              </a:lnSpc>
              <a:defRPr sz="1200" kern="1400" spc="100">
                <a:solidFill>
                  <a:schemeClr val="bg2">
                    <a:lumMod val="25000"/>
                  </a:schemeClr>
                </a:solidFill>
                <a:latin typeface="思源黑体 CN Normal" panose="020B0400000000000000" pitchFamily="34" charset="-122"/>
                <a:ea typeface="思源黑体 CN Normal" panose="020B0400000000000000" pitchFamily="34" charset="-122"/>
              </a:defRPr>
            </a:lvl1pPr>
          </a:lstStyle>
          <a:p>
            <a:r>
              <a:rPr lang="en-US" dirty="0"/>
              <a:t>Import the Excel data file into Power Query, perform the necessary data cleaning, and apply relevant functions to ensure the data is prepared for presentation.</a:t>
            </a:r>
            <a:endParaRPr lang="en-US" altLang="zh-CN" dirty="0">
              <a:latin typeface="阿里巴巴普惠体 Medium" pitchFamily="18" charset="-122"/>
              <a:ea typeface="阿里巴巴普惠体 Medium" pitchFamily="18" charset="-122"/>
              <a:sym typeface="思源黑体 CN Normal" panose="020B0400000000000000" pitchFamily="34" charset="-122"/>
            </a:endParaRPr>
          </a:p>
        </p:txBody>
      </p:sp>
      <p:sp>
        <p:nvSpPr>
          <p:cNvPr id="18" name="矩形: 圆角 5">
            <a:extLst>
              <a:ext uri="{FF2B5EF4-FFF2-40B4-BE49-F238E27FC236}">
                <a16:creationId xmlns:a16="http://schemas.microsoft.com/office/drawing/2014/main" id="{EDC46A58-7ED3-5938-75B0-E40E637953CE}"/>
              </a:ext>
            </a:extLst>
          </p:cNvPr>
          <p:cNvSpPr/>
          <p:nvPr/>
        </p:nvSpPr>
        <p:spPr>
          <a:xfrm>
            <a:off x="9163396" y="2768455"/>
            <a:ext cx="2694966" cy="3315211"/>
          </a:xfrm>
          <a:prstGeom prst="roundRect">
            <a:avLst>
              <a:gd name="adj" fmla="val 3577"/>
            </a:avLst>
          </a:prstGeom>
          <a:solidFill>
            <a:schemeClr val="bg1"/>
          </a:soli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0" tIns="72000" rIns="540000" bIns="72000" numCol="1" spcCol="0" rtlCol="0" fromWordArt="0" anchor="ctr" anchorCtr="0" forceAA="0" compatLnSpc="1">
            <a:prstTxWarp prst="textNoShape">
              <a:avLst/>
            </a:prstTxWarp>
            <a:noAutofit/>
          </a:bodyPr>
          <a:lstStyle/>
          <a:p>
            <a:pPr indent="457200">
              <a:lnSpc>
                <a:spcPct val="120000"/>
              </a:lnSpc>
            </a:pPr>
            <a:endParaRPr lang="zh-CN" altLang="en-US" sz="2400" dirty="0">
              <a:solidFill>
                <a:schemeClr val="tx1"/>
              </a:solidFill>
              <a:latin typeface="阿里巴巴普惠体 Medium" pitchFamily="18" charset="-122"/>
              <a:ea typeface="阿里巴巴普惠体 Medium" pitchFamily="18" charset="-122"/>
              <a:cs typeface="+mn-ea"/>
              <a:sym typeface="思源黑体 CN Normal" panose="020B0400000000000000" pitchFamily="34" charset="-122"/>
            </a:endParaRPr>
          </a:p>
        </p:txBody>
      </p:sp>
      <p:sp>
        <p:nvSpPr>
          <p:cNvPr id="21" name="文本框 12">
            <a:extLst>
              <a:ext uri="{FF2B5EF4-FFF2-40B4-BE49-F238E27FC236}">
                <a16:creationId xmlns:a16="http://schemas.microsoft.com/office/drawing/2014/main" id="{8C9CFFE5-F621-4F39-8109-150315EEA745}"/>
              </a:ext>
            </a:extLst>
          </p:cNvPr>
          <p:cNvSpPr txBox="1"/>
          <p:nvPr/>
        </p:nvSpPr>
        <p:spPr>
          <a:xfrm>
            <a:off x="9471866" y="2364042"/>
            <a:ext cx="2061395" cy="1064958"/>
          </a:xfrm>
          <a:prstGeom prst="roundRect">
            <a:avLst>
              <a:gd name="adj" fmla="val 50000"/>
            </a:avLst>
          </a:prstGeom>
          <a:solidFill>
            <a:srgbClr val="0E4576"/>
          </a:soli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4000">
                <a:solidFill>
                  <a:schemeClr val="bg1"/>
                </a:solidFill>
                <a:latin typeface="思源黑体 CN Normal" panose="020B0400000000000000" pitchFamily="34" charset="-122"/>
                <a:ea typeface="思源黑体 CN Medium" panose="020B0600000000000000" pitchFamily="34" charset="-122"/>
              </a:defRPr>
            </a:lvl1pPr>
          </a:lstStyle>
          <a:p>
            <a:r>
              <a:rPr lang="en-US" altLang="zh-CN" sz="1600" dirty="0">
                <a:latin typeface="阿里巴巴普惠体 Medium" pitchFamily="18" charset="-122"/>
                <a:ea typeface="阿里巴巴普惠体 Medium" pitchFamily="18" charset="-122"/>
                <a:sym typeface="思源黑体 CN Normal" panose="020B0400000000000000" pitchFamily="34" charset="-122"/>
              </a:rPr>
              <a:t>Sherif Hassan</a:t>
            </a:r>
            <a:endParaRPr lang="zh-CN" altLang="en-US" sz="1600" dirty="0">
              <a:latin typeface="阿里巴巴普惠体 Medium" pitchFamily="18" charset="-122"/>
              <a:ea typeface="阿里巴巴普惠体 Medium" pitchFamily="18" charset="-122"/>
              <a:sym typeface="思源黑体 CN Normal" panose="020B0400000000000000" pitchFamily="34" charset="-122"/>
            </a:endParaRPr>
          </a:p>
        </p:txBody>
      </p:sp>
      <p:sp>
        <p:nvSpPr>
          <p:cNvPr id="31" name="文本框 13">
            <a:extLst>
              <a:ext uri="{FF2B5EF4-FFF2-40B4-BE49-F238E27FC236}">
                <a16:creationId xmlns:a16="http://schemas.microsoft.com/office/drawing/2014/main" id="{2E3D8801-C3B3-F3AB-5496-CC83BF429EF9}"/>
              </a:ext>
            </a:extLst>
          </p:cNvPr>
          <p:cNvSpPr txBox="1"/>
          <p:nvPr/>
        </p:nvSpPr>
        <p:spPr>
          <a:xfrm>
            <a:off x="9163396" y="3591086"/>
            <a:ext cx="2635357" cy="1721690"/>
          </a:xfrm>
          <a:prstGeom prst="rect">
            <a:avLst/>
          </a:prstGeom>
          <a:noFill/>
        </p:spPr>
        <p:txBody>
          <a:bodyPr wrap="square" rtlCol="0">
            <a:spAutoFit/>
          </a:bodyPr>
          <a:lstStyle>
            <a:defPPr>
              <a:defRPr lang="zh-CN"/>
            </a:defPPr>
            <a:lvl1pPr algn="ctr">
              <a:lnSpc>
                <a:spcPct val="150000"/>
              </a:lnSpc>
              <a:defRPr sz="1200" kern="1400" spc="100">
                <a:solidFill>
                  <a:schemeClr val="bg2">
                    <a:lumMod val="25000"/>
                  </a:schemeClr>
                </a:solidFill>
                <a:latin typeface="思源黑体 CN Normal" panose="020B0400000000000000" pitchFamily="34" charset="-122"/>
                <a:ea typeface="思源黑体 CN Normal" panose="020B0400000000000000" pitchFamily="34" charset="-122"/>
              </a:defRPr>
            </a:lvl1pPr>
          </a:lstStyle>
          <a:p>
            <a:r>
              <a:rPr lang="en-US" altLang="zh-CN" dirty="0">
                <a:latin typeface="阿里巴巴普惠体 Medium" pitchFamily="18" charset="-122"/>
                <a:ea typeface="阿里巴巴普惠体 Medium" pitchFamily="18" charset="-122"/>
                <a:sym typeface="思源黑体 CN Normal" panose="020B0400000000000000" pitchFamily="34" charset="-122"/>
              </a:rPr>
              <a:t>Responsible for creating clear presentations and keeping documents well like Dataset file &amp; Power BI Files and Upload the files to </a:t>
            </a:r>
            <a:r>
              <a:rPr lang="en-US" altLang="zh-CN" dirty="0" err="1">
                <a:latin typeface="阿里巴巴普惠体 Medium" pitchFamily="18" charset="-122"/>
                <a:ea typeface="阿里巴巴普惠体 Medium" pitchFamily="18" charset="-122"/>
                <a:sym typeface="思源黑体 CN Normal" panose="020B0400000000000000" pitchFamily="34" charset="-122"/>
              </a:rPr>
              <a:t>Github</a:t>
            </a:r>
            <a:endParaRPr lang="en-US" altLang="zh-CN" dirty="0">
              <a:latin typeface="阿里巴巴普惠体 Medium" pitchFamily="18" charset="-122"/>
              <a:ea typeface="阿里巴巴普惠体 Medium" pitchFamily="18" charset="-122"/>
              <a:sym typeface="思源黑体 CN Normal" panose="020B0400000000000000" pitchFamily="34" charset="-122"/>
            </a:endParaRPr>
          </a:p>
        </p:txBody>
      </p:sp>
    </p:spTree>
    <p:custDataLst>
      <p:tags r:id="rId1"/>
    </p:custDataLst>
    <p:extLst>
      <p:ext uri="{BB962C8B-B14F-4D97-AF65-F5344CB8AC3E}">
        <p14:creationId xmlns:p14="http://schemas.microsoft.com/office/powerpoint/2010/main" val="28660217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ppt_x"/>
                                          </p:val>
                                        </p:tav>
                                        <p:tav tm="100000">
                                          <p:val>
                                            <p:strVal val="#ppt_x"/>
                                          </p:val>
                                        </p:tav>
                                      </p:tavLst>
                                    </p:anim>
                                    <p:anim calcmode="lin" valueType="num">
                                      <p:cBhvr additive="base">
                                        <p:cTn id="4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ppt_x"/>
                                          </p:val>
                                        </p:tav>
                                        <p:tav tm="100000">
                                          <p:val>
                                            <p:strVal val="#ppt_x"/>
                                          </p:val>
                                        </p:tav>
                                      </p:tavLst>
                                    </p:anim>
                                    <p:anim calcmode="lin" valueType="num">
                                      <p:cBhvr additive="base">
                                        <p:cTn id="50" dur="500" fill="hold"/>
                                        <p:tgtEl>
                                          <p:spTgt spid="18"/>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additive="base">
                                        <p:cTn id="53" dur="500" fill="hold"/>
                                        <p:tgtEl>
                                          <p:spTgt spid="21"/>
                                        </p:tgtEl>
                                        <p:attrNameLst>
                                          <p:attrName>ppt_x</p:attrName>
                                        </p:attrNameLst>
                                      </p:cBhvr>
                                      <p:tavLst>
                                        <p:tav tm="0">
                                          <p:val>
                                            <p:strVal val="#ppt_x"/>
                                          </p:val>
                                        </p:tav>
                                        <p:tav tm="100000">
                                          <p:val>
                                            <p:strVal val="#ppt_x"/>
                                          </p:val>
                                        </p:tav>
                                      </p:tavLst>
                                    </p:anim>
                                    <p:anim calcmode="lin" valueType="num">
                                      <p:cBhvr additive="base">
                                        <p:cTn id="54" dur="500" fill="hold"/>
                                        <p:tgtEl>
                                          <p:spTgt spid="21"/>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anim calcmode="lin" valueType="num">
                                      <p:cBhvr additive="base">
                                        <p:cTn id="57" dur="500" fill="hold"/>
                                        <p:tgtEl>
                                          <p:spTgt spid="31"/>
                                        </p:tgtEl>
                                        <p:attrNameLst>
                                          <p:attrName>ppt_x</p:attrName>
                                        </p:attrNameLst>
                                      </p:cBhvr>
                                      <p:tavLst>
                                        <p:tav tm="0">
                                          <p:val>
                                            <p:strVal val="#ppt_x"/>
                                          </p:val>
                                        </p:tav>
                                        <p:tav tm="100000">
                                          <p:val>
                                            <p:strVal val="#ppt_x"/>
                                          </p:val>
                                        </p:tav>
                                      </p:tavLst>
                                    </p:anim>
                                    <p:anim calcmode="lin" valueType="num">
                                      <p:cBhvr additive="base">
                                        <p:cTn id="5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4" grpId="0"/>
      <p:bldP spid="6" grpId="0" animBg="1"/>
      <p:bldP spid="8" grpId="0" animBg="1"/>
      <p:bldP spid="9" grpId="0"/>
      <p:bldP spid="11" grpId="0" animBg="1"/>
      <p:bldP spid="16" grpId="0" animBg="1"/>
      <p:bldP spid="17" grpId="0"/>
      <p:bldP spid="18" grpId="0" animBg="1"/>
      <p:bldP spid="21" grpId="0" animBg="1"/>
      <p:bldP spid="3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
            <a:ext cx="12192000" cy="6872066"/>
          </a:xfrm>
          <a:prstGeom prst="rect">
            <a:avLst/>
          </a:prstGeom>
          <a:gradFill flip="none" rotWithShape="1">
            <a:gsLst>
              <a:gs pos="0">
                <a:schemeClr val="accent1">
                  <a:lumMod val="0"/>
                  <a:lumOff val="100000"/>
                </a:schemeClr>
              </a:gs>
              <a:gs pos="35000">
                <a:srgbClr val="0E4576"/>
              </a:gs>
              <a:gs pos="100000">
                <a:srgbClr val="102A52"/>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6"/>
          <p:cNvSpPr/>
          <p:nvPr/>
        </p:nvSpPr>
        <p:spPr>
          <a:xfrm flipH="1" flipV="1">
            <a:off x="7112473" y="0"/>
            <a:ext cx="5591947" cy="6872066"/>
          </a:xfrm>
          <a:custGeom>
            <a:avLst/>
            <a:gdLst>
              <a:gd name="connsiteX0" fmla="*/ 3877446 w 5591946"/>
              <a:gd name="connsiteY0" fmla="*/ 6857996 h 6857996"/>
              <a:gd name="connsiteX1" fmla="*/ 0 w 5591946"/>
              <a:gd name="connsiteY1" fmla="*/ 6857996 h 6857996"/>
              <a:gd name="connsiteX2" fmla="*/ 0 w 5591946"/>
              <a:gd name="connsiteY2" fmla="*/ 0 h 6857996"/>
              <a:gd name="connsiteX3" fmla="*/ 3877446 w 5591946"/>
              <a:gd name="connsiteY3" fmla="*/ 0 h 6857996"/>
              <a:gd name="connsiteX4" fmla="*/ 5591946 w 5591946"/>
              <a:gd name="connsiteY4" fmla="*/ 3428998 h 6857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1946" h="6857996">
                <a:moveTo>
                  <a:pt x="3877446" y="6857996"/>
                </a:moveTo>
                <a:lnTo>
                  <a:pt x="0" y="6857996"/>
                </a:lnTo>
                <a:lnTo>
                  <a:pt x="0" y="0"/>
                </a:lnTo>
                <a:lnTo>
                  <a:pt x="3877446" y="0"/>
                </a:lnTo>
                <a:lnTo>
                  <a:pt x="5591946" y="3428998"/>
                </a:lnTo>
                <a:close/>
              </a:path>
            </a:pathLst>
          </a:custGeom>
          <a:blipFill dpi="0" rotWithShape="0">
            <a:blip r:embed="rId2" cstate="email">
              <a:extLst>
                <a:ext uri="{28A0092B-C50C-407E-A947-70E740481C1C}">
                  <a14:useLocalDpi xmlns:a14="http://schemas.microsoft.com/office/drawing/2010/main"/>
                </a:ext>
              </a:extLst>
            </a:blip>
            <a:srcRect/>
            <a:stretch>
              <a:fillRect/>
            </a:stretch>
          </a:blipFill>
          <a:ln>
            <a:noFill/>
          </a:ln>
          <a:effectLst>
            <a:outerShdw blurRad="101600" dist="381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flipV="1">
            <a:off x="2836721" y="2"/>
            <a:ext cx="5591947" cy="6857996"/>
          </a:xfrm>
          <a:custGeom>
            <a:avLst/>
            <a:gdLst>
              <a:gd name="connsiteX0" fmla="*/ 3877446 w 5591946"/>
              <a:gd name="connsiteY0" fmla="*/ 6857996 h 6857996"/>
              <a:gd name="connsiteX1" fmla="*/ 0 w 5591946"/>
              <a:gd name="connsiteY1" fmla="*/ 6857996 h 6857996"/>
              <a:gd name="connsiteX2" fmla="*/ 0 w 5591946"/>
              <a:gd name="connsiteY2" fmla="*/ 0 h 6857996"/>
              <a:gd name="connsiteX3" fmla="*/ 3877446 w 5591946"/>
              <a:gd name="connsiteY3" fmla="*/ 0 h 6857996"/>
              <a:gd name="connsiteX4" fmla="*/ 5591946 w 5591946"/>
              <a:gd name="connsiteY4" fmla="*/ 3428998 h 6857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1946" h="6857996">
                <a:moveTo>
                  <a:pt x="3877446" y="6857996"/>
                </a:moveTo>
                <a:lnTo>
                  <a:pt x="0" y="6857996"/>
                </a:lnTo>
                <a:lnTo>
                  <a:pt x="0" y="0"/>
                </a:lnTo>
                <a:lnTo>
                  <a:pt x="3877446" y="0"/>
                </a:lnTo>
                <a:lnTo>
                  <a:pt x="5591946" y="3428998"/>
                </a:lnTo>
                <a:close/>
              </a:path>
            </a:pathLst>
          </a:custGeom>
          <a:gradFill flip="none" rotWithShape="1">
            <a:gsLst>
              <a:gs pos="43000">
                <a:srgbClr val="0E4576">
                  <a:alpha val="0"/>
                </a:srgbClr>
              </a:gs>
              <a:gs pos="100000">
                <a:srgbClr val="0E4576">
                  <a:alpha val="6800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p:cNvGrpSpPr/>
          <p:nvPr/>
        </p:nvGrpSpPr>
        <p:grpSpPr>
          <a:xfrm>
            <a:off x="0" y="4057009"/>
            <a:ext cx="1389019" cy="2866150"/>
            <a:chOff x="0" y="3527977"/>
            <a:chExt cx="1645402" cy="3395182"/>
          </a:xfrm>
        </p:grpSpPr>
        <p:sp>
          <p:nvSpPr>
            <p:cNvPr id="10" name="等腰三角形 9"/>
            <p:cNvSpPr/>
            <p:nvPr/>
          </p:nvSpPr>
          <p:spPr>
            <a:xfrm>
              <a:off x="0" y="3527977"/>
              <a:ext cx="1645402" cy="3330023"/>
            </a:xfrm>
            <a:prstGeom prst="triangle">
              <a:avLst>
                <a:gd name="adj" fmla="val 0"/>
              </a:avLst>
            </a:prstGeom>
            <a:solidFill>
              <a:srgbClr val="66A2C6">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rot="3784248" flipV="1">
              <a:off x="-638763" y="5357336"/>
              <a:ext cx="3085926" cy="45719"/>
            </a:xfrm>
            <a:prstGeom prst="ellipse">
              <a:avLst/>
            </a:prstGeom>
            <a:gradFill>
              <a:gsLst>
                <a:gs pos="50000">
                  <a:srgbClr val="66A2C6"/>
                </a:gs>
                <a:gs pos="0">
                  <a:schemeClr val="bg1">
                    <a:alpha val="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983432" y="2042187"/>
            <a:ext cx="5786053" cy="1446550"/>
          </a:xfrm>
          <a:prstGeom prst="rect">
            <a:avLst/>
          </a:prstGeom>
          <a:noFill/>
        </p:spPr>
        <p:txBody>
          <a:bodyPr wrap="square" rtlCol="0">
            <a:spAutoFit/>
          </a:bodyPr>
          <a:lstStyle/>
          <a:p>
            <a:r>
              <a:rPr lang="en-US" altLang="zh-CN" sz="8800" dirty="0">
                <a:solidFill>
                  <a:schemeClr val="bg1"/>
                </a:solidFill>
                <a:effectLst>
                  <a:outerShdw blurRad="38100" dist="38100" dir="2700000" algn="tl">
                    <a:srgbClr val="000000">
                      <a:alpha val="25000"/>
                    </a:srgbClr>
                  </a:outerShdw>
                </a:effectLst>
                <a:latin typeface="思源宋体 CN Heavy" panose="02020900000000000000" pitchFamily="18" charset="-122"/>
                <a:ea typeface="思源宋体 CN Heavy" panose="02020900000000000000" pitchFamily="18" charset="-122"/>
              </a:rPr>
              <a:t>THANKS</a:t>
            </a:r>
            <a:endParaRPr lang="zh-CN" altLang="en-US" sz="8800" dirty="0">
              <a:solidFill>
                <a:schemeClr val="bg1"/>
              </a:solidFill>
              <a:effectLst>
                <a:outerShdw blurRad="38100" dist="38100" dir="2700000" algn="tl">
                  <a:srgbClr val="000000">
                    <a:alpha val="25000"/>
                  </a:srgbClr>
                </a:outerShdw>
              </a:effectLst>
              <a:latin typeface="思源宋体 CN Heavy" panose="02020900000000000000" pitchFamily="18" charset="-122"/>
              <a:ea typeface="思源宋体 CN Heavy" panose="02020900000000000000" pitchFamily="18" charset="-122"/>
            </a:endParaRPr>
          </a:p>
        </p:txBody>
      </p:sp>
      <p:sp>
        <p:nvSpPr>
          <p:cNvPr id="44" name="任意多边形 43"/>
          <p:cNvSpPr/>
          <p:nvPr/>
        </p:nvSpPr>
        <p:spPr>
          <a:xfrm flipV="1">
            <a:off x="2839002" y="2"/>
            <a:ext cx="5591947" cy="6857996"/>
          </a:xfrm>
          <a:custGeom>
            <a:avLst/>
            <a:gdLst>
              <a:gd name="connsiteX0" fmla="*/ 3877446 w 5591946"/>
              <a:gd name="connsiteY0" fmla="*/ 6857996 h 6857996"/>
              <a:gd name="connsiteX1" fmla="*/ 0 w 5591946"/>
              <a:gd name="connsiteY1" fmla="*/ 6857996 h 6857996"/>
              <a:gd name="connsiteX2" fmla="*/ 0 w 5591946"/>
              <a:gd name="connsiteY2" fmla="*/ 0 h 6857996"/>
              <a:gd name="connsiteX3" fmla="*/ 3877446 w 5591946"/>
              <a:gd name="connsiteY3" fmla="*/ 0 h 6857996"/>
              <a:gd name="connsiteX4" fmla="*/ 5591946 w 5591946"/>
              <a:gd name="connsiteY4" fmla="*/ 3428998 h 6857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1946" h="6857996">
                <a:moveTo>
                  <a:pt x="3877446" y="6857996"/>
                </a:moveTo>
                <a:lnTo>
                  <a:pt x="0" y="6857996"/>
                </a:lnTo>
                <a:lnTo>
                  <a:pt x="0" y="0"/>
                </a:lnTo>
                <a:lnTo>
                  <a:pt x="3877446" y="0"/>
                </a:lnTo>
                <a:lnTo>
                  <a:pt x="5591946" y="3428998"/>
                </a:lnTo>
                <a:close/>
              </a:path>
            </a:pathLst>
          </a:custGeom>
          <a:gradFill flip="none" rotWithShape="1">
            <a:gsLst>
              <a:gs pos="88000">
                <a:srgbClr val="66A2C6">
                  <a:alpha val="0"/>
                </a:srgbClr>
              </a:gs>
              <a:gs pos="100000">
                <a:srgbClr val="66A2C6">
                  <a:alpha val="7600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4418139" y="5517234"/>
            <a:ext cx="2648004" cy="1345759"/>
            <a:chOff x="4005010" y="5517232"/>
            <a:chExt cx="2648004" cy="1345759"/>
          </a:xfrm>
        </p:grpSpPr>
        <p:cxnSp>
          <p:nvCxnSpPr>
            <p:cNvPr id="27" name="直接连接符 26"/>
            <p:cNvCxnSpPr/>
            <p:nvPr/>
          </p:nvCxnSpPr>
          <p:spPr>
            <a:xfrm flipH="1">
              <a:off x="5932942" y="5517232"/>
              <a:ext cx="720072" cy="1345759"/>
            </a:xfrm>
            <a:prstGeom prst="line">
              <a:avLst/>
            </a:prstGeom>
            <a:ln w="12700">
              <a:gradFill>
                <a:gsLst>
                  <a:gs pos="100000">
                    <a:srgbClr val="66A2C6">
                      <a:alpha val="0"/>
                    </a:srgbClr>
                  </a:gs>
                  <a:gs pos="0">
                    <a:srgbClr val="66A2C6">
                      <a:alpha val="9000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5611620" y="5517232"/>
              <a:ext cx="720072" cy="1345759"/>
            </a:xfrm>
            <a:prstGeom prst="line">
              <a:avLst/>
            </a:prstGeom>
            <a:ln w="12700">
              <a:gradFill>
                <a:gsLst>
                  <a:gs pos="100000">
                    <a:srgbClr val="66A2C6">
                      <a:alpha val="0"/>
                    </a:srgbClr>
                  </a:gs>
                  <a:gs pos="0">
                    <a:srgbClr val="66A2C6">
                      <a:alpha val="9000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0298" y="5517232"/>
              <a:ext cx="720072" cy="1345759"/>
            </a:xfrm>
            <a:prstGeom prst="line">
              <a:avLst/>
            </a:prstGeom>
            <a:ln w="12700">
              <a:gradFill>
                <a:gsLst>
                  <a:gs pos="100000">
                    <a:srgbClr val="66A2C6">
                      <a:alpha val="0"/>
                    </a:srgbClr>
                  </a:gs>
                  <a:gs pos="0">
                    <a:srgbClr val="66A2C6">
                      <a:alpha val="9000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4968976" y="5517232"/>
              <a:ext cx="720072" cy="1345759"/>
            </a:xfrm>
            <a:prstGeom prst="line">
              <a:avLst/>
            </a:prstGeom>
            <a:ln w="12700">
              <a:gradFill>
                <a:gsLst>
                  <a:gs pos="100000">
                    <a:srgbClr val="66A2C6">
                      <a:alpha val="0"/>
                    </a:srgbClr>
                  </a:gs>
                  <a:gs pos="0">
                    <a:srgbClr val="66A2C6">
                      <a:alpha val="9000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4647654" y="5517232"/>
              <a:ext cx="720072" cy="1345759"/>
            </a:xfrm>
            <a:prstGeom prst="line">
              <a:avLst/>
            </a:prstGeom>
            <a:ln w="12700">
              <a:gradFill>
                <a:gsLst>
                  <a:gs pos="100000">
                    <a:srgbClr val="66A2C6">
                      <a:alpha val="0"/>
                    </a:srgbClr>
                  </a:gs>
                  <a:gs pos="0">
                    <a:srgbClr val="66A2C6">
                      <a:alpha val="9000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4326332" y="5517232"/>
              <a:ext cx="720072" cy="1345759"/>
            </a:xfrm>
            <a:prstGeom prst="line">
              <a:avLst/>
            </a:prstGeom>
            <a:ln w="12700">
              <a:gradFill>
                <a:gsLst>
                  <a:gs pos="100000">
                    <a:srgbClr val="66A2C6">
                      <a:alpha val="0"/>
                    </a:srgbClr>
                  </a:gs>
                  <a:gs pos="0">
                    <a:srgbClr val="66A2C6">
                      <a:alpha val="9000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4005010" y="5517232"/>
              <a:ext cx="720072" cy="1345759"/>
            </a:xfrm>
            <a:prstGeom prst="line">
              <a:avLst/>
            </a:prstGeom>
            <a:ln w="12700">
              <a:gradFill>
                <a:gsLst>
                  <a:gs pos="100000">
                    <a:srgbClr val="66A2C6">
                      <a:alpha val="0"/>
                    </a:srgbClr>
                  </a:gs>
                  <a:gs pos="0">
                    <a:srgbClr val="66A2C6">
                      <a:alpha val="90000"/>
                    </a:srgb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24" name="椭圆 23"/>
          <p:cNvSpPr/>
          <p:nvPr/>
        </p:nvSpPr>
        <p:spPr>
          <a:xfrm rot="3784248" flipV="1">
            <a:off x="6048798" y="1567118"/>
            <a:ext cx="2974346" cy="45719"/>
          </a:xfrm>
          <a:prstGeom prst="ellipse">
            <a:avLst/>
          </a:prstGeom>
          <a:gradFill>
            <a:gsLst>
              <a:gs pos="50000">
                <a:srgbClr val="66A2C6"/>
              </a:gs>
              <a:gs pos="0">
                <a:schemeClr val="bg1">
                  <a:alpha val="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rot="17815752">
            <a:off x="6219915" y="4841386"/>
            <a:ext cx="2974346" cy="45719"/>
          </a:xfrm>
          <a:prstGeom prst="ellipse">
            <a:avLst/>
          </a:prstGeom>
          <a:gradFill>
            <a:gsLst>
              <a:gs pos="50000">
                <a:srgbClr val="66A2C6"/>
              </a:gs>
              <a:gs pos="0">
                <a:schemeClr val="bg1">
                  <a:alpha val="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nvSpPr>
        <p:spPr>
          <a:xfrm rot="9311953">
            <a:off x="7549929" y="-657061"/>
            <a:ext cx="276211" cy="3393925"/>
          </a:xfrm>
          <a:prstGeom prst="triangle">
            <a:avLst/>
          </a:prstGeom>
          <a:gradFill flip="none" rotWithShape="1">
            <a:gsLst>
              <a:gs pos="0">
                <a:srgbClr val="66A2C6"/>
              </a:gs>
              <a:gs pos="100000">
                <a:srgbClr val="66A2C6">
                  <a:alpha val="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nvSpPr>
        <p:spPr>
          <a:xfrm rot="12288047" flipV="1">
            <a:off x="7568983" y="4110710"/>
            <a:ext cx="276211" cy="3393925"/>
          </a:xfrm>
          <a:prstGeom prst="triangle">
            <a:avLst/>
          </a:prstGeom>
          <a:gradFill flip="none" rotWithShape="1">
            <a:gsLst>
              <a:gs pos="0">
                <a:srgbClr val="66A2C6"/>
              </a:gs>
              <a:gs pos="100000">
                <a:srgbClr val="66A2C6">
                  <a:alpha val="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39621625"/>
      </p:ext>
    </p:extLst>
  </p:cSld>
  <p:clrMapOvr>
    <a:masterClrMapping/>
  </p:clrMapOvr>
  <p:transition spd="slow">
    <p:fade/>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strips(downLeft)">
                                          <p:cBhvr>
                                            <p:cTn id="10" dur="500"/>
                                            <p:tgtEl>
                                              <p:spTgt spid="7"/>
                                            </p:tgtEl>
                                          </p:cBhvr>
                                        </p:animEffect>
                                      </p:childTnLst>
                                    </p:cTn>
                                  </p:par>
                                  <p:par>
                                    <p:cTn id="11" presetID="22" presetClass="entr" presetSubtype="8"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wipe(left)">
                                          <p:cBhvr>
                                            <p:cTn id="13" dur="500"/>
                                            <p:tgtEl>
                                              <p:spTgt spid="3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left)">
                                          <p:cBhvr>
                                            <p:cTn id="16" dur="500"/>
                                            <p:tgtEl>
                                              <p:spTgt spid="24"/>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left)">
                                          <p:cBhvr>
                                            <p:cTn id="19" dur="500"/>
                                            <p:tgtEl>
                                              <p:spTgt spid="25"/>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wipe(left)">
                                          <p:cBhvr>
                                            <p:cTn id="22" dur="500"/>
                                            <p:tgtEl>
                                              <p:spTgt spid="44"/>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wipe(left)">
                                          <p:cBhvr>
                                            <p:cTn id="25" dur="500"/>
                                            <p:tgtEl>
                                              <p:spTgt spid="42"/>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wipe(left)">
                                          <p:cBhvr>
                                            <p:cTn id="28" dur="500"/>
                                            <p:tgtEl>
                                              <p:spTgt spid="43"/>
                                            </p:tgtEl>
                                          </p:cBhvr>
                                        </p:animEffect>
                                      </p:childTnLst>
                                    </p:cTn>
                                  </p:par>
                                  <p:par>
                                    <p:cTn id="29" presetID="2" presetClass="entr" presetSubtype="1" fill="hold" grpId="0" nodeType="withEffect" p14:presetBounceEnd="40000">
                                      <p:stCondLst>
                                        <p:cond delay="500"/>
                                      </p:stCondLst>
                                      <p:childTnLst>
                                        <p:set>
                                          <p:cBhvr>
                                            <p:cTn id="30" dur="1" fill="hold">
                                              <p:stCondLst>
                                                <p:cond delay="0"/>
                                              </p:stCondLst>
                                            </p:cTn>
                                            <p:tgtEl>
                                              <p:spTgt spid="14"/>
                                            </p:tgtEl>
                                            <p:attrNameLst>
                                              <p:attrName>style.visibility</p:attrName>
                                            </p:attrNameLst>
                                          </p:cBhvr>
                                          <p:to>
                                            <p:strVal val="visible"/>
                                          </p:to>
                                        </p:set>
                                        <p:anim calcmode="lin" valueType="num" p14:bounceEnd="40000">
                                          <p:cBhvr additive="base">
                                            <p:cTn id="31" dur="750" fill="hold"/>
                                            <p:tgtEl>
                                              <p:spTgt spid="14"/>
                                            </p:tgtEl>
                                            <p:attrNameLst>
                                              <p:attrName>ppt_x</p:attrName>
                                            </p:attrNameLst>
                                          </p:cBhvr>
                                          <p:tavLst>
                                            <p:tav tm="0">
                                              <p:val>
                                                <p:strVal val="#ppt_x"/>
                                              </p:val>
                                            </p:tav>
                                            <p:tav tm="100000">
                                              <p:val>
                                                <p:strVal val="#ppt_x"/>
                                              </p:val>
                                            </p:tav>
                                          </p:tavLst>
                                        </p:anim>
                                        <p:anim calcmode="lin" valueType="num" p14:bounceEnd="40000">
                                          <p:cBhvr additive="base">
                                            <p:cTn id="32" dur="75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p:bldP spid="44" grpId="0" animBg="1"/>
          <p:bldP spid="24" grpId="0" animBg="1"/>
          <p:bldP spid="25" grpId="0" animBg="1"/>
          <p:bldP spid="42" grpId="0" animBg="1"/>
          <p:bldP spid="43"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strips(downLeft)">
                                          <p:cBhvr>
                                            <p:cTn id="10" dur="500"/>
                                            <p:tgtEl>
                                              <p:spTgt spid="7"/>
                                            </p:tgtEl>
                                          </p:cBhvr>
                                        </p:animEffect>
                                      </p:childTnLst>
                                    </p:cTn>
                                  </p:par>
                                  <p:par>
                                    <p:cTn id="11" presetID="2" presetClass="entr" presetSubtype="8"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0-#ppt_w/2"/>
                                              </p:val>
                                            </p:tav>
                                            <p:tav tm="100000">
                                              <p:val>
                                                <p:strVal val="#ppt_x"/>
                                              </p:val>
                                            </p:tav>
                                          </p:tavLst>
                                        </p:anim>
                                        <p:anim calcmode="lin" valueType="num">
                                          <p:cBhvr additive="base">
                                            <p:cTn id="14" dur="500" fill="hold"/>
                                            <p:tgtEl>
                                              <p:spTgt spid="17"/>
                                            </p:tgtEl>
                                            <p:attrNameLst>
                                              <p:attrName>ppt_y</p:attrName>
                                            </p:attrNameLst>
                                          </p:cBhvr>
                                          <p:tavLst>
                                            <p:tav tm="0">
                                              <p:val>
                                                <p:strVal val="#ppt_y"/>
                                              </p:val>
                                            </p:tav>
                                            <p:tav tm="100000">
                                              <p:val>
                                                <p:strVal val="#ppt_y"/>
                                              </p:val>
                                            </p:tav>
                                          </p:tavLst>
                                        </p:anim>
                                      </p:childTnLst>
                                    </p:cTn>
                                  </p:par>
                                  <p:par>
                                    <p:cTn id="15" presetID="22" presetClass="entr" presetSubtype="8"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left)">
                                          <p:cBhvr>
                                            <p:cTn id="17" dur="500"/>
                                            <p:tgtEl>
                                              <p:spTgt spid="36"/>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left)">
                                          <p:cBhvr>
                                            <p:cTn id="20" dur="500"/>
                                            <p:tgtEl>
                                              <p:spTgt spid="24"/>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left)">
                                          <p:cBhvr>
                                            <p:cTn id="23" dur="500"/>
                                            <p:tgtEl>
                                              <p:spTgt spid="25"/>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wipe(left)">
                                          <p:cBhvr>
                                            <p:cTn id="26" dur="500"/>
                                            <p:tgtEl>
                                              <p:spTgt spid="44"/>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wipe(left)">
                                          <p:cBhvr>
                                            <p:cTn id="29" dur="500"/>
                                            <p:tgtEl>
                                              <p:spTgt spid="42"/>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left)">
                                          <p:cBhvr>
                                            <p:cTn id="32" dur="500"/>
                                            <p:tgtEl>
                                              <p:spTgt spid="43"/>
                                            </p:tgtEl>
                                          </p:cBhvr>
                                        </p:animEffect>
                                      </p:childTnLst>
                                    </p:cTn>
                                  </p:par>
                                  <p:par>
                                    <p:cTn id="33" presetID="2" presetClass="entr" presetSubtype="1" fill="hold" grpId="0" nodeType="withEffect">
                                      <p:stCondLst>
                                        <p:cond delay="50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750" fill="hold"/>
                                            <p:tgtEl>
                                              <p:spTgt spid="14"/>
                                            </p:tgtEl>
                                            <p:attrNameLst>
                                              <p:attrName>ppt_x</p:attrName>
                                            </p:attrNameLst>
                                          </p:cBhvr>
                                          <p:tavLst>
                                            <p:tav tm="0">
                                              <p:val>
                                                <p:strVal val="#ppt_x"/>
                                              </p:val>
                                            </p:tav>
                                            <p:tav tm="100000">
                                              <p:val>
                                                <p:strVal val="#ppt_x"/>
                                              </p:val>
                                            </p:tav>
                                          </p:tavLst>
                                        </p:anim>
                                        <p:anim calcmode="lin" valueType="num">
                                          <p:cBhvr additive="base">
                                            <p:cTn id="36" dur="750" fill="hold"/>
                                            <p:tgtEl>
                                              <p:spTgt spid="14"/>
                                            </p:tgtEl>
                                            <p:attrNameLst>
                                              <p:attrName>ppt_y</p:attrName>
                                            </p:attrNameLst>
                                          </p:cBhvr>
                                          <p:tavLst>
                                            <p:tav tm="0">
                                              <p:val>
                                                <p:strVal val="0-#ppt_h/2"/>
                                              </p:val>
                                            </p:tav>
                                            <p:tav tm="100000">
                                              <p:val>
                                                <p:strVal val="#ppt_y"/>
                                              </p:val>
                                            </p:tav>
                                          </p:tavLst>
                                        </p:anim>
                                      </p:childTnLst>
                                    </p:cTn>
                                  </p:par>
                                  <p:par>
                                    <p:cTn id="37" presetID="2" presetClass="entr" presetSubtype="4" fill="hold" grpId="0" nodeType="withEffect">
                                      <p:stCondLst>
                                        <p:cond delay="175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750" fill="hold"/>
                                            <p:tgtEl>
                                              <p:spTgt spid="4"/>
                                            </p:tgtEl>
                                            <p:attrNameLst>
                                              <p:attrName>ppt_x</p:attrName>
                                            </p:attrNameLst>
                                          </p:cBhvr>
                                          <p:tavLst>
                                            <p:tav tm="0">
                                              <p:val>
                                                <p:strVal val="#ppt_x"/>
                                              </p:val>
                                            </p:tav>
                                            <p:tav tm="100000">
                                              <p:val>
                                                <p:strVal val="#ppt_x"/>
                                              </p:val>
                                            </p:tav>
                                          </p:tavLst>
                                        </p:anim>
                                        <p:anim calcmode="lin" valueType="num">
                                          <p:cBhvr additive="base">
                                            <p:cTn id="40" dur="7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p:bldP spid="44" grpId="0" animBg="1"/>
          <p:bldP spid="24" grpId="0" animBg="1"/>
          <p:bldP spid="25" grpId="0" animBg="1"/>
          <p:bldP spid="42" grpId="0" animBg="1"/>
          <p:bldP spid="43" grpId="0" animBg="1"/>
          <p:bldP spid="4" grpId="0" animBg="1"/>
        </p:bldLst>
      </p:timing>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ICON" val="#399913;#400180;#400105;"/>
</p:tagLst>
</file>

<file path=ppt/theme/theme1.xml><?xml version="1.0" encoding="utf-8"?>
<a:theme xmlns:a="http://schemas.openxmlformats.org/drawingml/2006/main" name="www.freeppt7.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阿里巴巴普惠">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ww.jpppt.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669</TotalTime>
  <Words>949</Words>
  <Application>Microsoft Office PowerPoint</Application>
  <PresentationFormat>Widescreen</PresentationFormat>
  <Paragraphs>130</Paragraphs>
  <Slides>20</Slides>
  <Notes>14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20</vt:i4>
      </vt:variant>
    </vt:vector>
  </HeadingPairs>
  <TitlesOfParts>
    <vt:vector size="29" baseType="lpstr">
      <vt:lpstr>等线</vt:lpstr>
      <vt:lpstr>微软雅黑</vt:lpstr>
      <vt:lpstr>Arial</vt:lpstr>
      <vt:lpstr>Calibri</vt:lpstr>
      <vt:lpstr>思源宋体 CN Heavy</vt:lpstr>
      <vt:lpstr>阿里巴巴普惠体 Heavy</vt:lpstr>
      <vt:lpstr>阿里巴巴普惠体 Medium</vt:lpstr>
      <vt:lpstr>www.freeppt7.com</vt:lpstr>
      <vt:lpstr>www.jpppt.com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www.freeppt7.com</Manager>
  <Company>www.freeppt7.com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企业介绍</dc:title>
  <dc:creator>www.freeppt7.com</dc:creator>
  <cp:keywords>www.freeppt7.com</cp:keywords>
  <dc:description>www.freeppt7.com</dc:description>
  <cp:lastModifiedBy>Sherif Mohamed</cp:lastModifiedBy>
  <cp:revision>124</cp:revision>
  <dcterms:created xsi:type="dcterms:W3CDTF">2022-07-29T06:45:32Z</dcterms:created>
  <dcterms:modified xsi:type="dcterms:W3CDTF">2025-04-30T13:55:51Z</dcterms:modified>
</cp:coreProperties>
</file>